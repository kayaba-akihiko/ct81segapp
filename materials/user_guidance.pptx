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57" r:id="rId4"/>
    <p:sldId id="264" r:id="rId5"/>
    <p:sldId id="259" r:id="rId6"/>
    <p:sldId id="260" r:id="rId7"/>
    <p:sldId id="262" r:id="rId8"/>
    <p:sldId id="265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85532-1755-37DF-3EE9-F411E6D839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859D0D-E7AD-5923-9553-537FF61F87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1D0A6F-E2D7-12A7-CABC-FC834FC2F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28C35-2665-4DB4-A6E2-2A927CCB0993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222E9B-F12A-8B37-BB2C-F7295749F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A04DD2-3B3D-1269-6F81-A06E4DC92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C0958-0A32-4C04-91DE-8B51E37508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135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07069-2E2E-0B5F-BAB9-3BA4883D7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2C65DB-45AD-A984-E6CD-9C10AEFD9A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7E5AB4-59A2-1535-E620-AB6B7915C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28C35-2665-4DB4-A6E2-2A927CCB0993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253368-EC08-25E8-0BEA-1AF06F552D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F3B760-BB62-65EB-6758-BC997BC74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C0958-0A32-4C04-91DE-8B51E37508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6044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DCAFC-9E07-DC44-6255-D726ED357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88A2A0-8417-6C27-804D-5A158DB62C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BC046A-2036-087E-FDF0-BFC18BE98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28C35-2665-4DB4-A6E2-2A927CCB0993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1D310A-AD3B-92CD-BA37-8674AAB6C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DC85C4-BA7B-5D2A-6517-C6C469255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C0958-0A32-4C04-91DE-8B51E37508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062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AED53-F5CA-4BF2-9DE5-0EE80FF1C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58D480-D664-A40A-F469-A2B4A969AD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3B4CB8-9890-7D26-2B5A-5A90527F0E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5D5D4F-6ABC-FA80-9B97-EA60E51F0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28C35-2665-4DB4-A6E2-2A927CCB0993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D37E61-3B01-749B-B043-A4E91AC56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AC87C4-8BD5-317A-DE39-F6C2E6053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C0958-0A32-4C04-91DE-8B51E37508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9133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A1D5F-789B-3F5E-51A2-E1C258009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73233B-7BB8-9621-3D25-53D8912784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20141B-B559-F882-F0E7-30B4BDE7EC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01BE7F4-5077-DE90-0FA4-D36E5F220F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7AE8DD0-C4F4-D44A-1CD2-5D19919A0E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6B16D4-D2A7-1DF5-58C5-4C5DF4902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28C35-2665-4DB4-A6E2-2A927CCB0993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A505AB-1D92-40E6-7E9F-4881B6BA2B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F540B59-7CB4-2CDA-9543-BE74B6713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C0958-0A32-4C04-91DE-8B51E37508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939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2DD63-B18D-7A44-0C69-DB7230883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F80B6D-6C58-3A9E-E64E-9202AE642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28C35-2665-4DB4-A6E2-2A927CCB0993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2E1389-07A4-3405-2A86-5F4C860BA1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C270B0-78A0-AE37-F34A-1BC777759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C0958-0A32-4C04-91DE-8B51E37508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189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50C727-3432-24BF-9779-1BB1505FED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28C35-2665-4DB4-A6E2-2A927CCB0993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612850-535D-46E0-573D-1DF67289C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6C436-9958-86F2-3930-F5C59FBE1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C0958-0A32-4C04-91DE-8B51E37508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8903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012C95-3675-0F93-F0FD-040123E79D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505E78-EC4F-C3C0-3D1B-EEFE530E9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1AC5-E90E-5BF2-7450-FBE69BB8D9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C94451-A9B8-E631-4B78-AA1662EBE4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28C35-2665-4DB4-A6E2-2A927CCB0993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41E050-E424-0CB2-33FD-F52F4AB66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31F1F2-EE06-1757-1E15-C6CF9A738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C0958-0A32-4C04-91DE-8B51E37508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785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57C12-B783-71CF-0862-0A58726936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AE4108-3BE4-BF68-EA5D-1D28F10FA7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2CC479-CD41-8C82-F249-68A721B8D8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4CCFE5-A043-1EFD-9D88-38297C6CC0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28C35-2665-4DB4-A6E2-2A927CCB0993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2F3EB0-1F88-9CB7-5CC1-F9D0876B75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791F84-1180-58A3-5110-CA7D40579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C0958-0A32-4C04-91DE-8B51E37508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2705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2BCA7-1148-F000-393C-C1D47FDD3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06EFD7-6548-EDE8-83A1-63B8A5935F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8F5F85-13ED-BDFD-C126-465C0031E8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28C35-2665-4DB4-A6E2-2A927CCB0993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3109A2-B774-4E06-C855-84EA88238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8D1AC1-C18D-AA66-F712-E86E768B2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C0958-0A32-4C04-91DE-8B51E37508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2720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72C179F-A3D2-E0D7-4461-D31F8A495A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24B73C-A31F-CDDD-BA8D-CBA1F1A191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E56549-2BF9-4CF4-8240-4B6923FB5F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28C35-2665-4DB4-A6E2-2A927CCB0993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84A1A8-C5A8-8BFD-A1E1-4C78E8F48A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14EEE8-E779-323A-2D55-F3E12A99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C0958-0A32-4C04-91DE-8B51E37508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1595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1C8FE2-BE9F-ACFC-E564-3ACC176E59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8393F1-29FB-75A7-8144-663D5AAE7D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971FD8-1982-205D-D0AC-581AA8B4B6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528C35-2665-4DB4-A6E2-2A927CCB0993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E5383F-5934-33A4-1588-71763E678C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8A7558-F4D0-A2BB-AC85-D94B00120E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FC0958-0A32-4C04-91DE-8B51E37508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9622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F5208-A01C-EC9D-BFCA-A78279DC678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5900" dirty="0"/>
              <a:t>CT-81-Seg for Windows 11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3DC159-A79F-639B-9141-72FE16BA400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User guidance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1F4FBB-9067-A68B-C46A-0F84AE6FC12E}"/>
              </a:ext>
            </a:extLst>
          </p:cNvPr>
          <p:cNvSpPr txBox="1"/>
          <p:nvPr/>
        </p:nvSpPr>
        <p:spPr>
          <a:xfrm>
            <a:off x="5719422" y="4450860"/>
            <a:ext cx="7531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Yi Gu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B3E0B5-C566-29D5-B98B-6239EA2F96A3}"/>
              </a:ext>
            </a:extLst>
          </p:cNvPr>
          <p:cNvSpPr txBox="1"/>
          <p:nvPr/>
        </p:nvSpPr>
        <p:spPr>
          <a:xfrm>
            <a:off x="5426585" y="502970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2025/12/16</a:t>
            </a:r>
          </a:p>
        </p:txBody>
      </p:sp>
    </p:spTree>
    <p:extLst>
      <p:ext uri="{BB962C8B-B14F-4D97-AF65-F5344CB8AC3E}">
        <p14:creationId xmlns:p14="http://schemas.microsoft.com/office/powerpoint/2010/main" val="1613631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3AB02-51FE-B961-D4F5-0F52EB806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A06508-8A8D-8299-1B05-6CCE70B15A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Windows 11 (installation would fail for other Windows)</a:t>
            </a:r>
          </a:p>
          <a:p>
            <a:endParaRPr lang="en-US" dirty="0"/>
          </a:p>
          <a:p>
            <a:r>
              <a:rPr lang="en-US" dirty="0"/>
              <a:t>Administrative user</a:t>
            </a:r>
          </a:p>
          <a:p>
            <a:endParaRPr lang="en-US" dirty="0"/>
          </a:p>
          <a:p>
            <a:r>
              <a:rPr lang="en-US" dirty="0"/>
              <a:t>Network connection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Latest Windows GPU driver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41823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FA631-8D1A-9EF9-6A2D-087F47086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File explanation</a:t>
            </a: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4AED315-FAE6-D2BC-74AD-20E90BB8F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7445" y="2806257"/>
            <a:ext cx="1886047" cy="24702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9264389-279F-1D0A-3702-D5E6016C3474}"/>
              </a:ext>
            </a:extLst>
          </p:cNvPr>
          <p:cNvSpPr txBox="1"/>
          <p:nvPr/>
        </p:nvSpPr>
        <p:spPr>
          <a:xfrm>
            <a:off x="7859416" y="292322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Script for installation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5E408D-79B8-1582-5AE3-4861D70F4A98}"/>
              </a:ext>
            </a:extLst>
          </p:cNvPr>
          <p:cNvSpPr txBox="1"/>
          <p:nvPr/>
        </p:nvSpPr>
        <p:spPr>
          <a:xfrm>
            <a:off x="1712283" y="4074119"/>
            <a:ext cx="2121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Script for inference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498170-B4AA-3EBC-7D7D-0708FD3673FB}"/>
              </a:ext>
            </a:extLst>
          </p:cNvPr>
          <p:cNvSpPr txBox="1"/>
          <p:nvPr/>
        </p:nvSpPr>
        <p:spPr>
          <a:xfrm>
            <a:off x="7748961" y="4041395"/>
            <a:ext cx="2890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Script for checking version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5C0FE0-5D55-A97F-3396-86BD8570FDA2}"/>
              </a:ext>
            </a:extLst>
          </p:cNvPr>
          <p:cNvSpPr txBox="1"/>
          <p:nvPr/>
        </p:nvSpPr>
        <p:spPr>
          <a:xfrm>
            <a:off x="1624998" y="5040350"/>
            <a:ext cx="2518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Script for uninstallation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0000DF-DC7A-4392-8B95-FD36E075BEBA}"/>
              </a:ext>
            </a:extLst>
          </p:cNvPr>
          <p:cNvSpPr txBox="1"/>
          <p:nvPr/>
        </p:nvSpPr>
        <p:spPr>
          <a:xfrm>
            <a:off x="7818982" y="4907202"/>
            <a:ext cx="3070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Runtime performance report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CE5773-2CC0-ABEB-06BB-63609353AE02}"/>
              </a:ext>
            </a:extLst>
          </p:cNvPr>
          <p:cNvSpPr txBox="1"/>
          <p:nvPr/>
        </p:nvSpPr>
        <p:spPr>
          <a:xfrm>
            <a:off x="5079988" y="5688767"/>
            <a:ext cx="1620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This guidance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C184D6-0C5B-24E0-97E7-8BAD15995B55}"/>
              </a:ext>
            </a:extLst>
          </p:cNvPr>
          <p:cNvSpPr txBox="1"/>
          <p:nvPr/>
        </p:nvSpPr>
        <p:spPr>
          <a:xfrm>
            <a:off x="4881216" y="2141657"/>
            <a:ext cx="2018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 input CT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42DDD7B-58A6-098B-2822-4C3E9A8B2F5F}"/>
              </a:ext>
            </a:extLst>
          </p:cNvPr>
          <p:cNvSpPr txBox="1"/>
          <p:nvPr/>
        </p:nvSpPr>
        <p:spPr>
          <a:xfrm>
            <a:off x="2630218" y="3292554"/>
            <a:ext cx="14798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code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4765E84-DFA8-47DA-FFAC-41EBE72F27E3}"/>
              </a:ext>
            </a:extLst>
          </p:cNvPr>
          <p:cNvCxnSpPr>
            <a:cxnSpLocks/>
            <a:endCxn id="16" idx="3"/>
          </p:cNvCxnSpPr>
          <p:nvPr/>
        </p:nvCxnSpPr>
        <p:spPr>
          <a:xfrm flipH="1" flipV="1">
            <a:off x="4110110" y="3477220"/>
            <a:ext cx="1023952" cy="4806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06323FF-7C07-C7C4-C30C-B23CB122C8BE}"/>
              </a:ext>
            </a:extLst>
          </p:cNvPr>
          <p:cNvCxnSpPr>
            <a:cxnSpLocks/>
            <a:endCxn id="8" idx="3"/>
          </p:cNvCxnSpPr>
          <p:nvPr/>
        </p:nvCxnSpPr>
        <p:spPr>
          <a:xfrm flipH="1">
            <a:off x="3833376" y="4074119"/>
            <a:ext cx="1300686" cy="18466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DA8A80C-FFC7-EDFC-F6CF-BBCF5926A054}"/>
              </a:ext>
            </a:extLst>
          </p:cNvPr>
          <p:cNvCxnSpPr>
            <a:cxnSpLocks/>
            <a:endCxn id="11" idx="3"/>
          </p:cNvCxnSpPr>
          <p:nvPr/>
        </p:nvCxnSpPr>
        <p:spPr>
          <a:xfrm flipH="1">
            <a:off x="4143636" y="4626528"/>
            <a:ext cx="985490" cy="59848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77904CF-B8C4-7BE4-7909-8E9AAD7E7A70}"/>
              </a:ext>
            </a:extLst>
          </p:cNvPr>
          <p:cNvCxnSpPr>
            <a:cxnSpLocks/>
            <a:endCxn id="5" idx="1"/>
          </p:cNvCxnSpPr>
          <p:nvPr/>
        </p:nvCxnSpPr>
        <p:spPr>
          <a:xfrm flipV="1">
            <a:off x="6444529" y="3107888"/>
            <a:ext cx="1414887" cy="681141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FA2CE37-6B15-76BB-7BAE-36BDD8E43148}"/>
              </a:ext>
            </a:extLst>
          </p:cNvPr>
          <p:cNvCxnSpPr>
            <a:cxnSpLocks/>
            <a:endCxn id="9" idx="1"/>
          </p:cNvCxnSpPr>
          <p:nvPr/>
        </p:nvCxnSpPr>
        <p:spPr>
          <a:xfrm flipV="1">
            <a:off x="6715211" y="4226061"/>
            <a:ext cx="1033750" cy="9434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59FAF4A-A24E-CB66-28C2-4FB4F1D657DA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6715211" y="4891276"/>
            <a:ext cx="1103771" cy="200592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64FDB9F9-7062-7E12-10C4-5AE9CC1070D8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5884877" y="5226341"/>
            <a:ext cx="5590" cy="46242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D381F95-F1F9-6638-B114-56DFBBA404DE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5515761" y="2510989"/>
            <a:ext cx="374706" cy="69780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82569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73773BDE-7462-2636-A74D-AFEE90A534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9644" y="1062249"/>
            <a:ext cx="4299171" cy="2724290"/>
          </a:xfrm>
          <a:prstGeom prst="rect">
            <a:avLst/>
          </a:prstGeom>
        </p:spPr>
      </p:pic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82CFDC8-072E-07C5-AAB5-284BCD84F5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134" y="2655584"/>
            <a:ext cx="3225966" cy="309895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40EDFCF-6528-7440-6579-D928031FD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Installation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CC969F-87AA-6D69-5480-DBE01510D984}"/>
              </a:ext>
            </a:extLst>
          </p:cNvPr>
          <p:cNvSpPr txBox="1"/>
          <p:nvPr/>
        </p:nvSpPr>
        <p:spPr>
          <a:xfrm>
            <a:off x="590134" y="5942865"/>
            <a:ext cx="3288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(2) Click </a:t>
            </a:r>
            <a:r>
              <a:rPr lang="en-US" i="1" dirty="0">
                <a:solidFill>
                  <a:srgbClr val="0070C0"/>
                </a:solidFill>
              </a:rPr>
              <a:t>Run as administrator</a:t>
            </a:r>
            <a:r>
              <a:rPr lang="en-US" i="1" dirty="0"/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6A0DFB-4791-A134-CF51-6205928494DA}"/>
              </a:ext>
            </a:extLst>
          </p:cNvPr>
          <p:cNvSpPr/>
          <p:nvPr/>
        </p:nvSpPr>
        <p:spPr>
          <a:xfrm>
            <a:off x="698055" y="3554835"/>
            <a:ext cx="1415679" cy="19890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2D68B47-26BA-733D-B699-FEB8B7B60D61}"/>
              </a:ext>
            </a:extLst>
          </p:cNvPr>
          <p:cNvSpPr/>
          <p:nvPr/>
        </p:nvSpPr>
        <p:spPr>
          <a:xfrm>
            <a:off x="2411834" y="5261702"/>
            <a:ext cx="1308683" cy="19890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7DE327-17D2-F947-55F7-30AE32B9D6A0}"/>
              </a:ext>
            </a:extLst>
          </p:cNvPr>
          <p:cNvSpPr txBox="1"/>
          <p:nvPr/>
        </p:nvSpPr>
        <p:spPr>
          <a:xfrm>
            <a:off x="288770" y="2235918"/>
            <a:ext cx="3890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(1) Right-click </a:t>
            </a:r>
            <a:r>
              <a:rPr lang="en-US" i="1" dirty="0">
                <a:solidFill>
                  <a:srgbClr val="0070C0"/>
                </a:solidFill>
              </a:rPr>
              <a:t>container_install.cmd</a:t>
            </a:r>
            <a:r>
              <a:rPr lang="en-US" dirty="0"/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3DCE86-9516-BADD-BED9-79A39113B480}"/>
              </a:ext>
            </a:extLst>
          </p:cNvPr>
          <p:cNvSpPr txBox="1"/>
          <p:nvPr/>
        </p:nvSpPr>
        <p:spPr>
          <a:xfrm>
            <a:off x="6062662" y="415918"/>
            <a:ext cx="48288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(3) If it is the </a:t>
            </a:r>
            <a:r>
              <a:rPr lang="en-US" dirty="0">
                <a:solidFill>
                  <a:srgbClr val="C00000"/>
                </a:solidFill>
              </a:rPr>
              <a:t>first time of installing WSL</a:t>
            </a:r>
            <a:r>
              <a:rPr lang="en-US" dirty="0"/>
              <a:t>,</a:t>
            </a:r>
          </a:p>
          <a:p>
            <a:r>
              <a:rPr lang="en-US" dirty="0">
                <a:solidFill>
                  <a:srgbClr val="C00000"/>
                </a:solidFill>
              </a:rPr>
              <a:t>    machine restart </a:t>
            </a:r>
            <a:r>
              <a:rPr lang="en-US" dirty="0"/>
              <a:t>may be required.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EDF12B-F312-9FEE-5A8D-5F84A1EB2270}"/>
              </a:ext>
            </a:extLst>
          </p:cNvPr>
          <p:cNvSpPr txBox="1"/>
          <p:nvPr/>
        </p:nvSpPr>
        <p:spPr>
          <a:xfrm>
            <a:off x="4795164" y="4007343"/>
            <a:ext cx="65967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(4) After restarting, go to (1) to run </a:t>
            </a:r>
            <a:r>
              <a:rPr lang="en-US" i="1" dirty="0">
                <a:solidFill>
                  <a:srgbClr val="0070C0"/>
                </a:solidFill>
              </a:rPr>
              <a:t>container_install.cmd</a:t>
            </a:r>
            <a:r>
              <a:rPr lang="en-US" dirty="0"/>
              <a:t> again.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33AB734-38BA-41B7-B75D-75FAA8C6CD36}"/>
              </a:ext>
            </a:extLst>
          </p:cNvPr>
          <p:cNvSpPr/>
          <p:nvPr/>
        </p:nvSpPr>
        <p:spPr>
          <a:xfrm>
            <a:off x="6062662" y="3303885"/>
            <a:ext cx="3603877" cy="331583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EE087038-81F9-07F8-0B68-37D565C433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8882" y="4376675"/>
            <a:ext cx="5969307" cy="2438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3201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07905EEC-AC4B-9C68-9DE9-58B6011EF2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1985" y="2621210"/>
            <a:ext cx="5385077" cy="3880049"/>
          </a:xfrm>
          <a:prstGeom prst="rect">
            <a:avLst/>
          </a:prstGeom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6597177-293D-BFC2-BE5C-85B6560E7E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691" y="1690688"/>
            <a:ext cx="3181514" cy="46611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932688F-8FC1-B05F-4A7E-5DB079D19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3. Inference example: 3.1 Setting input and output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DC273B-6C26-4FE7-4CAB-B0DC33367B44}"/>
              </a:ext>
            </a:extLst>
          </p:cNvPr>
          <p:cNvSpPr txBox="1"/>
          <p:nvPr/>
        </p:nvSpPr>
        <p:spPr>
          <a:xfrm>
            <a:off x="173736" y="1260158"/>
            <a:ext cx="46987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(1) Right-click </a:t>
            </a:r>
            <a:r>
              <a:rPr lang="en-US" i="1" dirty="0">
                <a:solidFill>
                  <a:srgbClr val="0070C0"/>
                </a:solidFill>
              </a:rPr>
              <a:t>container_run_inference.cmd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BC6A62-7EAA-D878-33B7-DBF1CFBDAE56}"/>
              </a:ext>
            </a:extLst>
          </p:cNvPr>
          <p:cNvSpPr txBox="1"/>
          <p:nvPr/>
        </p:nvSpPr>
        <p:spPr>
          <a:xfrm>
            <a:off x="825857" y="6368484"/>
            <a:ext cx="2672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(2) Click Edit in Notepad</a:t>
            </a:r>
            <a:endParaRPr lang="en-US" i="1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CA2E96-6DF6-559F-C0F3-84EB4554D233}"/>
              </a:ext>
            </a:extLst>
          </p:cNvPr>
          <p:cNvSpPr/>
          <p:nvPr/>
        </p:nvSpPr>
        <p:spPr>
          <a:xfrm>
            <a:off x="612490" y="2506910"/>
            <a:ext cx="1804945" cy="22860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16451F1-6409-BDDE-2628-F8D1710E49A2}"/>
              </a:ext>
            </a:extLst>
          </p:cNvPr>
          <p:cNvSpPr/>
          <p:nvPr/>
        </p:nvSpPr>
        <p:spPr>
          <a:xfrm>
            <a:off x="2510805" y="6144327"/>
            <a:ext cx="1343628" cy="22860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60A4465-4D99-C562-A58E-894509B9A305}"/>
              </a:ext>
            </a:extLst>
          </p:cNvPr>
          <p:cNvSpPr txBox="1"/>
          <p:nvPr/>
        </p:nvSpPr>
        <p:spPr>
          <a:xfrm>
            <a:off x="4962713" y="1274012"/>
            <a:ext cx="72292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(3) Set </a:t>
            </a:r>
            <a:r>
              <a:rPr lang="en-US" i="1" dirty="0">
                <a:solidFill>
                  <a:srgbClr val="0070C0"/>
                </a:solidFill>
              </a:rPr>
              <a:t>CT_IMAGE_PATH </a:t>
            </a:r>
            <a:r>
              <a:rPr lang="en-US" dirty="0"/>
              <a:t>(can be a MHD/A file or a folder of DICOM)</a:t>
            </a:r>
          </a:p>
          <a:p>
            <a:r>
              <a:rPr lang="en-US" i="1" dirty="0"/>
              <a:t>   </a:t>
            </a:r>
            <a:r>
              <a:rPr lang="en-US" dirty="0"/>
              <a:t>(for example, </a:t>
            </a:r>
            <a:r>
              <a:rPr lang="en-US" sz="1200" i="1" dirty="0">
                <a:solidFill>
                  <a:srgbClr val="0070C0"/>
                </a:solidFill>
              </a:rPr>
              <a:t>G:\projects\ct81segapp_export\input\UZU00001_CT1</a:t>
            </a:r>
            <a:r>
              <a:rPr lang="en-US" dirty="0"/>
              <a:t>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51D2291-D7B7-1A57-420D-8502264882F2}"/>
              </a:ext>
            </a:extLst>
          </p:cNvPr>
          <p:cNvSpPr txBox="1"/>
          <p:nvPr/>
        </p:nvSpPr>
        <p:spPr>
          <a:xfrm>
            <a:off x="4962713" y="1981805"/>
            <a:ext cx="48269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(4) Set </a:t>
            </a:r>
            <a:r>
              <a:rPr lang="en-US" i="1" dirty="0">
                <a:solidFill>
                  <a:srgbClr val="0070C0"/>
                </a:solidFill>
              </a:rPr>
              <a:t>OUTPUT_DIR </a:t>
            </a:r>
            <a:r>
              <a:rPr lang="en-US" dirty="0"/>
              <a:t>(must be a valid folder)</a:t>
            </a:r>
          </a:p>
          <a:p>
            <a:r>
              <a:rPr lang="en-US" i="1" dirty="0"/>
              <a:t> </a:t>
            </a:r>
            <a:r>
              <a:rPr lang="en-US" dirty="0"/>
              <a:t>(for example, </a:t>
            </a:r>
            <a:r>
              <a:rPr lang="en-US" sz="1200" i="1" dirty="0">
                <a:solidFill>
                  <a:srgbClr val="0070C0"/>
                </a:solidFill>
              </a:rPr>
              <a:t>G:\projects\ ct81segapp_export \output</a:t>
            </a:r>
            <a:r>
              <a:rPr lang="en-US" dirty="0"/>
              <a:t>)</a:t>
            </a:r>
            <a:endParaRPr lang="en-US" i="1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EE063CA-22D0-57E9-20F9-9D6468BF69FB}"/>
              </a:ext>
            </a:extLst>
          </p:cNvPr>
          <p:cNvSpPr/>
          <p:nvPr/>
        </p:nvSpPr>
        <p:spPr>
          <a:xfrm>
            <a:off x="5587898" y="4232869"/>
            <a:ext cx="5239164" cy="3693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F99D5F8-051E-1DAB-A7CD-CE9D173265EE}"/>
              </a:ext>
            </a:extLst>
          </p:cNvPr>
          <p:cNvSpPr txBox="1"/>
          <p:nvPr/>
        </p:nvSpPr>
        <p:spPr>
          <a:xfrm>
            <a:off x="6093762" y="6366492"/>
            <a:ext cx="1992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(5) Save changes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9943075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13EE5C5-B488-CA58-B0BA-E49B732EC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184" y="2532879"/>
            <a:ext cx="3543482" cy="3308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9380A5E-DA35-36B5-1736-A86DDE93F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Inference example: 3.2 Running script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5EDC8E-EA19-77F7-F26A-E0B99B83E495}"/>
              </a:ext>
            </a:extLst>
          </p:cNvPr>
          <p:cNvSpPr txBox="1"/>
          <p:nvPr/>
        </p:nvSpPr>
        <p:spPr>
          <a:xfrm>
            <a:off x="0" y="2163547"/>
            <a:ext cx="47243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(1) Right-click </a:t>
            </a:r>
            <a:r>
              <a:rPr lang="en-US" i="1" dirty="0">
                <a:solidFill>
                  <a:srgbClr val="0070C0"/>
                </a:solidFill>
              </a:rPr>
              <a:t>container_run_inference.cmd</a:t>
            </a:r>
            <a:endParaRPr lang="en-US" dirty="0">
              <a:solidFill>
                <a:srgbClr val="0070C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3EE71E-86EA-C2CA-73DE-211825359283}"/>
              </a:ext>
            </a:extLst>
          </p:cNvPr>
          <p:cNvSpPr/>
          <p:nvPr/>
        </p:nvSpPr>
        <p:spPr>
          <a:xfrm>
            <a:off x="467015" y="3697685"/>
            <a:ext cx="1803997" cy="22429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BE6FB92-DDED-47C5-0FC0-5025A00BC34E}"/>
              </a:ext>
            </a:extLst>
          </p:cNvPr>
          <p:cNvSpPr/>
          <p:nvPr/>
        </p:nvSpPr>
        <p:spPr>
          <a:xfrm>
            <a:off x="2271012" y="5372328"/>
            <a:ext cx="1726421" cy="22429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A4FA05-7702-8348-481B-484A11784E6C}"/>
              </a:ext>
            </a:extLst>
          </p:cNvPr>
          <p:cNvSpPr txBox="1"/>
          <p:nvPr/>
        </p:nvSpPr>
        <p:spPr>
          <a:xfrm>
            <a:off x="539297" y="5927382"/>
            <a:ext cx="3275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(2) Click </a:t>
            </a:r>
            <a:r>
              <a:rPr lang="en-US" i="1" dirty="0">
                <a:solidFill>
                  <a:srgbClr val="0070C0"/>
                </a:solidFill>
              </a:rPr>
              <a:t>Run as administrator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2093E1-D6A4-9A23-DBBD-B54BB4D64A56}"/>
              </a:ext>
            </a:extLst>
          </p:cNvPr>
          <p:cNvSpPr txBox="1"/>
          <p:nvPr/>
        </p:nvSpPr>
        <p:spPr>
          <a:xfrm>
            <a:off x="5163426" y="1506022"/>
            <a:ext cx="2381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(3) Wait for the result</a:t>
            </a:r>
            <a:endParaRPr lang="en-US" i="1" dirty="0">
              <a:solidFill>
                <a:srgbClr val="0070C0"/>
              </a:solidFill>
            </a:endParaRPr>
          </a:p>
        </p:txBody>
      </p:sp>
      <p:pic>
        <p:nvPicPr>
          <p:cNvPr id="17" name="Picture 16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1098B7B5-3F5D-BF2D-5714-DA8A344C36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3426" y="1875354"/>
            <a:ext cx="6623390" cy="1511378"/>
          </a:xfrm>
          <a:prstGeom prst="rect">
            <a:avLst/>
          </a:prstGeom>
        </p:spPr>
      </p:pic>
      <p:pic>
        <p:nvPicPr>
          <p:cNvPr id="22" name="Picture 21" descr="A computer screen shot of a black screen&#10;&#10;AI-generated content may be incorrect.">
            <a:extLst>
              <a:ext uri="{FF2B5EF4-FFF2-40B4-BE49-F238E27FC236}">
                <a16:creationId xmlns:a16="http://schemas.microsoft.com/office/drawing/2014/main" id="{63FF9487-0D91-6A4C-A64B-FECD039E26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3426" y="3646318"/>
            <a:ext cx="4915153" cy="317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49139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25D18-D348-38B2-800E-F7D0E5B06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3. Inference example: 3.3 Checking results</a:t>
            </a:r>
          </a:p>
        </p:txBody>
      </p:sp>
      <p:pic>
        <p:nvPicPr>
          <p:cNvPr id="14" name="Picture 1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F745725-F7A1-ED4A-82C3-3CD2D63598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207" y="1672766"/>
            <a:ext cx="1136708" cy="1720938"/>
          </a:xfrm>
          <a:prstGeom prst="rect">
            <a:avLst/>
          </a:prstGeom>
        </p:spPr>
      </p:pic>
      <p:pic>
        <p:nvPicPr>
          <p:cNvPr id="17" name="Picture 1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C61845B-F296-F121-99FE-4FE1015429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60" y="4425506"/>
            <a:ext cx="4381725" cy="2413124"/>
          </a:xfrm>
          <a:prstGeom prst="rect">
            <a:avLst/>
          </a:prstGeom>
        </p:spPr>
      </p:pic>
      <p:pic>
        <p:nvPicPr>
          <p:cNvPr id="22" name="Picture 21" descr="A diagram of the human body&#10;&#10;AI-generated content may be incorrect.">
            <a:extLst>
              <a:ext uri="{FF2B5EF4-FFF2-40B4-BE49-F238E27FC236}">
                <a16:creationId xmlns:a16="http://schemas.microsoft.com/office/drawing/2014/main" id="{508F125D-AF63-5FF2-A617-039AF5555DA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1514" y="1419442"/>
            <a:ext cx="7171765" cy="5378824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F8619DE-5F23-AF84-843D-CB57EEFF900B}"/>
              </a:ext>
            </a:extLst>
          </p:cNvPr>
          <p:cNvCxnSpPr>
            <a:cxnSpLocks/>
          </p:cNvCxnSpPr>
          <p:nvPr/>
        </p:nvCxnSpPr>
        <p:spPr>
          <a:xfrm flipH="1">
            <a:off x="345141" y="2115671"/>
            <a:ext cx="739588" cy="225462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95314FC-3813-A00E-89B8-7AAF38ABC615}"/>
              </a:ext>
            </a:extLst>
          </p:cNvPr>
          <p:cNvCxnSpPr>
            <a:cxnSpLocks/>
            <a:endCxn id="32" idx="1"/>
          </p:cNvCxnSpPr>
          <p:nvPr/>
        </p:nvCxnSpPr>
        <p:spPr>
          <a:xfrm flipV="1">
            <a:off x="1999665" y="1971893"/>
            <a:ext cx="603276" cy="414775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379E2726-7926-7F70-BC9B-7AA1A2BDFFCD}"/>
              </a:ext>
            </a:extLst>
          </p:cNvPr>
          <p:cNvSpPr txBox="1"/>
          <p:nvPr/>
        </p:nvSpPr>
        <p:spPr>
          <a:xfrm>
            <a:off x="2602941" y="1787227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Log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8B876B8-A898-0F9A-4B37-D36C3A47680F}"/>
              </a:ext>
            </a:extLst>
          </p:cNvPr>
          <p:cNvSpPr txBox="1"/>
          <p:nvPr/>
        </p:nvSpPr>
        <p:spPr>
          <a:xfrm>
            <a:off x="722574" y="4128871"/>
            <a:ext cx="28777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Calculated mean HU table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1C9CF4-884F-8557-2786-B74341ECA5F4}"/>
              </a:ext>
            </a:extLst>
          </p:cNvPr>
          <p:cNvSpPr txBox="1"/>
          <p:nvPr/>
        </p:nvSpPr>
        <p:spPr>
          <a:xfrm>
            <a:off x="2465361" y="2383232"/>
            <a:ext cx="2159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Predicted </a:t>
            </a:r>
            <a:r>
              <a:rPr lang="en-US" dirty="0" err="1"/>
              <a:t>labelmap</a:t>
            </a:r>
            <a:endParaRPr lang="en-US" dirty="0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A22AD12-4E88-793B-5919-306091919B56}"/>
              </a:ext>
            </a:extLst>
          </p:cNvPr>
          <p:cNvCxnSpPr>
            <a:cxnSpLocks/>
            <a:endCxn id="36" idx="1"/>
          </p:cNvCxnSpPr>
          <p:nvPr/>
        </p:nvCxnSpPr>
        <p:spPr>
          <a:xfrm flipV="1">
            <a:off x="2146090" y="2567898"/>
            <a:ext cx="319271" cy="78372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A4A8FBA8-76A0-987C-4C58-DAE2916D58EB}"/>
              </a:ext>
            </a:extLst>
          </p:cNvPr>
          <p:cNvCxnSpPr>
            <a:cxnSpLocks/>
          </p:cNvCxnSpPr>
          <p:nvPr/>
        </p:nvCxnSpPr>
        <p:spPr>
          <a:xfrm flipV="1">
            <a:off x="1889301" y="2871512"/>
            <a:ext cx="2955341" cy="2021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2F15C42-3A3A-8303-72F1-1A0CF4140AB6}"/>
              </a:ext>
            </a:extLst>
          </p:cNvPr>
          <p:cNvCxnSpPr>
            <a:cxnSpLocks/>
          </p:cNvCxnSpPr>
          <p:nvPr/>
        </p:nvCxnSpPr>
        <p:spPr>
          <a:xfrm flipV="1">
            <a:off x="1889301" y="3187620"/>
            <a:ext cx="2955341" cy="2118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80802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E2DA263-EBCE-1944-CFA6-8A68C125A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233" y="1966527"/>
            <a:ext cx="3384724" cy="424201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0BBC847-5DE5-6A85-FF44-A94165D44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 Uninstallation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F9A8D6-20C2-D87F-8B3E-9C98BD3060D1}"/>
              </a:ext>
            </a:extLst>
          </p:cNvPr>
          <p:cNvSpPr txBox="1"/>
          <p:nvPr/>
        </p:nvSpPr>
        <p:spPr>
          <a:xfrm>
            <a:off x="798555" y="6208545"/>
            <a:ext cx="3288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(2) Click </a:t>
            </a:r>
            <a:r>
              <a:rPr lang="en-US" i="1" dirty="0">
                <a:solidFill>
                  <a:srgbClr val="0070C0"/>
                </a:solidFill>
              </a:rPr>
              <a:t>Run as administrator</a:t>
            </a:r>
            <a:r>
              <a:rPr lang="en-US" i="1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4077DD-20EA-9C21-F74B-B625828396DF}"/>
              </a:ext>
            </a:extLst>
          </p:cNvPr>
          <p:cNvSpPr txBox="1"/>
          <p:nvPr/>
        </p:nvSpPr>
        <p:spPr>
          <a:xfrm>
            <a:off x="427444" y="1594938"/>
            <a:ext cx="41472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(1) Right-click </a:t>
            </a:r>
            <a:r>
              <a:rPr lang="en-US" i="1" dirty="0">
                <a:solidFill>
                  <a:srgbClr val="0070C0"/>
                </a:solidFill>
              </a:rPr>
              <a:t>container_uninstall.cmd</a:t>
            </a:r>
            <a:r>
              <a:rPr lang="en-US" dirty="0"/>
              <a:t>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F1F9CD-D4F0-7A4C-64C1-94827A6B8AC9}"/>
              </a:ext>
            </a:extLst>
          </p:cNvPr>
          <p:cNvSpPr/>
          <p:nvPr/>
        </p:nvSpPr>
        <p:spPr>
          <a:xfrm>
            <a:off x="847930" y="3939102"/>
            <a:ext cx="1594899" cy="22860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0F641CD-0FA1-4902-4EA1-451F349E8A0B}"/>
              </a:ext>
            </a:extLst>
          </p:cNvPr>
          <p:cNvSpPr/>
          <p:nvPr/>
        </p:nvSpPr>
        <p:spPr>
          <a:xfrm>
            <a:off x="2492260" y="5626618"/>
            <a:ext cx="1627676" cy="22860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3602821-F244-C5F7-6728-97D1061B5D99}"/>
              </a:ext>
            </a:extLst>
          </p:cNvPr>
          <p:cNvSpPr txBox="1"/>
          <p:nvPr/>
        </p:nvSpPr>
        <p:spPr>
          <a:xfrm>
            <a:off x="5497213" y="2364776"/>
            <a:ext cx="4189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(3) Wait until the uninstallation finished.</a:t>
            </a:r>
            <a:endParaRPr lang="en-US" i="1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3A0D03D-35EC-5936-DB76-B83619A91D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4043" y="2827783"/>
            <a:ext cx="4197566" cy="1339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6384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813</TotalTime>
  <Words>297</Words>
  <Application>Microsoft Office PowerPoint</Application>
  <PresentationFormat>Widescreen</PresentationFormat>
  <Paragraphs>47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0" baseType="lpstr">
      <vt:lpstr>Arial</vt:lpstr>
      <vt:lpstr>Office Theme</vt:lpstr>
      <vt:lpstr>CT-81-Seg for Windows 11</vt:lpstr>
      <vt:lpstr>Requirements</vt:lpstr>
      <vt:lpstr>1. File explanation</vt:lpstr>
      <vt:lpstr>2. Installation</vt:lpstr>
      <vt:lpstr>3. Inference example: 3.1 Setting input and output</vt:lpstr>
      <vt:lpstr>3. Inference example: 3.2 Running script</vt:lpstr>
      <vt:lpstr>3. Inference example: 3.3 Checking results</vt:lpstr>
      <vt:lpstr>4 Uninstallation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Yi Gu</dc:creator>
  <cp:lastModifiedBy>Yi Gu</cp:lastModifiedBy>
  <cp:revision>66</cp:revision>
  <dcterms:created xsi:type="dcterms:W3CDTF">2025-11-19T18:06:33Z</dcterms:created>
  <dcterms:modified xsi:type="dcterms:W3CDTF">2025-12-17T11:24:23Z</dcterms:modified>
</cp:coreProperties>
</file>