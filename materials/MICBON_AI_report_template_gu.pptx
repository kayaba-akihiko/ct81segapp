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6"/>
  </p:notesMasterIdLst>
  <p:sldIdLst>
    <p:sldId id="257" r:id="rId2"/>
    <p:sldId id="275" r:id="rId3"/>
    <p:sldId id="274" r:id="rId4"/>
    <p:sldId id="264" r:id="rId5"/>
  </p:sldIdLst>
  <p:sldSz cx="12801600" cy="9601200" type="A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9999"/>
    <a:srgbClr val="FFCCC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192" autoAdjust="0"/>
    <p:restoredTop sz="96949" autoAdjust="0"/>
  </p:normalViewPr>
  <p:slideViewPr>
    <p:cSldViewPr snapToGrid="0">
      <p:cViewPr varScale="1">
        <p:scale>
          <a:sx n="116" d="100"/>
          <a:sy n="116" d="100"/>
        </p:scale>
        <p:origin x="1392" y="56"/>
      </p:cViewPr>
      <p:guideLst/>
    </p:cSldViewPr>
  </p:slideViewPr>
  <p:notesTextViewPr>
    <p:cViewPr>
      <p:scale>
        <a:sx n="1" d="1"/>
        <a:sy n="1" d="1"/>
      </p:scale>
      <p:origin x="0" y="0"/>
    </p:cViewPr>
  </p:notesTextViewPr>
  <p:notesViewPr>
    <p:cSldViewPr snapToGrid="0">
      <p:cViewPr varScale="1">
        <p:scale>
          <a:sx n="111" d="100"/>
          <a:sy n="111" d="100"/>
        </p:scale>
        <p:origin x="2796" y="9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37223F4-285F-48E4-B180-6F8ABAA9B4D6}" type="datetimeFigureOut">
              <a:rPr kumimoji="1" lang="ja-JP" altLang="en-US" smtClean="0"/>
              <a:t>2025/12/17</a:t>
            </a:fld>
            <a:endParaRPr kumimoji="1" lang="ja-JP" altLang="en-US"/>
          </a:p>
        </p:txBody>
      </p:sp>
      <p:sp>
        <p:nvSpPr>
          <p:cNvPr id="4" name="スライド イメージ プレースホルダー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6A57BE4-F087-4889-83FB-F4BC38C7D812}" type="slidenum">
              <a:rPr kumimoji="1" lang="ja-JP" altLang="en-US" smtClean="0"/>
              <a:t>‹#›</a:t>
            </a:fld>
            <a:endParaRPr kumimoji="1" lang="ja-JP" altLang="en-US"/>
          </a:p>
        </p:txBody>
      </p:sp>
    </p:spTree>
    <p:extLst>
      <p:ext uri="{BB962C8B-B14F-4D97-AF65-F5344CB8AC3E}">
        <p14:creationId xmlns:p14="http://schemas.microsoft.com/office/powerpoint/2010/main" val="3207105333"/>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所見文の欄については、筋肉の測定値に基づいて、以下の３つのパターンのどれかを挿入する。</a:t>
            </a:r>
          </a:p>
          <a:p>
            <a:r>
              <a:rPr kumimoji="1" lang="ja-JP" altLang="en-US" dirty="0"/>
              <a:t>１．良好／標準的な場合「あなたの筋肉の質は、同性・同年代と比べて良好あるいは標準的な範囲にあります。ただし、高齢になると平均的な値でも筋力低下や転倒リスクが高まることがありますので、今後もバランスの良い食事と（できるだけお医者様や専門家指導の下で）適度な運動を続けることが大切です。」</a:t>
            </a:r>
          </a:p>
          <a:p>
            <a:r>
              <a:rPr kumimoji="1" lang="ja-JP" altLang="en-US" dirty="0"/>
              <a:t>２．やや低めの場合（例えば、２割以上の筋肉で標準偏差範囲外）「あなたの筋肉の質は、同性・同年代と比べるとやや低めの傾向があります。高齢期には筋肉の質のわずかな低下でも生活機能に影響が出ることがありますので、（できるだけお医者様や専門家指導の下で）食事・運動を工夫し、必要に応じて専門家のアドバイスを受けることをおすすめします。」</a:t>
            </a:r>
          </a:p>
          <a:p>
            <a:r>
              <a:rPr kumimoji="1" lang="ja-JP" altLang="en-US" dirty="0"/>
              <a:t>３．かなり低めの場合（例えば、５割以上の筋肉で標準偏差範囲外）「あなたの筋肉の質は、同性・同年代と比べて低い傾向が見られます。高齢期では平均的な水準でも転倒や要介護のリスクが高まることが知られています。早めに医療・リハビリ専門家にご相談されることをおすすめします。」</a:t>
            </a:r>
          </a:p>
          <a:p>
            <a:endParaRPr kumimoji="1" lang="en-US" altLang="ja-JP" dirty="0"/>
          </a:p>
          <a:p>
            <a:r>
              <a:rPr kumimoji="1" lang="ja-JP" altLang="en-US" dirty="0"/>
              <a:t>各３</a:t>
            </a:r>
            <a:r>
              <a:rPr kumimoji="1" lang="en-US" altLang="ja-JP" dirty="0"/>
              <a:t>D</a:t>
            </a:r>
            <a:r>
              <a:rPr kumimoji="1" lang="ja-JP" altLang="en-US" dirty="0"/>
              <a:t>可視化は、被験者のものではなく、説明用で固定した可視化にする。</a:t>
            </a:r>
            <a:endParaRPr kumimoji="1" lang="en-US" altLang="ja-JP" dirty="0"/>
          </a:p>
          <a:p>
            <a:r>
              <a:rPr kumimoji="1" lang="ja-JP" altLang="en-US" dirty="0"/>
              <a:t>各部位の拡大可視化像は、対象とする個別筋肉のみ、対応する色のカラー表示し、その他は、白の半透明表示とする。</a:t>
            </a:r>
            <a:endParaRPr kumimoji="1" lang="en-US" altLang="ja-JP" dirty="0"/>
          </a:p>
          <a:p>
            <a:r>
              <a:rPr kumimoji="1" lang="ja-JP" altLang="en-US" dirty="0"/>
              <a:t>筋質スコアは、筋肉領域内平均</a:t>
            </a:r>
            <a:r>
              <a:rPr kumimoji="1" lang="en-US" altLang="ja-JP" dirty="0"/>
              <a:t>HU</a:t>
            </a:r>
            <a:r>
              <a:rPr kumimoji="1" lang="ja-JP" altLang="en-US" dirty="0"/>
              <a:t>値とする。各プロットの平均・標準偏差範囲のボックスの色は、各個別筋肉に割り当てられた色にする。</a:t>
            </a:r>
            <a:endParaRPr kumimoji="1" lang="en-US" altLang="ja-JP" dirty="0"/>
          </a:p>
          <a:p>
            <a:endParaRPr kumimoji="1" lang="en-US" altLang="ja-JP" dirty="0"/>
          </a:p>
          <a:p>
            <a:r>
              <a:rPr kumimoji="1" lang="ja-JP" altLang="en-US" dirty="0"/>
              <a:t>なお、赤フォントの筋肉名は、太秦</a:t>
            </a:r>
            <a:r>
              <a:rPr kumimoji="1" lang="en-US" altLang="ja-JP" dirty="0"/>
              <a:t>CT</a:t>
            </a:r>
            <a:r>
              <a:rPr kumimoji="1" lang="ja-JP" altLang="en-US" dirty="0"/>
              <a:t>の撮影範囲内と思われますが、黒フォントは撮影範囲外（あるいは、入っていても十分に含まれていない）ので、対象外として、そもそも、プロットにおいて、平均・標準偏差範囲のボックスおよび被験者の値のプロットは、非表示にすることを想定します。</a:t>
            </a:r>
            <a:endParaRPr kumimoji="1" lang="en-US" altLang="ja-JP" dirty="0"/>
          </a:p>
          <a:p>
            <a:endParaRPr kumimoji="1" lang="en-US" altLang="ja-JP" dirty="0"/>
          </a:p>
          <a:p>
            <a:r>
              <a:rPr kumimoji="1" lang="ja-JP" altLang="en-US" dirty="0"/>
              <a:t>平均・標準偏差ボックスについては、各筋肉毎に、年齢</a:t>
            </a:r>
            <a:r>
              <a:rPr kumimoji="1" lang="en-US" altLang="ja-JP" dirty="0"/>
              <a:t>(</a:t>
            </a:r>
            <a:r>
              <a:rPr kumimoji="1" lang="ja-JP" altLang="en-US" dirty="0"/>
              <a:t>横軸</a:t>
            </a:r>
            <a:r>
              <a:rPr kumimoji="1" lang="en-US" altLang="ja-JP" dirty="0"/>
              <a:t>)</a:t>
            </a:r>
            <a:r>
              <a:rPr kumimoji="1" lang="ja-JP" altLang="en-US" dirty="0"/>
              <a:t>・</a:t>
            </a:r>
            <a:r>
              <a:rPr kumimoji="1" lang="en-US" altLang="ja-JP" dirty="0"/>
              <a:t>HU</a:t>
            </a:r>
            <a:r>
              <a:rPr kumimoji="1" lang="ja-JP" altLang="en-US" dirty="0"/>
              <a:t>値</a:t>
            </a:r>
            <a:r>
              <a:rPr kumimoji="1" lang="en-US" altLang="ja-JP" dirty="0"/>
              <a:t>(</a:t>
            </a:r>
            <a:r>
              <a:rPr kumimoji="1" lang="ja-JP" altLang="en-US" dirty="0"/>
              <a:t>縦軸</a:t>
            </a:r>
            <a:r>
              <a:rPr kumimoji="1" lang="en-US" altLang="ja-JP" dirty="0"/>
              <a:t>)</a:t>
            </a:r>
            <a:r>
              <a:rPr kumimoji="1" lang="ja-JP" altLang="en-US" dirty="0"/>
              <a:t>の散布図に対しての男性１次（直線）、女性２次曲線当てはめ（はずれ値は判別し除去）により求めた各年齢の平均値と標準偏差を用いる（アインさんがやっていたもの）。それらの結果から、各筋肉毎に、年齢毎に、平均値と標準偏差をエクセルで、テーブルにしておくのがよいでしょうか？</a:t>
            </a:r>
            <a:endParaRPr kumimoji="1" lang="en-US" altLang="ja-JP" dirty="0"/>
          </a:p>
          <a:p>
            <a:endParaRPr kumimoji="1" lang="en-US" altLang="ja-JP" dirty="0"/>
          </a:p>
          <a:p>
            <a:r>
              <a:rPr kumimoji="1" lang="ja-JP" altLang="en-US" dirty="0"/>
              <a:t>中央の３</a:t>
            </a:r>
            <a:r>
              <a:rPr kumimoji="1" lang="en-US" altLang="ja-JP" dirty="0"/>
              <a:t>D</a:t>
            </a:r>
            <a:r>
              <a:rPr kumimoji="1" lang="ja-JP" altLang="en-US" dirty="0"/>
              <a:t>可視化像は、上の表示では、可視化像の透明度を調整して薄めの色にしています。深部の筋肉については、対象筋肉以外の骨・対象・その他の筋肉は、色なし半透明にするのがよいと思います。</a:t>
            </a:r>
            <a:endParaRPr kumimoji="1" lang="en-US" altLang="ja-JP" dirty="0"/>
          </a:p>
          <a:p>
            <a:r>
              <a:rPr kumimoji="1" lang="ja-JP" altLang="en-US" dirty="0"/>
              <a:t>体幹～下肢全体はないと思うのですが、</a:t>
            </a:r>
            <a:endParaRPr kumimoji="1" lang="en-US" altLang="ja-JP" dirty="0"/>
          </a:p>
          <a:p>
            <a:endParaRPr kumimoji="1" lang="en-US" altLang="ja-JP" dirty="0"/>
          </a:p>
          <a:p>
            <a:r>
              <a:rPr kumimoji="1" lang="ja-JP" altLang="en-US" dirty="0"/>
              <a:t>各部位毎の拡大可視化像は、ある対象筋肉が別の対象筋肉を隠して見えなくなる場合があると思いますので、その場合、左右で別の可視化像にして、一方で、隠している筋肉の色なし半透明にしてください。例えば、「お尻」については、なかなか難しいのですが、右は、４つの筋肉をそのまま表示、左は、大殿筋のみ色なし半透明にして、中殿筋は色付きでやや半透明、小殿筋と大腿筋膜張筋は不透明にするなど、工夫がいると思います。「胸・お腹」や「背中・肩」も、かなり工夫がいると思いますが、特に、腹部は、複数の筋肉が層状になっていて、今回は、完璧にはできなくてもよいと考えます。（今後、改良を重ねることは必要です。）</a:t>
            </a:r>
            <a:endParaRPr kumimoji="1" lang="en-US" altLang="ja-JP" dirty="0"/>
          </a:p>
          <a:p>
            <a:endParaRPr kumimoji="1" lang="en-US" altLang="ja-JP" dirty="0"/>
          </a:p>
          <a:p>
            <a:endParaRPr kumimoji="1" lang="ja-JP" altLang="en-US" dirty="0"/>
          </a:p>
          <a:p>
            <a:endParaRPr kumimoji="1" lang="ja-JP" altLang="en-US" dirty="0"/>
          </a:p>
        </p:txBody>
      </p:sp>
      <p:sp>
        <p:nvSpPr>
          <p:cNvPr id="4" name="スライド番号プレースホルダー 3"/>
          <p:cNvSpPr>
            <a:spLocks noGrp="1"/>
          </p:cNvSpPr>
          <p:nvPr>
            <p:ph type="sldNum" sz="quarter" idx="5"/>
          </p:nvPr>
        </p:nvSpPr>
        <p:spPr/>
        <p:txBody>
          <a:bodyPr/>
          <a:lstStyle/>
          <a:p>
            <a:fld id="{26A57BE4-F087-4889-83FB-F4BC38C7D812}" type="slidenum">
              <a:rPr kumimoji="1" lang="ja-JP" altLang="en-US" smtClean="0"/>
              <a:t>1</a:t>
            </a:fld>
            <a:endParaRPr kumimoji="1" lang="ja-JP" altLang="en-US"/>
          </a:p>
        </p:txBody>
      </p:sp>
    </p:spTree>
    <p:extLst>
      <p:ext uri="{BB962C8B-B14F-4D97-AF65-F5344CB8AC3E}">
        <p14:creationId xmlns:p14="http://schemas.microsoft.com/office/powerpoint/2010/main" val="385866268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所見文の欄については、筋肉の測定値に基づいて、以下の３つのパターンのどれかを挿入する。</a:t>
            </a:r>
          </a:p>
          <a:p>
            <a:r>
              <a:rPr kumimoji="1" lang="ja-JP" altLang="en-US" dirty="0"/>
              <a:t>１．良好／標準的な場合「あなたの筋肉の質は、同性・同年代と比べて良好あるいは標準的な範囲にあります。ただし、高齢になると平均的な値でも筋力低下や転倒リスクが高まることがありますので、今後もバランスの良い食事と（できるだけお医者様や専門家指導の下で）適度な運動を続けることが大切です。」</a:t>
            </a:r>
          </a:p>
          <a:p>
            <a:r>
              <a:rPr kumimoji="1" lang="ja-JP" altLang="en-US" dirty="0"/>
              <a:t>２．やや低めの場合（例えば、２割以上の筋肉で標準偏差範囲外）「あなたの筋肉の質は、同性・同年代と比べるとやや低めの傾向があります。高齢期には筋肉の質のわずかな低下でも生活機能に影響が出ることがありますので、（できるだけお医者様や専門家指導の下で）食事・運動を工夫し、必要に応じて専門家のアドバイスを受けることをおすすめします。」</a:t>
            </a:r>
          </a:p>
          <a:p>
            <a:r>
              <a:rPr kumimoji="1" lang="ja-JP" altLang="en-US" dirty="0"/>
              <a:t>３．かなり低めの場合（例えば、５割以上の筋肉で標準偏差範囲外）「あなたの筋肉の質は、同性・同年代と比べて低い傾向が見られます。高齢期では平均的な水準でも転倒や要介護のリスクが高まることが知られています。早めに医療・リハビリ専門家にご相談されることをおすすめします。」</a:t>
            </a:r>
          </a:p>
          <a:p>
            <a:endParaRPr kumimoji="1" lang="en-US" altLang="ja-JP" dirty="0"/>
          </a:p>
          <a:p>
            <a:r>
              <a:rPr kumimoji="1" lang="ja-JP" altLang="en-US" dirty="0"/>
              <a:t>各３</a:t>
            </a:r>
            <a:r>
              <a:rPr kumimoji="1" lang="en-US" altLang="ja-JP" dirty="0"/>
              <a:t>D</a:t>
            </a:r>
            <a:r>
              <a:rPr kumimoji="1" lang="ja-JP" altLang="en-US" dirty="0"/>
              <a:t>可視化は、被験者のものではなく、説明用で固定した可視化にする。</a:t>
            </a:r>
            <a:endParaRPr kumimoji="1" lang="en-US" altLang="ja-JP" dirty="0"/>
          </a:p>
          <a:p>
            <a:r>
              <a:rPr kumimoji="1" lang="ja-JP" altLang="en-US" dirty="0"/>
              <a:t>各部位の拡大可視化像は、対象とする個別筋肉のみ、対応する色のカラー表示し、その他は、白の半透明表示とする。</a:t>
            </a:r>
            <a:endParaRPr kumimoji="1" lang="en-US" altLang="ja-JP" dirty="0"/>
          </a:p>
          <a:p>
            <a:r>
              <a:rPr kumimoji="1" lang="ja-JP" altLang="en-US" dirty="0"/>
              <a:t>筋質スコアは、筋肉領域内平均</a:t>
            </a:r>
            <a:r>
              <a:rPr kumimoji="1" lang="en-US" altLang="ja-JP" dirty="0"/>
              <a:t>HU</a:t>
            </a:r>
            <a:r>
              <a:rPr kumimoji="1" lang="ja-JP" altLang="en-US" dirty="0"/>
              <a:t>値とする。各プロットの平均・標準偏差範囲のボックスの色は、各個別筋肉に割り当てられた色にする。</a:t>
            </a:r>
            <a:endParaRPr kumimoji="1" lang="en-US" altLang="ja-JP" dirty="0"/>
          </a:p>
          <a:p>
            <a:endParaRPr kumimoji="1" lang="en-US" altLang="ja-JP" dirty="0"/>
          </a:p>
          <a:p>
            <a:r>
              <a:rPr kumimoji="1" lang="ja-JP" altLang="en-US" dirty="0"/>
              <a:t>なお、赤フォントの筋肉名は、太秦</a:t>
            </a:r>
            <a:r>
              <a:rPr kumimoji="1" lang="en-US" altLang="ja-JP" dirty="0"/>
              <a:t>CT</a:t>
            </a:r>
            <a:r>
              <a:rPr kumimoji="1" lang="ja-JP" altLang="en-US" dirty="0"/>
              <a:t>の撮影範囲内と思われますが、黒フォントは撮影範囲外（あるいは、入っていても十分に含まれていない）ので、対象外として、そもそも、プロットにおいて、平均・標準偏差範囲のボックスおよび被験者の値のプロットは、非表示にすることを想定します。</a:t>
            </a:r>
            <a:endParaRPr kumimoji="1" lang="en-US" altLang="ja-JP" dirty="0"/>
          </a:p>
          <a:p>
            <a:endParaRPr kumimoji="1" lang="en-US" altLang="ja-JP" dirty="0"/>
          </a:p>
          <a:p>
            <a:r>
              <a:rPr kumimoji="1" lang="ja-JP" altLang="en-US" dirty="0"/>
              <a:t>平均・標準偏差ボックスについては、各筋肉毎に、年齢</a:t>
            </a:r>
            <a:r>
              <a:rPr kumimoji="1" lang="en-US" altLang="ja-JP" dirty="0"/>
              <a:t>(</a:t>
            </a:r>
            <a:r>
              <a:rPr kumimoji="1" lang="ja-JP" altLang="en-US" dirty="0"/>
              <a:t>横軸</a:t>
            </a:r>
            <a:r>
              <a:rPr kumimoji="1" lang="en-US" altLang="ja-JP" dirty="0"/>
              <a:t>)</a:t>
            </a:r>
            <a:r>
              <a:rPr kumimoji="1" lang="ja-JP" altLang="en-US" dirty="0"/>
              <a:t>・</a:t>
            </a:r>
            <a:r>
              <a:rPr kumimoji="1" lang="en-US" altLang="ja-JP" dirty="0"/>
              <a:t>HU</a:t>
            </a:r>
            <a:r>
              <a:rPr kumimoji="1" lang="ja-JP" altLang="en-US" dirty="0"/>
              <a:t>値</a:t>
            </a:r>
            <a:r>
              <a:rPr kumimoji="1" lang="en-US" altLang="ja-JP" dirty="0"/>
              <a:t>(</a:t>
            </a:r>
            <a:r>
              <a:rPr kumimoji="1" lang="ja-JP" altLang="en-US" dirty="0"/>
              <a:t>縦軸</a:t>
            </a:r>
            <a:r>
              <a:rPr kumimoji="1" lang="en-US" altLang="ja-JP" dirty="0"/>
              <a:t>)</a:t>
            </a:r>
            <a:r>
              <a:rPr kumimoji="1" lang="ja-JP" altLang="en-US" dirty="0"/>
              <a:t>の散布図に対しての男性１次（直線）、女性２次曲線当てはめ（はずれ値は判別し除去）により求めた各年齢の平均値と標準偏差を用いる（アインさんがやっていたもの）。それらの結果から、各筋肉毎に、年齢毎に、平均値と標準偏差をエクセルで、テーブルにしておくのがよいでしょうか？</a:t>
            </a:r>
            <a:endParaRPr kumimoji="1" lang="en-US" altLang="ja-JP" dirty="0"/>
          </a:p>
          <a:p>
            <a:endParaRPr kumimoji="1" lang="en-US" altLang="ja-JP" dirty="0"/>
          </a:p>
          <a:p>
            <a:r>
              <a:rPr kumimoji="1" lang="ja-JP" altLang="en-US" dirty="0"/>
              <a:t>中央の３</a:t>
            </a:r>
            <a:r>
              <a:rPr kumimoji="1" lang="en-US" altLang="ja-JP" dirty="0"/>
              <a:t>D</a:t>
            </a:r>
            <a:r>
              <a:rPr kumimoji="1" lang="ja-JP" altLang="en-US" dirty="0"/>
              <a:t>可視化像は、上の表示では、可視化像の透明度を調整して薄めの色にしています。深部の筋肉については、対象筋肉以外の骨・対象・その他の筋肉は、色なし半透明にするのがよいと思います。</a:t>
            </a:r>
            <a:endParaRPr kumimoji="1" lang="en-US" altLang="ja-JP" dirty="0"/>
          </a:p>
          <a:p>
            <a:r>
              <a:rPr kumimoji="1" lang="ja-JP" altLang="en-US" dirty="0"/>
              <a:t>体幹～下肢全体はないと思うのですが、</a:t>
            </a:r>
            <a:endParaRPr kumimoji="1" lang="en-US" altLang="ja-JP" dirty="0"/>
          </a:p>
          <a:p>
            <a:endParaRPr kumimoji="1" lang="en-US" altLang="ja-JP" dirty="0"/>
          </a:p>
          <a:p>
            <a:r>
              <a:rPr kumimoji="1" lang="ja-JP" altLang="en-US" dirty="0"/>
              <a:t>各部位毎の拡大可視化像は、ある対象筋肉が別の対象筋肉を隠して見えなくなる場合があると思いますので、その場合、左右で別の可視化像にして、一方で、隠している筋肉の色なし半透明にしてください。例えば、「お尻」については、なかなか難しいのですが、右は、４つの筋肉をそのまま表示、左は、大殿筋のみ色なし半透明にして、中殿筋は色付きでやや半透明、小殿筋と大腿筋膜張筋は不透明にするなど、工夫がいると思います。「胸・お腹」や「背中・肩」も、かなり工夫がいると思いますが、特に、腹部は、複数の筋肉が層状になっていて、今回は、完璧にはできなくてもよいと考えます。（今後、改良を重ねることは必要です。）</a:t>
            </a:r>
            <a:endParaRPr kumimoji="1" lang="en-US" altLang="ja-JP" dirty="0"/>
          </a:p>
          <a:p>
            <a:endParaRPr kumimoji="1" lang="en-US" altLang="ja-JP" dirty="0"/>
          </a:p>
          <a:p>
            <a:endParaRPr kumimoji="1" lang="ja-JP" altLang="en-US" dirty="0"/>
          </a:p>
          <a:p>
            <a:endParaRPr kumimoji="1" lang="ja-JP" altLang="en-US" dirty="0"/>
          </a:p>
        </p:txBody>
      </p:sp>
      <p:sp>
        <p:nvSpPr>
          <p:cNvPr id="4" name="スライド番号プレースホルダー 3"/>
          <p:cNvSpPr>
            <a:spLocks noGrp="1"/>
          </p:cNvSpPr>
          <p:nvPr>
            <p:ph type="sldNum" sz="quarter" idx="5"/>
          </p:nvPr>
        </p:nvSpPr>
        <p:spPr/>
        <p:txBody>
          <a:bodyPr/>
          <a:lstStyle/>
          <a:p>
            <a:fld id="{26A57BE4-F087-4889-83FB-F4BC38C7D812}" type="slidenum">
              <a:rPr kumimoji="1" lang="ja-JP" altLang="en-US" smtClean="0"/>
              <a:t>2</a:t>
            </a:fld>
            <a:endParaRPr kumimoji="1" lang="ja-JP" altLang="en-US"/>
          </a:p>
        </p:txBody>
      </p:sp>
    </p:spTree>
    <p:extLst>
      <p:ext uri="{BB962C8B-B14F-4D97-AF65-F5344CB8AC3E}">
        <p14:creationId xmlns:p14="http://schemas.microsoft.com/office/powerpoint/2010/main" val="385866268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所見文の欄については、筋肉の測定値に基づいて、以下の３つのパターンのどれかを挿入する。</a:t>
            </a:r>
          </a:p>
          <a:p>
            <a:r>
              <a:rPr kumimoji="1" lang="ja-JP" altLang="en-US" dirty="0"/>
              <a:t>１．良好／標準的な場合「あなたの筋肉の質は、同性・同年代と比べて良好あるいは標準的な範囲にあります。ただし、高齢になると平均的な値でも筋力低下や転倒リスクが高まることがありますので、今後もバランスの良い食事と（できるだけお医者様や専門家指導の下で）適度な運動を続けることが大切です。」</a:t>
            </a:r>
          </a:p>
          <a:p>
            <a:r>
              <a:rPr kumimoji="1" lang="ja-JP" altLang="en-US" dirty="0"/>
              <a:t>２．やや低めの場合（例えば、２割以上の筋肉で標準偏差範囲外）「あなたの筋肉の質は、同性・同年代と比べるとやや低めの傾向があります。高齢期には筋肉の質のわずかな低下でも生活機能に影響が出ることがありますので、（できるだけお医者様や専門家指導の下で）食事・運動を工夫し、必要に応じて専門家のアドバイスを受けることをおすすめします。」</a:t>
            </a:r>
          </a:p>
          <a:p>
            <a:r>
              <a:rPr kumimoji="1" lang="ja-JP" altLang="en-US" dirty="0"/>
              <a:t>３．かなり低めの場合（例えば、５割以上の筋肉で標準偏差範囲外）「あなたの筋肉の質は、同性・同年代と比べて低い傾向が見られます。高齢期では平均的な水準でも転倒や要介護のリスクが高まることが知られています。早めに医療・リハビリ専門家にご相談されることをおすすめします。」</a:t>
            </a:r>
          </a:p>
          <a:p>
            <a:endParaRPr kumimoji="1" lang="en-US" altLang="ja-JP" dirty="0"/>
          </a:p>
          <a:p>
            <a:r>
              <a:rPr kumimoji="1" lang="ja-JP" altLang="en-US" dirty="0"/>
              <a:t>各３</a:t>
            </a:r>
            <a:r>
              <a:rPr kumimoji="1" lang="en-US" altLang="ja-JP" dirty="0"/>
              <a:t>D</a:t>
            </a:r>
            <a:r>
              <a:rPr kumimoji="1" lang="ja-JP" altLang="en-US" dirty="0"/>
              <a:t>可視化は、被験者のものではなく、説明用で固定した可視化にする。</a:t>
            </a:r>
            <a:endParaRPr kumimoji="1" lang="en-US" altLang="ja-JP" dirty="0"/>
          </a:p>
          <a:p>
            <a:r>
              <a:rPr kumimoji="1" lang="ja-JP" altLang="en-US" dirty="0"/>
              <a:t>各部位の拡大可視化像は、対象とする個別筋肉のみ、対応する色のカラー表示し、その他は、白の半透明表示とする。</a:t>
            </a:r>
            <a:endParaRPr kumimoji="1" lang="en-US" altLang="ja-JP" dirty="0"/>
          </a:p>
          <a:p>
            <a:r>
              <a:rPr kumimoji="1" lang="ja-JP" altLang="en-US" dirty="0"/>
              <a:t>筋質スコアは、筋肉領域内平均</a:t>
            </a:r>
            <a:r>
              <a:rPr kumimoji="1" lang="en-US" altLang="ja-JP" dirty="0"/>
              <a:t>HU</a:t>
            </a:r>
            <a:r>
              <a:rPr kumimoji="1" lang="ja-JP" altLang="en-US" dirty="0"/>
              <a:t>値とする。各プロットの平均・標準偏差範囲のボックスの色は、各個別筋肉に割り当てられた色にする。</a:t>
            </a:r>
            <a:endParaRPr kumimoji="1" lang="en-US" altLang="ja-JP" dirty="0"/>
          </a:p>
          <a:p>
            <a:endParaRPr kumimoji="1" lang="en-US" altLang="ja-JP" dirty="0"/>
          </a:p>
          <a:p>
            <a:r>
              <a:rPr kumimoji="1" lang="ja-JP" altLang="en-US" dirty="0"/>
              <a:t>なお、赤フォントの筋肉名は、太秦</a:t>
            </a:r>
            <a:r>
              <a:rPr kumimoji="1" lang="en-US" altLang="ja-JP" dirty="0"/>
              <a:t>CT</a:t>
            </a:r>
            <a:r>
              <a:rPr kumimoji="1" lang="ja-JP" altLang="en-US" dirty="0"/>
              <a:t>の撮影範囲内と思われますが、黒フォントは撮影範囲外（あるいは、入っていても十分に含まれていない）ので、対象外として、そもそも、プロットにおいて、平均・標準偏差範囲のボックスおよび被験者の値のプロットは、非表示にすることを想定します。</a:t>
            </a:r>
            <a:endParaRPr kumimoji="1" lang="en-US" altLang="ja-JP" dirty="0"/>
          </a:p>
          <a:p>
            <a:endParaRPr kumimoji="1" lang="en-US" altLang="ja-JP" dirty="0"/>
          </a:p>
          <a:p>
            <a:r>
              <a:rPr kumimoji="1" lang="ja-JP" altLang="en-US" dirty="0"/>
              <a:t>平均・標準偏差ボックスについては、各筋肉毎に、年齢</a:t>
            </a:r>
            <a:r>
              <a:rPr kumimoji="1" lang="en-US" altLang="ja-JP" dirty="0"/>
              <a:t>(</a:t>
            </a:r>
            <a:r>
              <a:rPr kumimoji="1" lang="ja-JP" altLang="en-US" dirty="0"/>
              <a:t>横軸</a:t>
            </a:r>
            <a:r>
              <a:rPr kumimoji="1" lang="en-US" altLang="ja-JP" dirty="0"/>
              <a:t>)</a:t>
            </a:r>
            <a:r>
              <a:rPr kumimoji="1" lang="ja-JP" altLang="en-US" dirty="0"/>
              <a:t>・</a:t>
            </a:r>
            <a:r>
              <a:rPr kumimoji="1" lang="en-US" altLang="ja-JP" dirty="0"/>
              <a:t>HU</a:t>
            </a:r>
            <a:r>
              <a:rPr kumimoji="1" lang="ja-JP" altLang="en-US" dirty="0"/>
              <a:t>値</a:t>
            </a:r>
            <a:r>
              <a:rPr kumimoji="1" lang="en-US" altLang="ja-JP" dirty="0"/>
              <a:t>(</a:t>
            </a:r>
            <a:r>
              <a:rPr kumimoji="1" lang="ja-JP" altLang="en-US" dirty="0"/>
              <a:t>縦軸</a:t>
            </a:r>
            <a:r>
              <a:rPr kumimoji="1" lang="en-US" altLang="ja-JP" dirty="0"/>
              <a:t>)</a:t>
            </a:r>
            <a:r>
              <a:rPr kumimoji="1" lang="ja-JP" altLang="en-US" dirty="0"/>
              <a:t>の散布図に対しての男性１次（直線）、女性２次曲線当てはめ（はずれ値は判別し除去）により求めた各年齢の平均値と標準偏差を用いる（アインさんがやっていたもの）。それらの結果から、各筋肉毎に、年齢毎に、平均値と標準偏差をエクセルで、テーブルにしておくのがよいでしょうか？</a:t>
            </a:r>
            <a:endParaRPr kumimoji="1" lang="en-US" altLang="ja-JP" dirty="0"/>
          </a:p>
          <a:p>
            <a:endParaRPr kumimoji="1" lang="en-US" altLang="ja-JP" dirty="0"/>
          </a:p>
          <a:p>
            <a:r>
              <a:rPr kumimoji="1" lang="ja-JP" altLang="en-US" dirty="0"/>
              <a:t>中央の３</a:t>
            </a:r>
            <a:r>
              <a:rPr kumimoji="1" lang="en-US" altLang="ja-JP" dirty="0"/>
              <a:t>D</a:t>
            </a:r>
            <a:r>
              <a:rPr kumimoji="1" lang="ja-JP" altLang="en-US" dirty="0"/>
              <a:t>可視化像は、上の表示では、可視化像の透明度を調整して薄めの色にしています。深部の筋肉については、対象筋肉以外の骨・対象・その他の筋肉は、色なし半透明にするのがよいと思います。</a:t>
            </a:r>
            <a:endParaRPr kumimoji="1" lang="en-US" altLang="ja-JP" dirty="0"/>
          </a:p>
          <a:p>
            <a:r>
              <a:rPr kumimoji="1" lang="ja-JP" altLang="en-US" dirty="0"/>
              <a:t>体幹～下肢全体はないと思うのですが、</a:t>
            </a:r>
            <a:endParaRPr kumimoji="1" lang="en-US" altLang="ja-JP" dirty="0"/>
          </a:p>
          <a:p>
            <a:endParaRPr kumimoji="1" lang="en-US" altLang="ja-JP" dirty="0"/>
          </a:p>
          <a:p>
            <a:r>
              <a:rPr kumimoji="1" lang="ja-JP" altLang="en-US" dirty="0"/>
              <a:t>各部位毎の拡大可視化像は、ある対象筋肉が別の対象筋肉を隠して見えなくなる場合があると思いますので、その場合、左右で別の可視化像にして、一方で、隠している筋肉の色なし半透明にしてください。例えば、「お尻」については、なかなか難しいのですが、右は、４つの筋肉をそのまま表示、左は、大殿筋のみ色なし半透明にして、中殿筋は色付きでやや半透明、小殿筋と大腿筋膜張筋は不透明にするなど、工夫がいると思います。「胸・お腹」や「背中・肩」も、かなり工夫がいると思いますが、特に、腹部は、複数の筋肉が層状になっていて、今回は、完璧にはできなくてもよいと考えます。（今後、改良を重ねることは必要です。）</a:t>
            </a:r>
            <a:endParaRPr kumimoji="1" lang="en-US" altLang="ja-JP" dirty="0"/>
          </a:p>
          <a:p>
            <a:endParaRPr kumimoji="1" lang="en-US" altLang="ja-JP" dirty="0"/>
          </a:p>
          <a:p>
            <a:endParaRPr kumimoji="1" lang="ja-JP" altLang="en-US" dirty="0"/>
          </a:p>
          <a:p>
            <a:endParaRPr kumimoji="1" lang="ja-JP" altLang="en-US" dirty="0"/>
          </a:p>
        </p:txBody>
      </p:sp>
      <p:sp>
        <p:nvSpPr>
          <p:cNvPr id="4" name="スライド番号プレースホルダー 3"/>
          <p:cNvSpPr>
            <a:spLocks noGrp="1"/>
          </p:cNvSpPr>
          <p:nvPr>
            <p:ph type="sldNum" sz="quarter" idx="5"/>
          </p:nvPr>
        </p:nvSpPr>
        <p:spPr/>
        <p:txBody>
          <a:bodyPr/>
          <a:lstStyle/>
          <a:p>
            <a:fld id="{26A57BE4-F087-4889-83FB-F4BC38C7D812}" type="slidenum">
              <a:rPr kumimoji="1" lang="ja-JP" altLang="en-US" smtClean="0"/>
              <a:t>3</a:t>
            </a:fld>
            <a:endParaRPr kumimoji="1" lang="ja-JP" altLang="en-US"/>
          </a:p>
        </p:txBody>
      </p:sp>
    </p:spTree>
    <p:extLst>
      <p:ext uri="{BB962C8B-B14F-4D97-AF65-F5344CB8AC3E}">
        <p14:creationId xmlns:p14="http://schemas.microsoft.com/office/powerpoint/2010/main" val="34290221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所見文の欄については、筋肉の測定値に基づいて、以下の３つのパターンのどれかを挿入する。</a:t>
            </a:r>
          </a:p>
          <a:p>
            <a:r>
              <a:rPr kumimoji="1" lang="ja-JP" altLang="en-US" dirty="0"/>
              <a:t>１．良好／標準的な場合「あなたの筋肉の質は、同性・同年代と比べて良好あるいは標準的な範囲にあります。ただし、高齢になると平均的な値でも筋力低下や転倒リスクが高まることがありますので、今後もバランスの良い食事と（できるだけお医者様や専門家指導の下で）適度な運動を続けることが大切です。」</a:t>
            </a:r>
          </a:p>
          <a:p>
            <a:r>
              <a:rPr kumimoji="1" lang="ja-JP" altLang="en-US" dirty="0"/>
              <a:t>２．やや低めの場合（例えば、２割以上の筋肉で標準偏差範囲外）「あなたの筋肉の質は、同性・同年代と比べるとやや低めの傾向があります。高齢期には筋肉の質のわずかな低下でも生活機能に影響が出ることがありますので、（できるだけお医者様や専門家指導の下で）食事・運動を工夫し、必要に応じて専門家のアドバイスを受けることをおすすめします。」</a:t>
            </a:r>
          </a:p>
          <a:p>
            <a:r>
              <a:rPr kumimoji="1" lang="ja-JP" altLang="en-US" dirty="0"/>
              <a:t>３．かなり低めの場合（例えば、５割以上の筋肉で標準偏差範囲外）「あなたの筋肉の質は、同性・同年代と比べて低い傾向が見られます。高齢期では平均的な水準でも転倒や要介護のリスクが高まることが知られています。早めに医療・リハビリ専門家にご相談されることをおすすめします。」</a:t>
            </a:r>
          </a:p>
          <a:p>
            <a:endParaRPr kumimoji="1" lang="en-US" altLang="ja-JP" dirty="0"/>
          </a:p>
          <a:p>
            <a:r>
              <a:rPr kumimoji="1" lang="ja-JP" altLang="en-US" dirty="0"/>
              <a:t>各３</a:t>
            </a:r>
            <a:r>
              <a:rPr kumimoji="1" lang="en-US" altLang="ja-JP" dirty="0"/>
              <a:t>D</a:t>
            </a:r>
            <a:r>
              <a:rPr kumimoji="1" lang="ja-JP" altLang="en-US" dirty="0"/>
              <a:t>可視化は、被験者のものではなく、説明用で固定した可視化にする。</a:t>
            </a:r>
            <a:endParaRPr kumimoji="1" lang="en-US" altLang="ja-JP" dirty="0"/>
          </a:p>
          <a:p>
            <a:r>
              <a:rPr kumimoji="1" lang="ja-JP" altLang="en-US" dirty="0"/>
              <a:t>各部位の拡大可視化像は、対象とする個別筋肉のみ、対応する色のカラー表示し、その他は、白の半透明表示とする。</a:t>
            </a:r>
            <a:endParaRPr kumimoji="1" lang="en-US" altLang="ja-JP" dirty="0"/>
          </a:p>
          <a:p>
            <a:r>
              <a:rPr kumimoji="1" lang="ja-JP" altLang="en-US" dirty="0"/>
              <a:t>筋質スコアは、筋肉領域内平均</a:t>
            </a:r>
            <a:r>
              <a:rPr kumimoji="1" lang="en-US" altLang="ja-JP" dirty="0"/>
              <a:t>HU</a:t>
            </a:r>
            <a:r>
              <a:rPr kumimoji="1" lang="ja-JP" altLang="en-US" dirty="0"/>
              <a:t>値とする。各プロットの平均・標準偏差範囲のボックスの色は、各個別筋肉に割り当てられた色にする。</a:t>
            </a:r>
            <a:endParaRPr kumimoji="1" lang="en-US" altLang="ja-JP" dirty="0"/>
          </a:p>
          <a:p>
            <a:endParaRPr kumimoji="1" lang="en-US" altLang="ja-JP" dirty="0"/>
          </a:p>
          <a:p>
            <a:r>
              <a:rPr kumimoji="1" lang="ja-JP" altLang="en-US" dirty="0"/>
              <a:t>なお、赤フォントの筋肉名は、太秦</a:t>
            </a:r>
            <a:r>
              <a:rPr kumimoji="1" lang="en-US" altLang="ja-JP" dirty="0"/>
              <a:t>CT</a:t>
            </a:r>
            <a:r>
              <a:rPr kumimoji="1" lang="ja-JP" altLang="en-US" dirty="0"/>
              <a:t>の撮影範囲内と思われますが、黒フォントは撮影範囲外（あるいは、入っていても十分に含まれていない）ので、対象外として、そもそも、プロットにおいて、平均・標準偏差範囲のボックスおよび被験者の値のプロットは、非表示にすることを想定します。</a:t>
            </a:r>
            <a:endParaRPr kumimoji="1" lang="en-US" altLang="ja-JP" dirty="0"/>
          </a:p>
          <a:p>
            <a:endParaRPr kumimoji="1" lang="en-US" altLang="ja-JP" dirty="0"/>
          </a:p>
          <a:p>
            <a:r>
              <a:rPr kumimoji="1" lang="ja-JP" altLang="en-US" dirty="0"/>
              <a:t>平均・標準偏差ボックスについては、各筋肉毎に、年齢</a:t>
            </a:r>
            <a:r>
              <a:rPr kumimoji="1" lang="en-US" altLang="ja-JP" dirty="0"/>
              <a:t>(</a:t>
            </a:r>
            <a:r>
              <a:rPr kumimoji="1" lang="ja-JP" altLang="en-US" dirty="0"/>
              <a:t>横軸</a:t>
            </a:r>
            <a:r>
              <a:rPr kumimoji="1" lang="en-US" altLang="ja-JP" dirty="0"/>
              <a:t>)</a:t>
            </a:r>
            <a:r>
              <a:rPr kumimoji="1" lang="ja-JP" altLang="en-US" dirty="0"/>
              <a:t>・</a:t>
            </a:r>
            <a:r>
              <a:rPr kumimoji="1" lang="en-US" altLang="ja-JP" dirty="0"/>
              <a:t>HU</a:t>
            </a:r>
            <a:r>
              <a:rPr kumimoji="1" lang="ja-JP" altLang="en-US" dirty="0"/>
              <a:t>値</a:t>
            </a:r>
            <a:r>
              <a:rPr kumimoji="1" lang="en-US" altLang="ja-JP" dirty="0"/>
              <a:t>(</a:t>
            </a:r>
            <a:r>
              <a:rPr kumimoji="1" lang="ja-JP" altLang="en-US" dirty="0"/>
              <a:t>縦軸</a:t>
            </a:r>
            <a:r>
              <a:rPr kumimoji="1" lang="en-US" altLang="ja-JP" dirty="0"/>
              <a:t>)</a:t>
            </a:r>
            <a:r>
              <a:rPr kumimoji="1" lang="ja-JP" altLang="en-US" dirty="0"/>
              <a:t>の散布図に対しての男性１次（直線）、女性２次曲線当てはめ（はずれ値は判別し除去）により求めた各年齢の平均値と標準偏差を用いる（アインさんがやっていたもの）。それらの結果から、各筋肉毎に、年齢毎に、平均値と標準偏差をエクセルで、テーブルにしておくのがよいでしょうか？</a:t>
            </a:r>
            <a:endParaRPr kumimoji="1" lang="en-US" altLang="ja-JP" dirty="0"/>
          </a:p>
          <a:p>
            <a:endParaRPr kumimoji="1" lang="en-US" altLang="ja-JP" dirty="0"/>
          </a:p>
          <a:p>
            <a:r>
              <a:rPr kumimoji="1" lang="ja-JP" altLang="en-US" dirty="0"/>
              <a:t>中央の３</a:t>
            </a:r>
            <a:r>
              <a:rPr kumimoji="1" lang="en-US" altLang="ja-JP" dirty="0"/>
              <a:t>D</a:t>
            </a:r>
            <a:r>
              <a:rPr kumimoji="1" lang="ja-JP" altLang="en-US" dirty="0"/>
              <a:t>可視化像は、上の表示では、可視化像の透明度を調整して薄めの色にしています。深部の筋肉については、対象筋肉以外の骨・対象・その他の筋肉は、色なし半透明にするのがよいと思います。</a:t>
            </a:r>
            <a:endParaRPr kumimoji="1" lang="en-US" altLang="ja-JP" dirty="0"/>
          </a:p>
          <a:p>
            <a:r>
              <a:rPr kumimoji="1" lang="ja-JP" altLang="en-US" dirty="0"/>
              <a:t>体幹～下肢全体はないと思うのですが、</a:t>
            </a:r>
            <a:endParaRPr kumimoji="1" lang="en-US" altLang="ja-JP" dirty="0"/>
          </a:p>
          <a:p>
            <a:endParaRPr kumimoji="1" lang="en-US" altLang="ja-JP" dirty="0"/>
          </a:p>
          <a:p>
            <a:r>
              <a:rPr kumimoji="1" lang="ja-JP" altLang="en-US" dirty="0"/>
              <a:t>各部位毎の拡大可視化像は、ある対象筋肉が別の対象筋肉を隠して見えなくなる場合があると思いますので、その場合、左右で別の可視化像にして、一方で、隠している筋肉の色なし半透明にしてください。例えば、「お尻」については、なかなか難しいのですが、右は、４つの筋肉をそのまま表示、左は、大殿筋のみ色なし半透明にして、中殿筋は色付きでやや半透明、小殿筋と大腿筋膜張筋は不透明にするなど、工夫がいると思います。「胸・お腹」や「背中・肩」も、かなり工夫がいると思いますが、特に、腹部は、複数の筋肉が層状になっていて、今回は、完璧にはできなくてもよいと考えます。（今後、改良を重ねることは必要です。）</a:t>
            </a:r>
            <a:endParaRPr kumimoji="1" lang="en-US" altLang="ja-JP" dirty="0"/>
          </a:p>
          <a:p>
            <a:endParaRPr kumimoji="1" lang="en-US" altLang="ja-JP" dirty="0"/>
          </a:p>
          <a:p>
            <a:endParaRPr kumimoji="1" lang="ja-JP" altLang="en-US" dirty="0"/>
          </a:p>
          <a:p>
            <a:endParaRPr kumimoji="1" lang="ja-JP" altLang="en-US" dirty="0"/>
          </a:p>
        </p:txBody>
      </p:sp>
      <p:sp>
        <p:nvSpPr>
          <p:cNvPr id="4" name="スライド番号プレースホルダー 3"/>
          <p:cNvSpPr>
            <a:spLocks noGrp="1"/>
          </p:cNvSpPr>
          <p:nvPr>
            <p:ph type="sldNum" sz="quarter" idx="5"/>
          </p:nvPr>
        </p:nvSpPr>
        <p:spPr/>
        <p:txBody>
          <a:bodyPr/>
          <a:lstStyle/>
          <a:p>
            <a:fld id="{26A57BE4-F087-4889-83FB-F4BC38C7D812}" type="slidenum">
              <a:rPr kumimoji="1" lang="ja-JP" altLang="en-US" smtClean="0"/>
              <a:t>4</a:t>
            </a:fld>
            <a:endParaRPr kumimoji="1" lang="ja-JP" altLang="en-US"/>
          </a:p>
        </p:txBody>
      </p:sp>
    </p:spTree>
    <p:extLst>
      <p:ext uri="{BB962C8B-B14F-4D97-AF65-F5344CB8AC3E}">
        <p14:creationId xmlns:p14="http://schemas.microsoft.com/office/powerpoint/2010/main" val="21440005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Title 1"/>
          <p:cNvSpPr>
            <a:spLocks noGrp="1"/>
          </p:cNvSpPr>
          <p:nvPr>
            <p:ph type="ctrTitle"/>
          </p:nvPr>
        </p:nvSpPr>
        <p:spPr>
          <a:xfrm>
            <a:off x="960120" y="1571308"/>
            <a:ext cx="10881360" cy="3342640"/>
          </a:xfrm>
        </p:spPr>
        <p:txBody>
          <a:bodyPr anchor="b"/>
          <a:lstStyle>
            <a:lvl1pPr algn="ctr">
              <a:defRPr sz="8400"/>
            </a:lvl1pPr>
          </a:lstStyle>
          <a:p>
            <a:r>
              <a:rPr lang="ja-JP" altLang="en-US"/>
              <a:t>マスター タイトルの書式設定</a:t>
            </a:r>
            <a:endParaRPr lang="en-US" dirty="0"/>
          </a:p>
        </p:txBody>
      </p:sp>
      <p:sp>
        <p:nvSpPr>
          <p:cNvPr id="3" name="Subtitle 2"/>
          <p:cNvSpPr>
            <a:spLocks noGrp="1"/>
          </p:cNvSpPr>
          <p:nvPr>
            <p:ph type="subTitle" idx="1"/>
          </p:nvPr>
        </p:nvSpPr>
        <p:spPr>
          <a:xfrm>
            <a:off x="1600200" y="5042853"/>
            <a:ext cx="9601200" cy="2318067"/>
          </a:xfrm>
        </p:spPr>
        <p:txBody>
          <a:bodyPr/>
          <a:lstStyle>
            <a:lvl1pPr marL="0" indent="0" algn="ctr">
              <a:buNone/>
              <a:defRPr sz="3360"/>
            </a:lvl1pPr>
            <a:lvl2pPr marL="640080" indent="0" algn="ctr">
              <a:buNone/>
              <a:defRPr sz="2800"/>
            </a:lvl2pPr>
            <a:lvl3pPr marL="1280160" indent="0" algn="ctr">
              <a:buNone/>
              <a:defRPr sz="2520"/>
            </a:lvl3pPr>
            <a:lvl4pPr marL="1920240" indent="0" algn="ctr">
              <a:buNone/>
              <a:defRPr sz="2240"/>
            </a:lvl4pPr>
            <a:lvl5pPr marL="2560320" indent="0" algn="ctr">
              <a:buNone/>
              <a:defRPr sz="2240"/>
            </a:lvl5pPr>
            <a:lvl6pPr marL="3200400" indent="0" algn="ctr">
              <a:buNone/>
              <a:defRPr sz="2240"/>
            </a:lvl6pPr>
            <a:lvl7pPr marL="3840480" indent="0" algn="ctr">
              <a:buNone/>
              <a:defRPr sz="2240"/>
            </a:lvl7pPr>
            <a:lvl8pPr marL="4480560" indent="0" algn="ctr">
              <a:buNone/>
              <a:defRPr sz="2240"/>
            </a:lvl8pPr>
            <a:lvl9pPr marL="5120640" indent="0" algn="ctr">
              <a:buNone/>
              <a:defRPr sz="2240"/>
            </a:lvl9pPr>
          </a:lstStyle>
          <a:p>
            <a:r>
              <a:rPr lang="ja-JP" altLang="en-US"/>
              <a:t>マスター サブタイトルの書式設定</a:t>
            </a:r>
            <a:endParaRPr lang="en-US" dirty="0"/>
          </a:p>
        </p:txBody>
      </p:sp>
      <p:sp>
        <p:nvSpPr>
          <p:cNvPr id="4" name="Date Placeholder 3"/>
          <p:cNvSpPr>
            <a:spLocks noGrp="1"/>
          </p:cNvSpPr>
          <p:nvPr>
            <p:ph type="dt" sz="half" idx="10"/>
          </p:nvPr>
        </p:nvSpPr>
        <p:spPr/>
        <p:txBody>
          <a:bodyPr/>
          <a:lstStyle/>
          <a:p>
            <a:fld id="{030A795C-D186-49F8-922E-213650C331BD}" type="datetime1">
              <a:rPr kumimoji="1" lang="ja-JP" altLang="en-US" smtClean="0"/>
              <a:t>2025/12/17</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AD811822-4739-4079-91F6-9F51ED4B0761}" type="slidenum">
              <a:rPr kumimoji="1" lang="ja-JP" altLang="en-US" smtClean="0"/>
              <a:t>‹#›</a:t>
            </a:fld>
            <a:endParaRPr kumimoji="1" lang="ja-JP" altLang="en-US"/>
          </a:p>
        </p:txBody>
      </p:sp>
    </p:spTree>
    <p:extLst>
      <p:ext uri="{BB962C8B-B14F-4D97-AF65-F5344CB8AC3E}">
        <p14:creationId xmlns:p14="http://schemas.microsoft.com/office/powerpoint/2010/main" val="255767552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idx="1"/>
          </p:nvPr>
        </p:nvSpPr>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16EB9AB5-D71E-43BD-BA98-95F977FA3B14}" type="datetime1">
              <a:rPr kumimoji="1" lang="ja-JP" altLang="en-US" smtClean="0"/>
              <a:t>2025/12/17</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AD811822-4739-4079-91F6-9F51ED4B0761}" type="slidenum">
              <a:rPr kumimoji="1" lang="ja-JP" altLang="en-US" smtClean="0"/>
              <a:t>‹#›</a:t>
            </a:fld>
            <a:endParaRPr kumimoji="1" lang="ja-JP" altLang="en-US"/>
          </a:p>
        </p:txBody>
      </p:sp>
    </p:spTree>
    <p:extLst>
      <p:ext uri="{BB962C8B-B14F-4D97-AF65-F5344CB8AC3E}">
        <p14:creationId xmlns:p14="http://schemas.microsoft.com/office/powerpoint/2010/main" val="15724975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Title 1"/>
          <p:cNvSpPr>
            <a:spLocks noGrp="1"/>
          </p:cNvSpPr>
          <p:nvPr>
            <p:ph type="title"/>
          </p:nvPr>
        </p:nvSpPr>
        <p:spPr>
          <a:xfrm>
            <a:off x="873443" y="2393635"/>
            <a:ext cx="11041380" cy="3993832"/>
          </a:xfrm>
        </p:spPr>
        <p:txBody>
          <a:bodyPr anchor="b"/>
          <a:lstStyle>
            <a:lvl1pPr>
              <a:defRPr sz="8400"/>
            </a:lvl1pPr>
          </a:lstStyle>
          <a:p>
            <a:r>
              <a:rPr lang="ja-JP" altLang="en-US"/>
              <a:t>マスター タイトルの書式設定</a:t>
            </a:r>
            <a:endParaRPr lang="en-US" dirty="0"/>
          </a:p>
        </p:txBody>
      </p:sp>
      <p:sp>
        <p:nvSpPr>
          <p:cNvPr id="3" name="Text Placeholder 2"/>
          <p:cNvSpPr>
            <a:spLocks noGrp="1"/>
          </p:cNvSpPr>
          <p:nvPr>
            <p:ph type="body" idx="1"/>
          </p:nvPr>
        </p:nvSpPr>
        <p:spPr>
          <a:xfrm>
            <a:off x="873443" y="6425250"/>
            <a:ext cx="11041380" cy="2100262"/>
          </a:xfrm>
        </p:spPr>
        <p:txBody>
          <a:bodyPr/>
          <a:lstStyle>
            <a:lvl1pPr marL="0" indent="0">
              <a:buNone/>
              <a:defRPr sz="3360">
                <a:solidFill>
                  <a:schemeClr val="tx1"/>
                </a:solidFill>
              </a:defRPr>
            </a:lvl1pPr>
            <a:lvl2pPr marL="640080" indent="0">
              <a:buNone/>
              <a:defRPr sz="2800">
                <a:solidFill>
                  <a:schemeClr val="tx1">
                    <a:tint val="75000"/>
                  </a:schemeClr>
                </a:solidFill>
              </a:defRPr>
            </a:lvl2pPr>
            <a:lvl3pPr marL="1280160" indent="0">
              <a:buNone/>
              <a:defRPr sz="2520">
                <a:solidFill>
                  <a:schemeClr val="tx1">
                    <a:tint val="75000"/>
                  </a:schemeClr>
                </a:solidFill>
              </a:defRPr>
            </a:lvl3pPr>
            <a:lvl4pPr marL="1920240" indent="0">
              <a:buNone/>
              <a:defRPr sz="2240">
                <a:solidFill>
                  <a:schemeClr val="tx1">
                    <a:tint val="75000"/>
                  </a:schemeClr>
                </a:solidFill>
              </a:defRPr>
            </a:lvl4pPr>
            <a:lvl5pPr marL="2560320" indent="0">
              <a:buNone/>
              <a:defRPr sz="2240">
                <a:solidFill>
                  <a:schemeClr val="tx1">
                    <a:tint val="75000"/>
                  </a:schemeClr>
                </a:solidFill>
              </a:defRPr>
            </a:lvl5pPr>
            <a:lvl6pPr marL="3200400" indent="0">
              <a:buNone/>
              <a:defRPr sz="2240">
                <a:solidFill>
                  <a:schemeClr val="tx1">
                    <a:tint val="75000"/>
                  </a:schemeClr>
                </a:solidFill>
              </a:defRPr>
            </a:lvl6pPr>
            <a:lvl7pPr marL="3840480" indent="0">
              <a:buNone/>
              <a:defRPr sz="2240">
                <a:solidFill>
                  <a:schemeClr val="tx1">
                    <a:tint val="75000"/>
                  </a:schemeClr>
                </a:solidFill>
              </a:defRPr>
            </a:lvl7pPr>
            <a:lvl8pPr marL="4480560" indent="0">
              <a:buNone/>
              <a:defRPr sz="2240">
                <a:solidFill>
                  <a:schemeClr val="tx1">
                    <a:tint val="75000"/>
                  </a:schemeClr>
                </a:solidFill>
              </a:defRPr>
            </a:lvl8pPr>
            <a:lvl9pPr marL="5120640" indent="0">
              <a:buNone/>
              <a:defRPr sz="2240">
                <a:solidFill>
                  <a:schemeClr val="tx1">
                    <a:tint val="75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CD4B354A-0F1D-4772-A25A-2558BBD7A195}" type="datetime1">
              <a:rPr kumimoji="1" lang="ja-JP" altLang="en-US" smtClean="0"/>
              <a:t>2025/12/17</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AD811822-4739-4079-91F6-9F51ED4B0761}" type="slidenum">
              <a:rPr kumimoji="1" lang="ja-JP" altLang="en-US" smtClean="0"/>
              <a:t>‹#›</a:t>
            </a:fld>
            <a:endParaRPr kumimoji="1" lang="ja-JP" altLang="en-US"/>
          </a:p>
        </p:txBody>
      </p:sp>
    </p:spTree>
    <p:extLst>
      <p:ext uri="{BB962C8B-B14F-4D97-AF65-F5344CB8AC3E}">
        <p14:creationId xmlns:p14="http://schemas.microsoft.com/office/powerpoint/2010/main" val="231778977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sz="half" idx="1"/>
          </p:nvPr>
        </p:nvSpPr>
        <p:spPr>
          <a:xfrm>
            <a:off x="880110" y="2555875"/>
            <a:ext cx="5440680" cy="6091873"/>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Content Placeholder 3"/>
          <p:cNvSpPr>
            <a:spLocks noGrp="1"/>
          </p:cNvSpPr>
          <p:nvPr>
            <p:ph sz="half" idx="2"/>
          </p:nvPr>
        </p:nvSpPr>
        <p:spPr>
          <a:xfrm>
            <a:off x="6480810" y="2555875"/>
            <a:ext cx="5440680" cy="6091873"/>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Date Placeholder 4"/>
          <p:cNvSpPr>
            <a:spLocks noGrp="1"/>
          </p:cNvSpPr>
          <p:nvPr>
            <p:ph type="dt" sz="half" idx="10"/>
          </p:nvPr>
        </p:nvSpPr>
        <p:spPr/>
        <p:txBody>
          <a:bodyPr/>
          <a:lstStyle/>
          <a:p>
            <a:fld id="{F4E27273-7879-4DE1-8BC1-2E415FDB7924}" type="datetime1">
              <a:rPr kumimoji="1" lang="ja-JP" altLang="en-US" smtClean="0"/>
              <a:t>2025/12/17</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AD811822-4739-4079-91F6-9F51ED4B0761}" type="slidenum">
              <a:rPr kumimoji="1" lang="ja-JP" altLang="en-US" smtClean="0"/>
              <a:t>‹#›</a:t>
            </a:fld>
            <a:endParaRPr kumimoji="1" lang="ja-JP" altLang="en-US"/>
          </a:p>
        </p:txBody>
      </p:sp>
    </p:spTree>
    <p:extLst>
      <p:ext uri="{BB962C8B-B14F-4D97-AF65-F5344CB8AC3E}">
        <p14:creationId xmlns:p14="http://schemas.microsoft.com/office/powerpoint/2010/main" val="26611720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a:xfrm>
            <a:off x="881777" y="511177"/>
            <a:ext cx="11041380" cy="1855788"/>
          </a:xfrm>
        </p:spPr>
        <p:txBody>
          <a:bodyPr/>
          <a:lstStyle/>
          <a:p>
            <a:r>
              <a:rPr lang="ja-JP" altLang="en-US"/>
              <a:t>マスター タイトルの書式設定</a:t>
            </a:r>
            <a:endParaRPr lang="en-US" dirty="0"/>
          </a:p>
        </p:txBody>
      </p:sp>
      <p:sp>
        <p:nvSpPr>
          <p:cNvPr id="3" name="Text Placeholder 2"/>
          <p:cNvSpPr>
            <a:spLocks noGrp="1"/>
          </p:cNvSpPr>
          <p:nvPr>
            <p:ph type="body" idx="1"/>
          </p:nvPr>
        </p:nvSpPr>
        <p:spPr>
          <a:xfrm>
            <a:off x="881779" y="2353628"/>
            <a:ext cx="5415676" cy="1153477"/>
          </a:xfrm>
        </p:spPr>
        <p:txBody>
          <a:bodyPr anchor="b"/>
          <a:lstStyle>
            <a:lvl1pPr marL="0" indent="0">
              <a:buNone/>
              <a:defRPr sz="3360" b="1"/>
            </a:lvl1pPr>
            <a:lvl2pPr marL="640080" indent="0">
              <a:buNone/>
              <a:defRPr sz="2800" b="1"/>
            </a:lvl2pPr>
            <a:lvl3pPr marL="1280160" indent="0">
              <a:buNone/>
              <a:defRPr sz="2520" b="1"/>
            </a:lvl3pPr>
            <a:lvl4pPr marL="1920240" indent="0">
              <a:buNone/>
              <a:defRPr sz="2240" b="1"/>
            </a:lvl4pPr>
            <a:lvl5pPr marL="2560320" indent="0">
              <a:buNone/>
              <a:defRPr sz="2240" b="1"/>
            </a:lvl5pPr>
            <a:lvl6pPr marL="3200400" indent="0">
              <a:buNone/>
              <a:defRPr sz="2240" b="1"/>
            </a:lvl6pPr>
            <a:lvl7pPr marL="3840480" indent="0">
              <a:buNone/>
              <a:defRPr sz="2240" b="1"/>
            </a:lvl7pPr>
            <a:lvl8pPr marL="4480560" indent="0">
              <a:buNone/>
              <a:defRPr sz="2240" b="1"/>
            </a:lvl8pPr>
            <a:lvl9pPr marL="5120640" indent="0">
              <a:buNone/>
              <a:defRPr sz="2240" b="1"/>
            </a:lvl9pPr>
          </a:lstStyle>
          <a:p>
            <a:pPr lvl="0"/>
            <a:r>
              <a:rPr lang="ja-JP" altLang="en-US"/>
              <a:t>マスター テキストの書式設定</a:t>
            </a:r>
          </a:p>
        </p:txBody>
      </p:sp>
      <p:sp>
        <p:nvSpPr>
          <p:cNvPr id="4" name="Content Placeholder 3"/>
          <p:cNvSpPr>
            <a:spLocks noGrp="1"/>
          </p:cNvSpPr>
          <p:nvPr>
            <p:ph sz="half" idx="2"/>
          </p:nvPr>
        </p:nvSpPr>
        <p:spPr>
          <a:xfrm>
            <a:off x="881779" y="3507105"/>
            <a:ext cx="5415676" cy="5158423"/>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Text Placeholder 4"/>
          <p:cNvSpPr>
            <a:spLocks noGrp="1"/>
          </p:cNvSpPr>
          <p:nvPr>
            <p:ph type="body" sz="quarter" idx="3"/>
          </p:nvPr>
        </p:nvSpPr>
        <p:spPr>
          <a:xfrm>
            <a:off x="6480811" y="2353628"/>
            <a:ext cx="5442347" cy="1153477"/>
          </a:xfrm>
        </p:spPr>
        <p:txBody>
          <a:bodyPr anchor="b"/>
          <a:lstStyle>
            <a:lvl1pPr marL="0" indent="0">
              <a:buNone/>
              <a:defRPr sz="3360" b="1"/>
            </a:lvl1pPr>
            <a:lvl2pPr marL="640080" indent="0">
              <a:buNone/>
              <a:defRPr sz="2800" b="1"/>
            </a:lvl2pPr>
            <a:lvl3pPr marL="1280160" indent="0">
              <a:buNone/>
              <a:defRPr sz="2520" b="1"/>
            </a:lvl3pPr>
            <a:lvl4pPr marL="1920240" indent="0">
              <a:buNone/>
              <a:defRPr sz="2240" b="1"/>
            </a:lvl4pPr>
            <a:lvl5pPr marL="2560320" indent="0">
              <a:buNone/>
              <a:defRPr sz="2240" b="1"/>
            </a:lvl5pPr>
            <a:lvl6pPr marL="3200400" indent="0">
              <a:buNone/>
              <a:defRPr sz="2240" b="1"/>
            </a:lvl6pPr>
            <a:lvl7pPr marL="3840480" indent="0">
              <a:buNone/>
              <a:defRPr sz="2240" b="1"/>
            </a:lvl7pPr>
            <a:lvl8pPr marL="4480560" indent="0">
              <a:buNone/>
              <a:defRPr sz="2240" b="1"/>
            </a:lvl8pPr>
            <a:lvl9pPr marL="5120640" indent="0">
              <a:buNone/>
              <a:defRPr sz="2240" b="1"/>
            </a:lvl9pPr>
          </a:lstStyle>
          <a:p>
            <a:pPr lvl="0"/>
            <a:r>
              <a:rPr lang="ja-JP" altLang="en-US"/>
              <a:t>マスター テキストの書式設定</a:t>
            </a:r>
          </a:p>
        </p:txBody>
      </p:sp>
      <p:sp>
        <p:nvSpPr>
          <p:cNvPr id="6" name="Content Placeholder 5"/>
          <p:cNvSpPr>
            <a:spLocks noGrp="1"/>
          </p:cNvSpPr>
          <p:nvPr>
            <p:ph sz="quarter" idx="4"/>
          </p:nvPr>
        </p:nvSpPr>
        <p:spPr>
          <a:xfrm>
            <a:off x="6480811" y="3507105"/>
            <a:ext cx="5442347" cy="5158423"/>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Date Placeholder 6"/>
          <p:cNvSpPr>
            <a:spLocks noGrp="1"/>
          </p:cNvSpPr>
          <p:nvPr>
            <p:ph type="dt" sz="half" idx="10"/>
          </p:nvPr>
        </p:nvSpPr>
        <p:spPr/>
        <p:txBody>
          <a:bodyPr/>
          <a:lstStyle/>
          <a:p>
            <a:fld id="{1B50778B-C442-4A4E-8AB2-8D383DDDEF70}" type="datetime1">
              <a:rPr kumimoji="1" lang="ja-JP" altLang="en-US" smtClean="0"/>
              <a:t>2025/12/17</a:t>
            </a:fld>
            <a:endParaRPr kumimoji="1" lang="ja-JP" altLang="en-US"/>
          </a:p>
        </p:txBody>
      </p:sp>
      <p:sp>
        <p:nvSpPr>
          <p:cNvPr id="8" name="Footer Placeholder 7"/>
          <p:cNvSpPr>
            <a:spLocks noGrp="1"/>
          </p:cNvSpPr>
          <p:nvPr>
            <p:ph type="ftr" sz="quarter" idx="11"/>
          </p:nvPr>
        </p:nvSpPr>
        <p:spPr/>
        <p:txBody>
          <a:bodyPr/>
          <a:lstStyle/>
          <a:p>
            <a:endParaRPr kumimoji="1" lang="ja-JP" altLang="en-US"/>
          </a:p>
        </p:txBody>
      </p:sp>
      <p:sp>
        <p:nvSpPr>
          <p:cNvPr id="9" name="Slide Number Placeholder 8"/>
          <p:cNvSpPr>
            <a:spLocks noGrp="1"/>
          </p:cNvSpPr>
          <p:nvPr>
            <p:ph type="sldNum" sz="quarter" idx="12"/>
          </p:nvPr>
        </p:nvSpPr>
        <p:spPr/>
        <p:txBody>
          <a:bodyPr/>
          <a:lstStyle/>
          <a:p>
            <a:fld id="{AD811822-4739-4079-91F6-9F51ED4B0761}" type="slidenum">
              <a:rPr kumimoji="1" lang="ja-JP" altLang="en-US" smtClean="0"/>
              <a:t>‹#›</a:t>
            </a:fld>
            <a:endParaRPr kumimoji="1" lang="ja-JP" altLang="en-US"/>
          </a:p>
        </p:txBody>
      </p:sp>
    </p:spTree>
    <p:extLst>
      <p:ext uri="{BB962C8B-B14F-4D97-AF65-F5344CB8AC3E}">
        <p14:creationId xmlns:p14="http://schemas.microsoft.com/office/powerpoint/2010/main" val="189738111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Date Placeholder 2"/>
          <p:cNvSpPr>
            <a:spLocks noGrp="1"/>
          </p:cNvSpPr>
          <p:nvPr>
            <p:ph type="dt" sz="half" idx="10"/>
          </p:nvPr>
        </p:nvSpPr>
        <p:spPr/>
        <p:txBody>
          <a:bodyPr/>
          <a:lstStyle/>
          <a:p>
            <a:fld id="{CFDB9525-9DA6-4E33-AD5D-1D7E5209AFE6}" type="datetime1">
              <a:rPr kumimoji="1" lang="ja-JP" altLang="en-US" smtClean="0"/>
              <a:t>2025/12/17</a:t>
            </a:fld>
            <a:endParaRPr kumimoji="1" lang="ja-JP" altLang="en-US"/>
          </a:p>
        </p:txBody>
      </p:sp>
      <p:sp>
        <p:nvSpPr>
          <p:cNvPr id="4" name="Footer Placeholder 3"/>
          <p:cNvSpPr>
            <a:spLocks noGrp="1"/>
          </p:cNvSpPr>
          <p:nvPr>
            <p:ph type="ftr" sz="quarter" idx="11"/>
          </p:nvPr>
        </p:nvSpPr>
        <p:spPr/>
        <p:txBody>
          <a:bodyPr/>
          <a:lstStyle/>
          <a:p>
            <a:endParaRPr kumimoji="1" lang="ja-JP" altLang="en-US"/>
          </a:p>
        </p:txBody>
      </p:sp>
      <p:sp>
        <p:nvSpPr>
          <p:cNvPr id="5" name="Slide Number Placeholder 4"/>
          <p:cNvSpPr>
            <a:spLocks noGrp="1"/>
          </p:cNvSpPr>
          <p:nvPr>
            <p:ph type="sldNum" sz="quarter" idx="12"/>
          </p:nvPr>
        </p:nvSpPr>
        <p:spPr/>
        <p:txBody>
          <a:bodyPr/>
          <a:lstStyle/>
          <a:p>
            <a:fld id="{AD811822-4739-4079-91F6-9F51ED4B0761}" type="slidenum">
              <a:rPr kumimoji="1" lang="ja-JP" altLang="en-US" smtClean="0"/>
              <a:t>‹#›</a:t>
            </a:fld>
            <a:endParaRPr kumimoji="1" lang="ja-JP" altLang="en-US"/>
          </a:p>
        </p:txBody>
      </p:sp>
    </p:spTree>
    <p:extLst>
      <p:ext uri="{BB962C8B-B14F-4D97-AF65-F5344CB8AC3E}">
        <p14:creationId xmlns:p14="http://schemas.microsoft.com/office/powerpoint/2010/main" val="66511133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2C0FF00-CC9E-486D-902A-471A4DB57A7C}" type="datetime1">
              <a:rPr kumimoji="1" lang="ja-JP" altLang="en-US" smtClean="0"/>
              <a:t>2025/12/17</a:t>
            </a:fld>
            <a:endParaRPr kumimoji="1" lang="ja-JP" altLang="en-US"/>
          </a:p>
        </p:txBody>
      </p:sp>
      <p:sp>
        <p:nvSpPr>
          <p:cNvPr id="3" name="Footer Placeholder 2"/>
          <p:cNvSpPr>
            <a:spLocks noGrp="1"/>
          </p:cNvSpPr>
          <p:nvPr>
            <p:ph type="ftr" sz="quarter" idx="11"/>
          </p:nvPr>
        </p:nvSpPr>
        <p:spPr/>
        <p:txBody>
          <a:bodyPr/>
          <a:lstStyle/>
          <a:p>
            <a:endParaRPr kumimoji="1" lang="ja-JP" altLang="en-US"/>
          </a:p>
        </p:txBody>
      </p:sp>
      <p:sp>
        <p:nvSpPr>
          <p:cNvPr id="4" name="Slide Number Placeholder 3"/>
          <p:cNvSpPr>
            <a:spLocks noGrp="1"/>
          </p:cNvSpPr>
          <p:nvPr>
            <p:ph type="sldNum" sz="quarter" idx="12"/>
          </p:nvPr>
        </p:nvSpPr>
        <p:spPr/>
        <p:txBody>
          <a:bodyPr/>
          <a:lstStyle/>
          <a:p>
            <a:fld id="{AD811822-4739-4079-91F6-9F51ED4B0761}" type="slidenum">
              <a:rPr kumimoji="1" lang="ja-JP" altLang="en-US" smtClean="0"/>
              <a:t>‹#›</a:t>
            </a:fld>
            <a:endParaRPr kumimoji="1" lang="ja-JP" altLang="en-US"/>
          </a:p>
        </p:txBody>
      </p:sp>
    </p:spTree>
    <p:extLst>
      <p:ext uri="{BB962C8B-B14F-4D97-AF65-F5344CB8AC3E}">
        <p14:creationId xmlns:p14="http://schemas.microsoft.com/office/powerpoint/2010/main" val="32058273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881778" y="640080"/>
            <a:ext cx="4128849" cy="2240280"/>
          </a:xfrm>
        </p:spPr>
        <p:txBody>
          <a:bodyPr anchor="b"/>
          <a:lstStyle>
            <a:lvl1pPr>
              <a:defRPr sz="4480"/>
            </a:lvl1pPr>
          </a:lstStyle>
          <a:p>
            <a:r>
              <a:rPr lang="ja-JP" altLang="en-US"/>
              <a:t>マスター タイトルの書式設定</a:t>
            </a:r>
            <a:endParaRPr lang="en-US" dirty="0"/>
          </a:p>
        </p:txBody>
      </p:sp>
      <p:sp>
        <p:nvSpPr>
          <p:cNvPr id="3" name="Content Placeholder 2"/>
          <p:cNvSpPr>
            <a:spLocks noGrp="1"/>
          </p:cNvSpPr>
          <p:nvPr>
            <p:ph idx="1"/>
          </p:nvPr>
        </p:nvSpPr>
        <p:spPr>
          <a:xfrm>
            <a:off x="5442347" y="1382397"/>
            <a:ext cx="6480810" cy="6823075"/>
          </a:xfrm>
        </p:spPr>
        <p:txBody>
          <a:bodyPr/>
          <a:lstStyle>
            <a:lvl1pPr>
              <a:defRPr sz="4480"/>
            </a:lvl1pPr>
            <a:lvl2pPr>
              <a:defRPr sz="3920"/>
            </a:lvl2pPr>
            <a:lvl3pPr>
              <a:defRPr sz="3360"/>
            </a:lvl3pPr>
            <a:lvl4pPr>
              <a:defRPr sz="2800"/>
            </a:lvl4pPr>
            <a:lvl5pPr>
              <a:defRPr sz="2800"/>
            </a:lvl5pPr>
            <a:lvl6pPr>
              <a:defRPr sz="2800"/>
            </a:lvl6pPr>
            <a:lvl7pPr>
              <a:defRPr sz="2800"/>
            </a:lvl7pPr>
            <a:lvl8pPr>
              <a:defRPr sz="2800"/>
            </a:lvl8pPr>
            <a:lvl9pPr>
              <a:defRPr sz="28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Text Placeholder 3"/>
          <p:cNvSpPr>
            <a:spLocks noGrp="1"/>
          </p:cNvSpPr>
          <p:nvPr>
            <p:ph type="body" sz="half" idx="2"/>
          </p:nvPr>
        </p:nvSpPr>
        <p:spPr>
          <a:xfrm>
            <a:off x="881778" y="2880360"/>
            <a:ext cx="4128849" cy="5336223"/>
          </a:xfrm>
        </p:spPr>
        <p:txBody>
          <a:bodyPr/>
          <a:lstStyle>
            <a:lvl1pPr marL="0" indent="0">
              <a:buNone/>
              <a:defRPr sz="2240"/>
            </a:lvl1pPr>
            <a:lvl2pPr marL="640080" indent="0">
              <a:buNone/>
              <a:defRPr sz="1960"/>
            </a:lvl2pPr>
            <a:lvl3pPr marL="1280160" indent="0">
              <a:buNone/>
              <a:defRPr sz="1680"/>
            </a:lvl3pPr>
            <a:lvl4pPr marL="1920240" indent="0">
              <a:buNone/>
              <a:defRPr sz="1400"/>
            </a:lvl4pPr>
            <a:lvl5pPr marL="2560320" indent="0">
              <a:buNone/>
              <a:defRPr sz="1400"/>
            </a:lvl5pPr>
            <a:lvl6pPr marL="3200400" indent="0">
              <a:buNone/>
              <a:defRPr sz="1400"/>
            </a:lvl6pPr>
            <a:lvl7pPr marL="3840480" indent="0">
              <a:buNone/>
              <a:defRPr sz="1400"/>
            </a:lvl7pPr>
            <a:lvl8pPr marL="4480560" indent="0">
              <a:buNone/>
              <a:defRPr sz="1400"/>
            </a:lvl8pPr>
            <a:lvl9pPr marL="5120640" indent="0">
              <a:buNone/>
              <a:defRPr sz="14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A461820C-21E9-4339-B5F3-2597C3FD13FD}" type="datetime1">
              <a:rPr kumimoji="1" lang="ja-JP" altLang="en-US" smtClean="0"/>
              <a:t>2025/12/17</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AD811822-4739-4079-91F6-9F51ED4B0761}" type="slidenum">
              <a:rPr kumimoji="1" lang="ja-JP" altLang="en-US" smtClean="0"/>
              <a:t>‹#›</a:t>
            </a:fld>
            <a:endParaRPr kumimoji="1" lang="ja-JP" altLang="en-US"/>
          </a:p>
        </p:txBody>
      </p:sp>
    </p:spTree>
    <p:extLst>
      <p:ext uri="{BB962C8B-B14F-4D97-AF65-F5344CB8AC3E}">
        <p14:creationId xmlns:p14="http://schemas.microsoft.com/office/powerpoint/2010/main" val="24518676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Title 1"/>
          <p:cNvSpPr>
            <a:spLocks noGrp="1"/>
          </p:cNvSpPr>
          <p:nvPr>
            <p:ph type="title"/>
          </p:nvPr>
        </p:nvSpPr>
        <p:spPr>
          <a:xfrm>
            <a:off x="881778" y="640080"/>
            <a:ext cx="4128849" cy="2240280"/>
          </a:xfrm>
        </p:spPr>
        <p:txBody>
          <a:bodyPr anchor="b"/>
          <a:lstStyle>
            <a:lvl1pPr>
              <a:defRPr sz="4480"/>
            </a:lvl1pPr>
          </a:lstStyle>
          <a:p>
            <a:r>
              <a:rPr lang="ja-JP" altLang="en-US"/>
              <a:t>マスター タイトルの書式設定</a:t>
            </a:r>
            <a:endParaRPr lang="en-US" dirty="0"/>
          </a:p>
        </p:txBody>
      </p:sp>
      <p:sp>
        <p:nvSpPr>
          <p:cNvPr id="3" name="Picture Placeholder 2"/>
          <p:cNvSpPr>
            <a:spLocks noGrp="1" noChangeAspect="1"/>
          </p:cNvSpPr>
          <p:nvPr>
            <p:ph type="pic" idx="1"/>
          </p:nvPr>
        </p:nvSpPr>
        <p:spPr>
          <a:xfrm>
            <a:off x="5442347" y="1382397"/>
            <a:ext cx="6480810" cy="6823075"/>
          </a:xfrm>
        </p:spPr>
        <p:txBody>
          <a:bodyPr anchor="t"/>
          <a:lstStyle>
            <a:lvl1pPr marL="0" indent="0">
              <a:buNone/>
              <a:defRPr sz="4480"/>
            </a:lvl1pPr>
            <a:lvl2pPr marL="640080" indent="0">
              <a:buNone/>
              <a:defRPr sz="3920"/>
            </a:lvl2pPr>
            <a:lvl3pPr marL="1280160" indent="0">
              <a:buNone/>
              <a:defRPr sz="3360"/>
            </a:lvl3pPr>
            <a:lvl4pPr marL="1920240" indent="0">
              <a:buNone/>
              <a:defRPr sz="2800"/>
            </a:lvl4pPr>
            <a:lvl5pPr marL="2560320" indent="0">
              <a:buNone/>
              <a:defRPr sz="2800"/>
            </a:lvl5pPr>
            <a:lvl6pPr marL="3200400" indent="0">
              <a:buNone/>
              <a:defRPr sz="2800"/>
            </a:lvl6pPr>
            <a:lvl7pPr marL="3840480" indent="0">
              <a:buNone/>
              <a:defRPr sz="2800"/>
            </a:lvl7pPr>
            <a:lvl8pPr marL="4480560" indent="0">
              <a:buNone/>
              <a:defRPr sz="2800"/>
            </a:lvl8pPr>
            <a:lvl9pPr marL="5120640" indent="0">
              <a:buNone/>
              <a:defRPr sz="2800"/>
            </a:lvl9pPr>
          </a:lstStyle>
          <a:p>
            <a:r>
              <a:rPr lang="ja-JP" altLang="en-US"/>
              <a:t>アイコンをクリックして図を追加</a:t>
            </a:r>
            <a:endParaRPr lang="en-US" dirty="0"/>
          </a:p>
        </p:txBody>
      </p:sp>
      <p:sp>
        <p:nvSpPr>
          <p:cNvPr id="4" name="Text Placeholder 3"/>
          <p:cNvSpPr>
            <a:spLocks noGrp="1"/>
          </p:cNvSpPr>
          <p:nvPr>
            <p:ph type="body" sz="half" idx="2"/>
          </p:nvPr>
        </p:nvSpPr>
        <p:spPr>
          <a:xfrm>
            <a:off x="881778" y="2880360"/>
            <a:ext cx="4128849" cy="5336223"/>
          </a:xfrm>
        </p:spPr>
        <p:txBody>
          <a:bodyPr/>
          <a:lstStyle>
            <a:lvl1pPr marL="0" indent="0">
              <a:buNone/>
              <a:defRPr sz="2240"/>
            </a:lvl1pPr>
            <a:lvl2pPr marL="640080" indent="0">
              <a:buNone/>
              <a:defRPr sz="1960"/>
            </a:lvl2pPr>
            <a:lvl3pPr marL="1280160" indent="0">
              <a:buNone/>
              <a:defRPr sz="1680"/>
            </a:lvl3pPr>
            <a:lvl4pPr marL="1920240" indent="0">
              <a:buNone/>
              <a:defRPr sz="1400"/>
            </a:lvl4pPr>
            <a:lvl5pPr marL="2560320" indent="0">
              <a:buNone/>
              <a:defRPr sz="1400"/>
            </a:lvl5pPr>
            <a:lvl6pPr marL="3200400" indent="0">
              <a:buNone/>
              <a:defRPr sz="1400"/>
            </a:lvl6pPr>
            <a:lvl7pPr marL="3840480" indent="0">
              <a:buNone/>
              <a:defRPr sz="1400"/>
            </a:lvl7pPr>
            <a:lvl8pPr marL="4480560" indent="0">
              <a:buNone/>
              <a:defRPr sz="1400"/>
            </a:lvl8pPr>
            <a:lvl9pPr marL="5120640" indent="0">
              <a:buNone/>
              <a:defRPr sz="14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24DCBEFE-AD8F-4658-846A-0BDBA76D6A89}" type="datetime1">
              <a:rPr kumimoji="1" lang="ja-JP" altLang="en-US" smtClean="0"/>
              <a:t>2025/12/17</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AD811822-4739-4079-91F6-9F51ED4B0761}" type="slidenum">
              <a:rPr kumimoji="1" lang="ja-JP" altLang="en-US" smtClean="0"/>
              <a:t>‹#›</a:t>
            </a:fld>
            <a:endParaRPr kumimoji="1" lang="ja-JP" altLang="en-US"/>
          </a:p>
        </p:txBody>
      </p:sp>
    </p:spTree>
    <p:extLst>
      <p:ext uri="{BB962C8B-B14F-4D97-AF65-F5344CB8AC3E}">
        <p14:creationId xmlns:p14="http://schemas.microsoft.com/office/powerpoint/2010/main" val="10226505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Vertical Text Placeholder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C212287D-55E0-4FF4-8F2A-1F80FEF07307}" type="datetime1">
              <a:rPr kumimoji="1" lang="ja-JP" altLang="en-US" smtClean="0"/>
              <a:t>2025/12/17</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AD811822-4739-4079-91F6-9F51ED4B0761}" type="slidenum">
              <a:rPr kumimoji="1" lang="ja-JP" altLang="en-US" smtClean="0"/>
              <a:t>‹#›</a:t>
            </a:fld>
            <a:endParaRPr kumimoji="1" lang="ja-JP" altLang="en-US"/>
          </a:p>
        </p:txBody>
      </p:sp>
    </p:spTree>
    <p:extLst>
      <p:ext uri="{BB962C8B-B14F-4D97-AF65-F5344CB8AC3E}">
        <p14:creationId xmlns:p14="http://schemas.microsoft.com/office/powerpoint/2010/main" val="124189347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161146" y="511175"/>
            <a:ext cx="2760345" cy="8136573"/>
          </a:xfrm>
        </p:spPr>
        <p:txBody>
          <a:bodyPr vert="eaVert"/>
          <a:lstStyle/>
          <a:p>
            <a:r>
              <a:rPr lang="ja-JP" altLang="en-US"/>
              <a:t>マスター タイトルの書式設定</a:t>
            </a:r>
            <a:endParaRPr lang="en-US" dirty="0"/>
          </a:p>
        </p:txBody>
      </p:sp>
      <p:sp>
        <p:nvSpPr>
          <p:cNvPr id="3" name="Vertical Text Placeholder 2"/>
          <p:cNvSpPr>
            <a:spLocks noGrp="1"/>
          </p:cNvSpPr>
          <p:nvPr>
            <p:ph type="body" orient="vert" idx="1"/>
          </p:nvPr>
        </p:nvSpPr>
        <p:spPr>
          <a:xfrm>
            <a:off x="880111" y="511175"/>
            <a:ext cx="8121015" cy="8136573"/>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52D2BA95-82B4-42A7-9B67-E08D70EC37B9}" type="datetime1">
              <a:rPr kumimoji="1" lang="ja-JP" altLang="en-US" smtClean="0"/>
              <a:t>2025/12/17</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AD811822-4739-4079-91F6-9F51ED4B0761}" type="slidenum">
              <a:rPr kumimoji="1" lang="ja-JP" altLang="en-US" smtClean="0"/>
              <a:t>‹#›</a:t>
            </a:fld>
            <a:endParaRPr kumimoji="1" lang="ja-JP" altLang="en-US"/>
          </a:p>
        </p:txBody>
      </p:sp>
    </p:spTree>
    <p:extLst>
      <p:ext uri="{BB962C8B-B14F-4D97-AF65-F5344CB8AC3E}">
        <p14:creationId xmlns:p14="http://schemas.microsoft.com/office/powerpoint/2010/main" val="24973417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80110" y="511177"/>
            <a:ext cx="11041380" cy="1855788"/>
          </a:xfrm>
          <a:prstGeom prst="rect">
            <a:avLst/>
          </a:prstGeom>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880110" y="2555875"/>
            <a:ext cx="11041380" cy="6091873"/>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2"/>
          </p:nvPr>
        </p:nvSpPr>
        <p:spPr>
          <a:xfrm>
            <a:off x="880110" y="8898892"/>
            <a:ext cx="2880360" cy="511175"/>
          </a:xfrm>
          <a:prstGeom prst="rect">
            <a:avLst/>
          </a:prstGeom>
        </p:spPr>
        <p:txBody>
          <a:bodyPr vert="horz" lIns="91440" tIns="45720" rIns="91440" bIns="45720" rtlCol="0" anchor="ctr"/>
          <a:lstStyle>
            <a:lvl1pPr algn="l">
              <a:defRPr sz="1680">
                <a:solidFill>
                  <a:schemeClr val="tx1">
                    <a:tint val="75000"/>
                  </a:schemeClr>
                </a:solidFill>
              </a:defRPr>
            </a:lvl1pPr>
          </a:lstStyle>
          <a:p>
            <a:fld id="{DEC8E0CC-7FA6-473E-874E-5BE9EA49E8F5}" type="datetime1">
              <a:rPr kumimoji="1" lang="ja-JP" altLang="en-US" smtClean="0"/>
              <a:t>2025/12/17</a:t>
            </a:fld>
            <a:endParaRPr kumimoji="1" lang="ja-JP" altLang="en-US"/>
          </a:p>
        </p:txBody>
      </p:sp>
      <p:sp>
        <p:nvSpPr>
          <p:cNvPr id="5" name="Footer Placeholder 4"/>
          <p:cNvSpPr>
            <a:spLocks noGrp="1"/>
          </p:cNvSpPr>
          <p:nvPr>
            <p:ph type="ftr" sz="quarter" idx="3"/>
          </p:nvPr>
        </p:nvSpPr>
        <p:spPr>
          <a:xfrm>
            <a:off x="4240530" y="8898892"/>
            <a:ext cx="4320540" cy="511175"/>
          </a:xfrm>
          <a:prstGeom prst="rect">
            <a:avLst/>
          </a:prstGeom>
        </p:spPr>
        <p:txBody>
          <a:bodyPr vert="horz" lIns="91440" tIns="45720" rIns="91440" bIns="45720" rtlCol="0" anchor="ctr"/>
          <a:lstStyle>
            <a:lvl1pPr algn="ctr">
              <a:defRPr sz="1680">
                <a:solidFill>
                  <a:schemeClr val="tx1">
                    <a:tint val="75000"/>
                  </a:schemeClr>
                </a:solidFill>
              </a:defRPr>
            </a:lvl1pPr>
          </a:lstStyle>
          <a:p>
            <a:endParaRPr kumimoji="1" lang="ja-JP" altLang="en-US"/>
          </a:p>
        </p:txBody>
      </p:sp>
      <p:sp>
        <p:nvSpPr>
          <p:cNvPr id="6" name="Slide Number Placeholder 5"/>
          <p:cNvSpPr>
            <a:spLocks noGrp="1"/>
          </p:cNvSpPr>
          <p:nvPr>
            <p:ph type="sldNum" sz="quarter" idx="4"/>
          </p:nvPr>
        </p:nvSpPr>
        <p:spPr>
          <a:xfrm>
            <a:off x="0" y="-3151"/>
            <a:ext cx="542334" cy="561250"/>
          </a:xfrm>
          <a:prstGeom prst="rect">
            <a:avLst/>
          </a:prstGeom>
        </p:spPr>
        <p:txBody>
          <a:bodyPr vert="horz" lIns="91440" tIns="45720" rIns="91440" bIns="45720" rtlCol="0" anchor="ctr"/>
          <a:lstStyle>
            <a:lvl1pPr algn="r">
              <a:defRPr sz="2400">
                <a:solidFill>
                  <a:schemeClr val="tx1">
                    <a:tint val="75000"/>
                  </a:schemeClr>
                </a:solidFill>
              </a:defRPr>
            </a:lvl1pPr>
          </a:lstStyle>
          <a:p>
            <a:fld id="{AD811822-4739-4079-91F6-9F51ED4B0761}" type="slidenum">
              <a:rPr kumimoji="1" lang="ja-JP" altLang="en-US" smtClean="0"/>
              <a:pPr/>
              <a:t>‹#›</a:t>
            </a:fld>
            <a:endParaRPr kumimoji="1" lang="ja-JP" altLang="en-US"/>
          </a:p>
        </p:txBody>
      </p:sp>
    </p:spTree>
    <p:extLst>
      <p:ext uri="{BB962C8B-B14F-4D97-AF65-F5344CB8AC3E}">
        <p14:creationId xmlns:p14="http://schemas.microsoft.com/office/powerpoint/2010/main" val="353976231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defTabSz="1280160" rtl="0" eaLnBrk="1" latinLnBrk="0" hangingPunct="1">
        <a:lnSpc>
          <a:spcPct val="90000"/>
        </a:lnSpc>
        <a:spcBef>
          <a:spcPct val="0"/>
        </a:spcBef>
        <a:buNone/>
        <a:defRPr kumimoji="1" sz="6160" kern="1200">
          <a:solidFill>
            <a:schemeClr val="tx1"/>
          </a:solidFill>
          <a:latin typeface="+mj-lt"/>
          <a:ea typeface="+mj-ea"/>
          <a:cs typeface="+mj-cs"/>
        </a:defRPr>
      </a:lvl1pPr>
    </p:titleStyle>
    <p:bodyStyle>
      <a:lvl1pPr marL="320040" indent="-320040" algn="l" defTabSz="1280160" rtl="0" eaLnBrk="1" latinLnBrk="0" hangingPunct="1">
        <a:lnSpc>
          <a:spcPct val="90000"/>
        </a:lnSpc>
        <a:spcBef>
          <a:spcPts val="1400"/>
        </a:spcBef>
        <a:buFont typeface="Arial" panose="020B0604020202020204" pitchFamily="34" charset="0"/>
        <a:buChar char="•"/>
        <a:defRPr kumimoji="1" sz="3920" kern="1200">
          <a:solidFill>
            <a:schemeClr val="tx1"/>
          </a:solidFill>
          <a:latin typeface="+mn-lt"/>
          <a:ea typeface="+mn-ea"/>
          <a:cs typeface="+mn-cs"/>
        </a:defRPr>
      </a:lvl1pPr>
      <a:lvl2pPr marL="960120" indent="-320040" algn="l" defTabSz="1280160" rtl="0" eaLnBrk="1" latinLnBrk="0" hangingPunct="1">
        <a:lnSpc>
          <a:spcPct val="90000"/>
        </a:lnSpc>
        <a:spcBef>
          <a:spcPts val="700"/>
        </a:spcBef>
        <a:buFont typeface="Arial" panose="020B0604020202020204" pitchFamily="34" charset="0"/>
        <a:buChar char="•"/>
        <a:defRPr kumimoji="1" sz="3360" kern="1200">
          <a:solidFill>
            <a:schemeClr val="tx1"/>
          </a:solidFill>
          <a:latin typeface="+mn-lt"/>
          <a:ea typeface="+mn-ea"/>
          <a:cs typeface="+mn-cs"/>
        </a:defRPr>
      </a:lvl2pPr>
      <a:lvl3pPr marL="1600200" indent="-320040" algn="l" defTabSz="1280160" rtl="0" eaLnBrk="1" latinLnBrk="0" hangingPunct="1">
        <a:lnSpc>
          <a:spcPct val="90000"/>
        </a:lnSpc>
        <a:spcBef>
          <a:spcPts val="700"/>
        </a:spcBef>
        <a:buFont typeface="Arial" panose="020B0604020202020204" pitchFamily="34" charset="0"/>
        <a:buChar char="•"/>
        <a:defRPr kumimoji="1" sz="2800" kern="1200">
          <a:solidFill>
            <a:schemeClr val="tx1"/>
          </a:solidFill>
          <a:latin typeface="+mn-lt"/>
          <a:ea typeface="+mn-ea"/>
          <a:cs typeface="+mn-cs"/>
        </a:defRPr>
      </a:lvl3pPr>
      <a:lvl4pPr marL="2240280" indent="-320040" algn="l" defTabSz="1280160" rtl="0" eaLnBrk="1" latinLnBrk="0" hangingPunct="1">
        <a:lnSpc>
          <a:spcPct val="90000"/>
        </a:lnSpc>
        <a:spcBef>
          <a:spcPts val="700"/>
        </a:spcBef>
        <a:buFont typeface="Arial" panose="020B0604020202020204" pitchFamily="34" charset="0"/>
        <a:buChar char="•"/>
        <a:defRPr kumimoji="1" sz="2520" kern="1200">
          <a:solidFill>
            <a:schemeClr val="tx1"/>
          </a:solidFill>
          <a:latin typeface="+mn-lt"/>
          <a:ea typeface="+mn-ea"/>
          <a:cs typeface="+mn-cs"/>
        </a:defRPr>
      </a:lvl4pPr>
      <a:lvl5pPr marL="2880360" indent="-320040" algn="l" defTabSz="1280160" rtl="0" eaLnBrk="1" latinLnBrk="0" hangingPunct="1">
        <a:lnSpc>
          <a:spcPct val="90000"/>
        </a:lnSpc>
        <a:spcBef>
          <a:spcPts val="700"/>
        </a:spcBef>
        <a:buFont typeface="Arial" panose="020B0604020202020204" pitchFamily="34" charset="0"/>
        <a:buChar char="•"/>
        <a:defRPr kumimoji="1" sz="2520" kern="1200">
          <a:solidFill>
            <a:schemeClr val="tx1"/>
          </a:solidFill>
          <a:latin typeface="+mn-lt"/>
          <a:ea typeface="+mn-ea"/>
          <a:cs typeface="+mn-cs"/>
        </a:defRPr>
      </a:lvl5pPr>
      <a:lvl6pPr marL="3520440" indent="-320040" algn="l" defTabSz="1280160" rtl="0" eaLnBrk="1" latinLnBrk="0" hangingPunct="1">
        <a:lnSpc>
          <a:spcPct val="90000"/>
        </a:lnSpc>
        <a:spcBef>
          <a:spcPts val="700"/>
        </a:spcBef>
        <a:buFont typeface="Arial" panose="020B0604020202020204" pitchFamily="34" charset="0"/>
        <a:buChar char="•"/>
        <a:defRPr kumimoji="1" sz="2520" kern="1200">
          <a:solidFill>
            <a:schemeClr val="tx1"/>
          </a:solidFill>
          <a:latin typeface="+mn-lt"/>
          <a:ea typeface="+mn-ea"/>
          <a:cs typeface="+mn-cs"/>
        </a:defRPr>
      </a:lvl6pPr>
      <a:lvl7pPr marL="4160520" indent="-320040" algn="l" defTabSz="1280160" rtl="0" eaLnBrk="1" latinLnBrk="0" hangingPunct="1">
        <a:lnSpc>
          <a:spcPct val="90000"/>
        </a:lnSpc>
        <a:spcBef>
          <a:spcPts val="700"/>
        </a:spcBef>
        <a:buFont typeface="Arial" panose="020B0604020202020204" pitchFamily="34" charset="0"/>
        <a:buChar char="•"/>
        <a:defRPr kumimoji="1" sz="2520" kern="1200">
          <a:solidFill>
            <a:schemeClr val="tx1"/>
          </a:solidFill>
          <a:latin typeface="+mn-lt"/>
          <a:ea typeface="+mn-ea"/>
          <a:cs typeface="+mn-cs"/>
        </a:defRPr>
      </a:lvl7pPr>
      <a:lvl8pPr marL="4800600" indent="-320040" algn="l" defTabSz="1280160" rtl="0" eaLnBrk="1" latinLnBrk="0" hangingPunct="1">
        <a:lnSpc>
          <a:spcPct val="90000"/>
        </a:lnSpc>
        <a:spcBef>
          <a:spcPts val="700"/>
        </a:spcBef>
        <a:buFont typeface="Arial" panose="020B0604020202020204" pitchFamily="34" charset="0"/>
        <a:buChar char="•"/>
        <a:defRPr kumimoji="1" sz="2520" kern="1200">
          <a:solidFill>
            <a:schemeClr val="tx1"/>
          </a:solidFill>
          <a:latin typeface="+mn-lt"/>
          <a:ea typeface="+mn-ea"/>
          <a:cs typeface="+mn-cs"/>
        </a:defRPr>
      </a:lvl8pPr>
      <a:lvl9pPr marL="5440680" indent="-320040" algn="l" defTabSz="1280160" rtl="0" eaLnBrk="1" latinLnBrk="0" hangingPunct="1">
        <a:lnSpc>
          <a:spcPct val="90000"/>
        </a:lnSpc>
        <a:spcBef>
          <a:spcPts val="700"/>
        </a:spcBef>
        <a:buFont typeface="Arial" panose="020B0604020202020204" pitchFamily="34" charset="0"/>
        <a:buChar char="•"/>
        <a:defRPr kumimoji="1" sz="2520" kern="1200">
          <a:solidFill>
            <a:schemeClr val="tx1"/>
          </a:solidFill>
          <a:latin typeface="+mn-lt"/>
          <a:ea typeface="+mn-ea"/>
          <a:cs typeface="+mn-cs"/>
        </a:defRPr>
      </a:lvl9pPr>
    </p:bodyStyle>
    <p:otherStyle>
      <a:defPPr>
        <a:defRPr lang="en-US"/>
      </a:defPPr>
      <a:lvl1pPr marL="0" algn="l" defTabSz="1280160" rtl="0" eaLnBrk="1" latinLnBrk="0" hangingPunct="1">
        <a:defRPr kumimoji="1" sz="2520" kern="1200">
          <a:solidFill>
            <a:schemeClr val="tx1"/>
          </a:solidFill>
          <a:latin typeface="+mn-lt"/>
          <a:ea typeface="+mn-ea"/>
          <a:cs typeface="+mn-cs"/>
        </a:defRPr>
      </a:lvl1pPr>
      <a:lvl2pPr marL="640080" algn="l" defTabSz="1280160" rtl="0" eaLnBrk="1" latinLnBrk="0" hangingPunct="1">
        <a:defRPr kumimoji="1" sz="2520" kern="1200">
          <a:solidFill>
            <a:schemeClr val="tx1"/>
          </a:solidFill>
          <a:latin typeface="+mn-lt"/>
          <a:ea typeface="+mn-ea"/>
          <a:cs typeface="+mn-cs"/>
        </a:defRPr>
      </a:lvl2pPr>
      <a:lvl3pPr marL="1280160" algn="l" defTabSz="1280160" rtl="0" eaLnBrk="1" latinLnBrk="0" hangingPunct="1">
        <a:defRPr kumimoji="1" sz="2520" kern="1200">
          <a:solidFill>
            <a:schemeClr val="tx1"/>
          </a:solidFill>
          <a:latin typeface="+mn-lt"/>
          <a:ea typeface="+mn-ea"/>
          <a:cs typeface="+mn-cs"/>
        </a:defRPr>
      </a:lvl3pPr>
      <a:lvl4pPr marL="1920240" algn="l" defTabSz="1280160" rtl="0" eaLnBrk="1" latinLnBrk="0" hangingPunct="1">
        <a:defRPr kumimoji="1" sz="2520" kern="1200">
          <a:solidFill>
            <a:schemeClr val="tx1"/>
          </a:solidFill>
          <a:latin typeface="+mn-lt"/>
          <a:ea typeface="+mn-ea"/>
          <a:cs typeface="+mn-cs"/>
        </a:defRPr>
      </a:lvl4pPr>
      <a:lvl5pPr marL="2560320" algn="l" defTabSz="1280160" rtl="0" eaLnBrk="1" latinLnBrk="0" hangingPunct="1">
        <a:defRPr kumimoji="1" sz="2520" kern="1200">
          <a:solidFill>
            <a:schemeClr val="tx1"/>
          </a:solidFill>
          <a:latin typeface="+mn-lt"/>
          <a:ea typeface="+mn-ea"/>
          <a:cs typeface="+mn-cs"/>
        </a:defRPr>
      </a:lvl5pPr>
      <a:lvl6pPr marL="3200400" algn="l" defTabSz="1280160" rtl="0" eaLnBrk="1" latinLnBrk="0" hangingPunct="1">
        <a:defRPr kumimoji="1" sz="2520" kern="1200">
          <a:solidFill>
            <a:schemeClr val="tx1"/>
          </a:solidFill>
          <a:latin typeface="+mn-lt"/>
          <a:ea typeface="+mn-ea"/>
          <a:cs typeface="+mn-cs"/>
        </a:defRPr>
      </a:lvl6pPr>
      <a:lvl7pPr marL="3840480" algn="l" defTabSz="1280160" rtl="0" eaLnBrk="1" latinLnBrk="0" hangingPunct="1">
        <a:defRPr kumimoji="1" sz="2520" kern="1200">
          <a:solidFill>
            <a:schemeClr val="tx1"/>
          </a:solidFill>
          <a:latin typeface="+mn-lt"/>
          <a:ea typeface="+mn-ea"/>
          <a:cs typeface="+mn-cs"/>
        </a:defRPr>
      </a:lvl7pPr>
      <a:lvl8pPr marL="4480560" algn="l" defTabSz="1280160" rtl="0" eaLnBrk="1" latinLnBrk="0" hangingPunct="1">
        <a:defRPr kumimoji="1" sz="2520" kern="1200">
          <a:solidFill>
            <a:schemeClr val="tx1"/>
          </a:solidFill>
          <a:latin typeface="+mn-lt"/>
          <a:ea typeface="+mn-ea"/>
          <a:cs typeface="+mn-cs"/>
        </a:defRPr>
      </a:lvl8pPr>
      <a:lvl9pPr marL="5120640" algn="l" defTabSz="1280160" rtl="0" eaLnBrk="1" latinLnBrk="0" hangingPunct="1">
        <a:defRPr kumimoji="1" sz="252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18" Type="http://schemas.openxmlformats.org/officeDocument/2006/relationships/image" Target="../media/image16.gif"/><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17" Type="http://schemas.openxmlformats.org/officeDocument/2006/relationships/image" Target="../media/image15.png"/><Relationship Id="rId2" Type="http://schemas.openxmlformats.org/officeDocument/2006/relationships/notesSlide" Target="../notesSlides/notesSlide1.xml"/><Relationship Id="rId16" Type="http://schemas.openxmlformats.org/officeDocument/2006/relationships/image" Target="../media/image14.jpeg"/><Relationship Id="rId1" Type="http://schemas.openxmlformats.org/officeDocument/2006/relationships/slideLayout" Target="../slideLayouts/slideLayout7.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5" Type="http://schemas.openxmlformats.org/officeDocument/2006/relationships/image" Target="../media/image13.png"/><Relationship Id="rId10" Type="http://schemas.openxmlformats.org/officeDocument/2006/relationships/image" Target="../media/image8.png"/><Relationship Id="rId19" Type="http://schemas.openxmlformats.org/officeDocument/2006/relationships/image" Target="../media/image17.jpeg"/><Relationship Id="rId4" Type="http://schemas.openxmlformats.org/officeDocument/2006/relationships/image" Target="../media/image2.png"/><Relationship Id="rId9" Type="http://schemas.openxmlformats.org/officeDocument/2006/relationships/image" Target="../media/image7.png"/><Relationship Id="rId14" Type="http://schemas.openxmlformats.org/officeDocument/2006/relationships/image" Target="../media/image12.png"/></Relationships>
</file>

<file path=ppt/slides/_rels/slide2.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7.jpe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16.gif"/><Relationship Id="rId5" Type="http://schemas.openxmlformats.org/officeDocument/2006/relationships/image" Target="../media/image15.png"/><Relationship Id="rId4" Type="http://schemas.openxmlformats.org/officeDocument/2006/relationships/image" Target="../media/image14.jpeg"/></Relationships>
</file>

<file path=ppt/slides/_rels/slide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9" name="図 38">
            <a:extLst>
              <a:ext uri="{FF2B5EF4-FFF2-40B4-BE49-F238E27FC236}">
                <a16:creationId xmlns:a16="http://schemas.microsoft.com/office/drawing/2014/main" id="{7DC6CC94-9BDF-409E-9CD3-0F012A8E28FF}"/>
              </a:ext>
            </a:extLst>
          </p:cNvPr>
          <p:cNvPicPr>
            <a:picLocks noChangeAspect="1"/>
          </p:cNvPicPr>
          <p:nvPr/>
        </p:nvPicPr>
        <p:blipFill>
          <a:blip r:embed="rId3"/>
          <a:stretch>
            <a:fillRect/>
          </a:stretch>
        </p:blipFill>
        <p:spPr>
          <a:xfrm>
            <a:off x="8545416" y="2845546"/>
            <a:ext cx="4209479" cy="1934414"/>
          </a:xfrm>
          <a:prstGeom prst="rect">
            <a:avLst/>
          </a:prstGeom>
        </p:spPr>
      </p:pic>
      <p:sp>
        <p:nvSpPr>
          <p:cNvPr id="42" name="テキスト ボックス 41">
            <a:extLst>
              <a:ext uri="{FF2B5EF4-FFF2-40B4-BE49-F238E27FC236}">
                <a16:creationId xmlns:a16="http://schemas.microsoft.com/office/drawing/2014/main" id="{6B58A8E9-6F04-48E1-B671-603C55DA9669}"/>
              </a:ext>
            </a:extLst>
          </p:cNvPr>
          <p:cNvSpPr txBox="1"/>
          <p:nvPr/>
        </p:nvSpPr>
        <p:spPr>
          <a:xfrm>
            <a:off x="654943" y="690428"/>
            <a:ext cx="11494402" cy="707886"/>
          </a:xfrm>
          <a:prstGeom prst="rect">
            <a:avLst/>
          </a:prstGeom>
          <a:noFill/>
          <a:ln>
            <a:solidFill>
              <a:srgbClr val="002060"/>
            </a:solidFill>
          </a:ln>
        </p:spPr>
        <p:txBody>
          <a:bodyPr wrap="square">
            <a:spAutoFit/>
          </a:bodyPr>
          <a:lstStyle/>
          <a:p>
            <a:r>
              <a:rPr lang="ja-JP" altLang="en-US" sz="1400" b="1" dirty="0">
                <a:latin typeface="メイリオ" panose="020B0604030504040204" pitchFamily="50" charset="-128"/>
                <a:ea typeface="メイリオ" panose="020B0604030504040204" pitchFamily="50" charset="-128"/>
              </a:rPr>
              <a:t>所見文</a:t>
            </a:r>
            <a:endParaRPr lang="en-US" altLang="ja-JP" sz="1400" b="1" dirty="0">
              <a:latin typeface="メイリオ" panose="020B0604030504040204" pitchFamily="50" charset="-128"/>
              <a:ea typeface="メイリオ" panose="020B0604030504040204" pitchFamily="50" charset="-128"/>
            </a:endParaRPr>
          </a:p>
          <a:p>
            <a:r>
              <a:rPr lang="en-US" altLang="ja-JP" sz="1400" b="1" dirty="0">
                <a:latin typeface="メイリオ" panose="020B0604030504040204" pitchFamily="50" charset="-128"/>
                <a:ea typeface="メイリオ" panose="020B0604030504040204" pitchFamily="50" charset="-128"/>
              </a:rPr>
              <a:t>	</a:t>
            </a:r>
            <a:r>
              <a:rPr lang="en-US" altLang="ja-JP" sz="1200" dirty="0">
                <a:latin typeface="メイリオ" panose="020B0604030504040204" pitchFamily="50" charset="-128"/>
                <a:ea typeface="メイリオ" panose="020B0604030504040204" pitchFamily="50" charset="-128"/>
              </a:rPr>
              <a:t>{{OBSERVATIONS}}</a:t>
            </a:r>
          </a:p>
          <a:p>
            <a:endParaRPr lang="en-US" altLang="ja-JP" sz="1200" dirty="0">
              <a:latin typeface="メイリオ" panose="020B0604030504040204" pitchFamily="50" charset="-128"/>
              <a:ea typeface="メイリオ" panose="020B0604030504040204" pitchFamily="50" charset="-128"/>
            </a:endParaRPr>
          </a:p>
        </p:txBody>
      </p:sp>
      <p:sp>
        <p:nvSpPr>
          <p:cNvPr id="43" name="テキスト ボックス 42">
            <a:extLst>
              <a:ext uri="{FF2B5EF4-FFF2-40B4-BE49-F238E27FC236}">
                <a16:creationId xmlns:a16="http://schemas.microsoft.com/office/drawing/2014/main" id="{E23FBE1F-1B96-4235-ABE5-DC87006575B8}"/>
              </a:ext>
            </a:extLst>
          </p:cNvPr>
          <p:cNvSpPr txBox="1"/>
          <p:nvPr/>
        </p:nvSpPr>
        <p:spPr>
          <a:xfrm>
            <a:off x="645524" y="197405"/>
            <a:ext cx="4210336" cy="400110"/>
          </a:xfrm>
          <a:prstGeom prst="rect">
            <a:avLst/>
          </a:prstGeom>
          <a:noFill/>
        </p:spPr>
        <p:txBody>
          <a:bodyPr wrap="square" rtlCol="0">
            <a:spAutoFit/>
          </a:bodyPr>
          <a:lstStyle/>
          <a:p>
            <a:r>
              <a:rPr kumimoji="1" lang="ja-JP" altLang="en-US" sz="2000" b="1" dirty="0">
                <a:solidFill>
                  <a:srgbClr val="C00000"/>
                </a:solidFill>
                <a:latin typeface="メイリオ" panose="020B0604030504040204" pitchFamily="50" charset="-128"/>
                <a:ea typeface="メイリオ" panose="020B0604030504040204" pitchFamily="50" charset="-128"/>
              </a:rPr>
              <a:t>筋質（筋肉の質）</a:t>
            </a:r>
            <a:r>
              <a:rPr kumimoji="1" lang="ja-JP" altLang="en-US" b="1" dirty="0">
                <a:latin typeface="メイリオ" panose="020B0604030504040204" pitchFamily="50" charset="-128"/>
                <a:ea typeface="メイリオ" panose="020B0604030504040204" pitchFamily="50" charset="-128"/>
              </a:rPr>
              <a:t>の測定結果シート</a:t>
            </a:r>
          </a:p>
        </p:txBody>
      </p:sp>
      <p:sp>
        <p:nvSpPr>
          <p:cNvPr id="45" name="テキスト ボックス 44">
            <a:extLst>
              <a:ext uri="{FF2B5EF4-FFF2-40B4-BE49-F238E27FC236}">
                <a16:creationId xmlns:a16="http://schemas.microsoft.com/office/drawing/2014/main" id="{30C1F6BC-DFC6-4383-A644-7703B82FB81D}"/>
              </a:ext>
            </a:extLst>
          </p:cNvPr>
          <p:cNvSpPr txBox="1"/>
          <p:nvPr/>
        </p:nvSpPr>
        <p:spPr>
          <a:xfrm>
            <a:off x="645524" y="1527280"/>
            <a:ext cx="11545078" cy="1015663"/>
          </a:xfrm>
          <a:prstGeom prst="rect">
            <a:avLst/>
          </a:prstGeom>
          <a:noFill/>
          <a:ln>
            <a:solidFill>
              <a:srgbClr val="002060"/>
            </a:solidFill>
          </a:ln>
        </p:spPr>
        <p:txBody>
          <a:bodyPr wrap="square">
            <a:spAutoFit/>
          </a:bodyPr>
          <a:lstStyle/>
          <a:p>
            <a:r>
              <a:rPr lang="ja-JP" altLang="en-US" sz="1400" b="1" dirty="0">
                <a:latin typeface="メイリオ" panose="020B0604030504040204" pitchFamily="50" charset="-128"/>
                <a:ea typeface="メイリオ" panose="020B0604030504040204" pitchFamily="50" charset="-128"/>
              </a:rPr>
              <a:t>測定結果シートの見方</a:t>
            </a:r>
            <a:endParaRPr lang="en-US" altLang="ja-JP" sz="1400" b="1" dirty="0">
              <a:latin typeface="メイリオ" panose="020B0604030504040204" pitchFamily="50" charset="-128"/>
              <a:ea typeface="メイリオ" panose="020B0604030504040204" pitchFamily="50" charset="-128"/>
            </a:endParaRPr>
          </a:p>
          <a:p>
            <a:pPr marL="596506" lvl="1" indent="-139306">
              <a:buFont typeface="Arial" panose="020B0604020202020204" pitchFamily="34" charset="0"/>
              <a:buChar char="•"/>
            </a:pPr>
            <a:r>
              <a:rPr lang="ja-JP" altLang="en-US" sz="1200" dirty="0">
                <a:latin typeface="メイリオ" panose="020B0604030504040204" pitchFamily="50" charset="-128"/>
                <a:ea typeface="メイリオ" panose="020B0604030504040204" pitchFamily="50" charset="-128"/>
              </a:rPr>
              <a:t>あなたの各筋肉の</a:t>
            </a:r>
            <a:r>
              <a:rPr lang="ja-JP" altLang="en-US" sz="1200" b="1" dirty="0">
                <a:latin typeface="メイリオ" panose="020B0604030504040204" pitchFamily="50" charset="-128"/>
                <a:ea typeface="メイリオ" panose="020B0604030504040204" pitchFamily="50" charset="-128"/>
              </a:rPr>
              <a:t>筋質スコア（健康状態の数値）</a:t>
            </a:r>
            <a:r>
              <a:rPr lang="ja-JP" altLang="en-US" sz="1200" dirty="0">
                <a:latin typeface="メイリオ" panose="020B0604030504040204" pitchFamily="50" charset="-128"/>
                <a:ea typeface="メイリオ" panose="020B0604030504040204" pitchFamily="50" charset="-128"/>
              </a:rPr>
              <a:t>を「★印」で示しています。</a:t>
            </a:r>
            <a:endParaRPr lang="en-US" altLang="ja-JP" sz="1200" dirty="0">
              <a:latin typeface="メイリオ" panose="020B0604030504040204" pitchFamily="50" charset="-128"/>
              <a:ea typeface="メイリオ" panose="020B0604030504040204" pitchFamily="50" charset="-128"/>
            </a:endParaRPr>
          </a:p>
          <a:p>
            <a:pPr marL="1053718" lvl="2" indent="-139306">
              <a:buFont typeface="Arial" panose="020B0604020202020204" pitchFamily="34" charset="0"/>
              <a:buChar char="•"/>
            </a:pPr>
            <a:r>
              <a:rPr lang="ja-JP" altLang="en-US" sz="1100" dirty="0">
                <a:latin typeface="メイリオ" panose="020B0604030504040204" pitchFamily="50" charset="-128"/>
                <a:ea typeface="メイリオ" panose="020B0604030504040204" pitchFamily="50" charset="-128"/>
              </a:rPr>
              <a:t>筋肉毎に、同性・同年齢の「普通の範囲」を色のついた帯で示しています。★印がその帯より左に出ている場合は、同年代と比べて筋質が低めです。</a:t>
            </a:r>
            <a:endParaRPr lang="en-US" altLang="ja-JP" sz="1100" dirty="0">
              <a:latin typeface="メイリオ" panose="020B0604030504040204" pitchFamily="50" charset="-128"/>
              <a:ea typeface="メイリオ" panose="020B0604030504040204" pitchFamily="50" charset="-128"/>
            </a:endParaRPr>
          </a:p>
          <a:p>
            <a:pPr marL="596506" lvl="1" indent="-139306">
              <a:buFont typeface="Arial" panose="020B0604020202020204" pitchFamily="34" charset="0"/>
              <a:buChar char="•"/>
            </a:pPr>
            <a:r>
              <a:rPr lang="ja-JP" altLang="en-US" sz="1200" b="1" dirty="0">
                <a:latin typeface="メイリオ" panose="020B0604030504040204" pitchFamily="50" charset="-128"/>
                <a:ea typeface="メイリオ" panose="020B0604030504040204" pitchFamily="50" charset="-128"/>
              </a:rPr>
              <a:t>筋質スコア</a:t>
            </a:r>
            <a:r>
              <a:rPr lang="ja-JP" altLang="en-US" sz="1200" dirty="0">
                <a:latin typeface="メイリオ" panose="020B0604030504040204" pitchFamily="50" charset="-128"/>
                <a:ea typeface="メイリオ" panose="020B0604030504040204" pitchFamily="50" charset="-128"/>
              </a:rPr>
              <a:t>とは、</a:t>
            </a:r>
            <a:r>
              <a:rPr lang="en-US" altLang="ja-JP" sz="1200" dirty="0">
                <a:latin typeface="メイリオ" panose="020B0604030504040204" pitchFamily="50" charset="-128"/>
                <a:ea typeface="メイリオ" panose="020B0604030504040204" pitchFamily="50" charset="-128"/>
              </a:rPr>
              <a:t>CT</a:t>
            </a:r>
            <a:r>
              <a:rPr lang="ja-JP" altLang="en-US" sz="1200" dirty="0">
                <a:latin typeface="メイリオ" panose="020B0604030504040204" pitchFamily="50" charset="-128"/>
                <a:ea typeface="メイリオ" panose="020B0604030504040204" pitchFamily="50" charset="-128"/>
              </a:rPr>
              <a:t>画像から計算した数字で、筋肉の中に脂肪がどれくらい混ざっているかを表しています。</a:t>
            </a:r>
            <a:endParaRPr lang="en-US" altLang="ja-JP" sz="1200" dirty="0">
              <a:latin typeface="メイリオ" panose="020B0604030504040204" pitchFamily="50" charset="-128"/>
              <a:ea typeface="メイリオ" panose="020B0604030504040204" pitchFamily="50" charset="-128"/>
            </a:endParaRPr>
          </a:p>
          <a:p>
            <a:pPr marL="1053718" lvl="2" indent="-139306">
              <a:buFont typeface="Arial" panose="020B0604020202020204" pitchFamily="34" charset="0"/>
              <a:buChar char="•"/>
            </a:pPr>
            <a:r>
              <a:rPr lang="ja-JP" altLang="en-US" sz="1100" dirty="0">
                <a:latin typeface="メイリオ" panose="020B0604030504040204" pitchFamily="50" charset="-128"/>
                <a:ea typeface="メイリオ" panose="020B0604030504040204" pitchFamily="50" charset="-128"/>
              </a:rPr>
              <a:t>数値が低いほど、筋肉に脂肪が多く入り込み（いわゆる「霜降り状態」）、筋力が弱くなり、転倒や骨折などのリスクが高くなる可能性があります。</a:t>
            </a:r>
            <a:endParaRPr lang="en-US" altLang="ja-JP" sz="1100" dirty="0">
              <a:latin typeface="メイリオ" panose="020B0604030504040204" pitchFamily="50" charset="-128"/>
              <a:ea typeface="メイリオ" panose="020B0604030504040204" pitchFamily="50" charset="-128"/>
            </a:endParaRPr>
          </a:p>
        </p:txBody>
      </p:sp>
      <p:sp>
        <p:nvSpPr>
          <p:cNvPr id="47" name="テキスト ボックス 46">
            <a:extLst>
              <a:ext uri="{FF2B5EF4-FFF2-40B4-BE49-F238E27FC236}">
                <a16:creationId xmlns:a16="http://schemas.microsoft.com/office/drawing/2014/main" id="{45FBF326-3E42-40C4-8E2A-483A9F689195}"/>
              </a:ext>
            </a:extLst>
          </p:cNvPr>
          <p:cNvSpPr txBox="1"/>
          <p:nvPr/>
        </p:nvSpPr>
        <p:spPr>
          <a:xfrm>
            <a:off x="5884194" y="5584183"/>
            <a:ext cx="973423" cy="276999"/>
          </a:xfrm>
          <a:prstGeom prst="rect">
            <a:avLst/>
          </a:prstGeom>
          <a:noFill/>
        </p:spPr>
        <p:txBody>
          <a:bodyPr wrap="square" rtlCol="0">
            <a:spAutoFit/>
          </a:bodyPr>
          <a:lstStyle/>
          <a:p>
            <a:pPr algn="ctr"/>
            <a:r>
              <a:rPr kumimoji="1" lang="ja-JP" altLang="en-US" sz="1200" b="1" dirty="0">
                <a:latin typeface="メイリオ" panose="020B0604030504040204" pitchFamily="50" charset="-128"/>
                <a:ea typeface="メイリオ" panose="020B0604030504040204" pitchFamily="50" charset="-128"/>
              </a:rPr>
              <a:t>深部の筋肉</a:t>
            </a:r>
          </a:p>
        </p:txBody>
      </p:sp>
      <p:sp>
        <p:nvSpPr>
          <p:cNvPr id="48" name="テキスト ボックス 47">
            <a:extLst>
              <a:ext uri="{FF2B5EF4-FFF2-40B4-BE49-F238E27FC236}">
                <a16:creationId xmlns:a16="http://schemas.microsoft.com/office/drawing/2014/main" id="{3D2032BD-8774-416E-AFEE-827E56F888CD}"/>
              </a:ext>
            </a:extLst>
          </p:cNvPr>
          <p:cNvSpPr txBox="1"/>
          <p:nvPr/>
        </p:nvSpPr>
        <p:spPr>
          <a:xfrm>
            <a:off x="6844180" y="4047016"/>
            <a:ext cx="974690" cy="276999"/>
          </a:xfrm>
          <a:prstGeom prst="rect">
            <a:avLst/>
          </a:prstGeom>
          <a:noFill/>
        </p:spPr>
        <p:txBody>
          <a:bodyPr wrap="square" rtlCol="0">
            <a:spAutoFit/>
          </a:bodyPr>
          <a:lstStyle/>
          <a:p>
            <a:pPr algn="ctr"/>
            <a:r>
              <a:rPr lang="ja-JP" altLang="en-US" sz="1200" b="1" dirty="0">
                <a:latin typeface="メイリオ" panose="020B0604030504040204" pitchFamily="50" charset="-128"/>
                <a:ea typeface="メイリオ" panose="020B0604030504040204" pitchFamily="50" charset="-128"/>
              </a:rPr>
              <a:t>後面の筋肉</a:t>
            </a:r>
            <a:endParaRPr kumimoji="1" lang="ja-JP" altLang="en-US" sz="1200" b="1" dirty="0">
              <a:latin typeface="メイリオ" panose="020B0604030504040204" pitchFamily="50" charset="-128"/>
              <a:ea typeface="メイリオ" panose="020B0604030504040204" pitchFamily="50" charset="-128"/>
            </a:endParaRPr>
          </a:p>
        </p:txBody>
      </p:sp>
      <p:sp>
        <p:nvSpPr>
          <p:cNvPr id="49" name="テキスト ボックス 48">
            <a:extLst>
              <a:ext uri="{FF2B5EF4-FFF2-40B4-BE49-F238E27FC236}">
                <a16:creationId xmlns:a16="http://schemas.microsoft.com/office/drawing/2014/main" id="{56C6CEDB-01BD-49B0-A007-78947852A564}"/>
              </a:ext>
            </a:extLst>
          </p:cNvPr>
          <p:cNvSpPr txBox="1"/>
          <p:nvPr/>
        </p:nvSpPr>
        <p:spPr>
          <a:xfrm>
            <a:off x="4949044" y="4047017"/>
            <a:ext cx="972072" cy="276999"/>
          </a:xfrm>
          <a:prstGeom prst="rect">
            <a:avLst/>
          </a:prstGeom>
          <a:noFill/>
        </p:spPr>
        <p:txBody>
          <a:bodyPr wrap="square" rtlCol="0">
            <a:spAutoFit/>
          </a:bodyPr>
          <a:lstStyle/>
          <a:p>
            <a:pPr algn="ctr"/>
            <a:r>
              <a:rPr lang="ja-JP" altLang="en-US" sz="1200" b="1" dirty="0">
                <a:latin typeface="メイリオ" panose="020B0604030504040204" pitchFamily="50" charset="-128"/>
                <a:ea typeface="メイリオ" panose="020B0604030504040204" pitchFamily="50" charset="-128"/>
              </a:rPr>
              <a:t>前面の筋肉</a:t>
            </a:r>
            <a:endParaRPr kumimoji="1" lang="ja-JP" altLang="en-US" sz="1200" b="1" dirty="0">
              <a:latin typeface="メイリオ" panose="020B0604030504040204" pitchFamily="50" charset="-128"/>
              <a:ea typeface="メイリオ" panose="020B0604030504040204" pitchFamily="50" charset="-128"/>
            </a:endParaRPr>
          </a:p>
        </p:txBody>
      </p:sp>
      <p:sp>
        <p:nvSpPr>
          <p:cNvPr id="50" name="楕円 49">
            <a:extLst>
              <a:ext uri="{FF2B5EF4-FFF2-40B4-BE49-F238E27FC236}">
                <a16:creationId xmlns:a16="http://schemas.microsoft.com/office/drawing/2014/main" id="{DAD5D763-463A-4A2C-BFD8-78B83F9A7EA0}"/>
              </a:ext>
            </a:extLst>
          </p:cNvPr>
          <p:cNvSpPr/>
          <p:nvPr/>
        </p:nvSpPr>
        <p:spPr>
          <a:xfrm>
            <a:off x="5448378" y="5066391"/>
            <a:ext cx="278741" cy="423579"/>
          </a:xfrm>
          <a:prstGeom prst="ellipse">
            <a:avLst/>
          </a:prstGeom>
          <a:noFill/>
          <a:ln w="9525">
            <a:solidFill>
              <a:srgbClr val="00206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51" name="矢印: 上 50">
            <a:extLst>
              <a:ext uri="{FF2B5EF4-FFF2-40B4-BE49-F238E27FC236}">
                <a16:creationId xmlns:a16="http://schemas.microsoft.com/office/drawing/2014/main" id="{3A703B42-0A66-4E76-A84F-9E5A88F42BA2}"/>
              </a:ext>
            </a:extLst>
          </p:cNvPr>
          <p:cNvSpPr/>
          <p:nvPr/>
        </p:nvSpPr>
        <p:spPr>
          <a:xfrm rot="18006218" flipH="1">
            <a:off x="4546789" y="3859236"/>
            <a:ext cx="173687" cy="978618"/>
          </a:xfrm>
          <a:prstGeom prst="upArrow">
            <a:avLst>
              <a:gd name="adj1" fmla="val 37275"/>
              <a:gd name="adj2" fmla="val 94537"/>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52" name="矢印: 上 51">
            <a:extLst>
              <a:ext uri="{FF2B5EF4-FFF2-40B4-BE49-F238E27FC236}">
                <a16:creationId xmlns:a16="http://schemas.microsoft.com/office/drawing/2014/main" id="{A2B87521-D875-4DB6-BAC0-1FA6F509025C}"/>
              </a:ext>
            </a:extLst>
          </p:cNvPr>
          <p:cNvSpPr/>
          <p:nvPr/>
        </p:nvSpPr>
        <p:spPr>
          <a:xfrm rot="14367962" flipH="1">
            <a:off x="4572259" y="5635691"/>
            <a:ext cx="189811" cy="1027343"/>
          </a:xfrm>
          <a:prstGeom prst="upArrow">
            <a:avLst>
              <a:gd name="adj1" fmla="val 31066"/>
              <a:gd name="adj2" fmla="val 83488"/>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53" name="矢印: 上 52">
            <a:extLst>
              <a:ext uri="{FF2B5EF4-FFF2-40B4-BE49-F238E27FC236}">
                <a16:creationId xmlns:a16="http://schemas.microsoft.com/office/drawing/2014/main" id="{4CFCD161-3D2F-40A6-9091-BBC1CB5416E1}"/>
              </a:ext>
            </a:extLst>
          </p:cNvPr>
          <p:cNvSpPr/>
          <p:nvPr/>
        </p:nvSpPr>
        <p:spPr>
          <a:xfrm rot="13793996" flipH="1">
            <a:off x="4587991" y="6492373"/>
            <a:ext cx="236494" cy="1157419"/>
          </a:xfrm>
          <a:prstGeom prst="upArrow">
            <a:avLst>
              <a:gd name="adj1" fmla="val 28572"/>
              <a:gd name="adj2" fmla="val 91392"/>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55" name="矢印: 上 54">
            <a:extLst>
              <a:ext uri="{FF2B5EF4-FFF2-40B4-BE49-F238E27FC236}">
                <a16:creationId xmlns:a16="http://schemas.microsoft.com/office/drawing/2014/main" id="{2AACCFE0-B00E-496A-A77F-B48A48D7B02E}"/>
              </a:ext>
            </a:extLst>
          </p:cNvPr>
          <p:cNvSpPr/>
          <p:nvPr/>
        </p:nvSpPr>
        <p:spPr>
          <a:xfrm rot="15931656" flipH="1">
            <a:off x="4731573" y="4726020"/>
            <a:ext cx="180570" cy="1180113"/>
          </a:xfrm>
          <a:prstGeom prst="upArrow">
            <a:avLst>
              <a:gd name="adj1" fmla="val 37996"/>
              <a:gd name="adj2" fmla="val 80009"/>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56" name="矢印: 上 55">
            <a:extLst>
              <a:ext uri="{FF2B5EF4-FFF2-40B4-BE49-F238E27FC236}">
                <a16:creationId xmlns:a16="http://schemas.microsoft.com/office/drawing/2014/main" id="{28E6489F-3293-4DAF-BB53-A59EF0219A0D}"/>
              </a:ext>
            </a:extLst>
          </p:cNvPr>
          <p:cNvSpPr/>
          <p:nvPr/>
        </p:nvSpPr>
        <p:spPr>
          <a:xfrm rot="3496225">
            <a:off x="8005060" y="3805047"/>
            <a:ext cx="205315" cy="1101344"/>
          </a:xfrm>
          <a:prstGeom prst="upArrow">
            <a:avLst>
              <a:gd name="adj1" fmla="val 32758"/>
              <a:gd name="adj2" fmla="val 96096"/>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57" name="矢印: 上 56">
            <a:extLst>
              <a:ext uri="{FF2B5EF4-FFF2-40B4-BE49-F238E27FC236}">
                <a16:creationId xmlns:a16="http://schemas.microsoft.com/office/drawing/2014/main" id="{809A1C8F-1CDB-42D7-8562-38E967FB4874}"/>
              </a:ext>
            </a:extLst>
          </p:cNvPr>
          <p:cNvSpPr/>
          <p:nvPr/>
        </p:nvSpPr>
        <p:spPr>
          <a:xfrm rot="5915836">
            <a:off x="7996432" y="4918652"/>
            <a:ext cx="216315" cy="1030208"/>
          </a:xfrm>
          <a:prstGeom prst="upArrow">
            <a:avLst>
              <a:gd name="adj1" fmla="val 31681"/>
              <a:gd name="adj2" fmla="val 101903"/>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solidFill>
                <a:schemeClr val="tx1"/>
              </a:solidFill>
            </a:endParaRPr>
          </a:p>
        </p:txBody>
      </p:sp>
      <p:sp>
        <p:nvSpPr>
          <p:cNvPr id="58" name="矢印: 上 57">
            <a:extLst>
              <a:ext uri="{FF2B5EF4-FFF2-40B4-BE49-F238E27FC236}">
                <a16:creationId xmlns:a16="http://schemas.microsoft.com/office/drawing/2014/main" id="{0042D3E8-791F-4C2D-B0A1-5C9474BF7ADF}"/>
              </a:ext>
            </a:extLst>
          </p:cNvPr>
          <p:cNvSpPr/>
          <p:nvPr/>
        </p:nvSpPr>
        <p:spPr>
          <a:xfrm rot="7671784">
            <a:off x="8007058" y="6427374"/>
            <a:ext cx="174184" cy="1286081"/>
          </a:xfrm>
          <a:prstGeom prst="upArrow">
            <a:avLst>
              <a:gd name="adj1" fmla="val 38500"/>
              <a:gd name="adj2" fmla="val 101834"/>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solidFill>
                <a:schemeClr val="tx1"/>
              </a:solidFill>
            </a:endParaRPr>
          </a:p>
        </p:txBody>
      </p:sp>
      <p:sp>
        <p:nvSpPr>
          <p:cNvPr id="59" name="矢印: 上 58">
            <a:extLst>
              <a:ext uri="{FF2B5EF4-FFF2-40B4-BE49-F238E27FC236}">
                <a16:creationId xmlns:a16="http://schemas.microsoft.com/office/drawing/2014/main" id="{D31160A7-32C5-4E43-8C4B-7A3D4B20B5E8}"/>
              </a:ext>
            </a:extLst>
          </p:cNvPr>
          <p:cNvSpPr/>
          <p:nvPr/>
        </p:nvSpPr>
        <p:spPr>
          <a:xfrm rot="6540629">
            <a:off x="8031413" y="5725794"/>
            <a:ext cx="202627" cy="1086912"/>
          </a:xfrm>
          <a:prstGeom prst="upArrow">
            <a:avLst>
              <a:gd name="adj1" fmla="val 32666"/>
              <a:gd name="adj2" fmla="val 104576"/>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solidFill>
                <a:schemeClr val="tx1"/>
              </a:solidFill>
            </a:endParaRPr>
          </a:p>
        </p:txBody>
      </p:sp>
      <p:pic>
        <p:nvPicPr>
          <p:cNvPr id="62" name="図 61">
            <a:extLst>
              <a:ext uri="{FF2B5EF4-FFF2-40B4-BE49-F238E27FC236}">
                <a16:creationId xmlns:a16="http://schemas.microsoft.com/office/drawing/2014/main" id="{11F5798E-7F36-4F10-8353-4B6782FD729D}"/>
              </a:ext>
            </a:extLst>
          </p:cNvPr>
          <p:cNvPicPr>
            <a:picLocks noChangeAspect="1"/>
          </p:cNvPicPr>
          <p:nvPr/>
        </p:nvPicPr>
        <p:blipFill rotWithShape="1">
          <a:blip r:embed="rId4">
            <a:clrChange>
              <a:clrFrom>
                <a:srgbClr val="FFFFFF"/>
              </a:clrFrom>
              <a:clrTo>
                <a:srgbClr val="FFFFFF">
                  <a:alpha val="0"/>
                </a:srgbClr>
              </a:clrTo>
            </a:clrChange>
            <a:alphaModFix amt="66000"/>
          </a:blip>
          <a:srcRect t="19449" b="60505"/>
          <a:stretch/>
        </p:blipFill>
        <p:spPr>
          <a:xfrm>
            <a:off x="5880512" y="5852914"/>
            <a:ext cx="915410" cy="544365"/>
          </a:xfrm>
          <a:prstGeom prst="rect">
            <a:avLst/>
          </a:prstGeom>
        </p:spPr>
      </p:pic>
      <p:sp>
        <p:nvSpPr>
          <p:cNvPr id="63" name="テキスト ボックス 62">
            <a:extLst>
              <a:ext uri="{FF2B5EF4-FFF2-40B4-BE49-F238E27FC236}">
                <a16:creationId xmlns:a16="http://schemas.microsoft.com/office/drawing/2014/main" id="{70557EF8-D01E-4E88-AD0E-9267E7A201C3}"/>
              </a:ext>
            </a:extLst>
          </p:cNvPr>
          <p:cNvSpPr txBox="1"/>
          <p:nvPr/>
        </p:nvSpPr>
        <p:spPr>
          <a:xfrm>
            <a:off x="816623" y="8930917"/>
            <a:ext cx="8816896" cy="707886"/>
          </a:xfrm>
          <a:prstGeom prst="rect">
            <a:avLst/>
          </a:prstGeom>
          <a:noFill/>
          <a:ln>
            <a:noFill/>
          </a:ln>
        </p:spPr>
        <p:txBody>
          <a:bodyPr wrap="square">
            <a:spAutoFit/>
          </a:bodyPr>
          <a:lstStyle/>
          <a:p>
            <a:r>
              <a:rPr lang="ja-JP" altLang="en-US" sz="1200" dirty="0">
                <a:latin typeface="メイリオ" panose="020B0604030504040204" pitchFamily="50" charset="-128"/>
                <a:ea typeface="メイリオ" panose="020B0604030504040204" pitchFamily="50" charset="-128"/>
              </a:rPr>
              <a:t>各筋肉の転倒や骨折のリスクとの関係を、</a:t>
            </a:r>
            <a:r>
              <a:rPr lang="ja-JP" altLang="en-US" sz="1600" dirty="0">
                <a:latin typeface="メイリオ" panose="020B0604030504040204" pitchFamily="50" charset="-128"/>
                <a:ea typeface="メイリオ" panose="020B0604030504040204" pitchFamily="50" charset="-128"/>
              </a:rPr>
              <a:t>◎</a:t>
            </a:r>
            <a:r>
              <a:rPr lang="ja-JP" altLang="en-US" sz="1200" dirty="0">
                <a:latin typeface="メイリオ" panose="020B0604030504040204" pitchFamily="50" charset="-128"/>
                <a:ea typeface="メイリオ" panose="020B0604030504040204" pitchFamily="50" charset="-128"/>
              </a:rPr>
              <a:t>：強く関係あり　○：関係あり　△：間接的に関係あり、として示しています。このリスクは独自調査によるもので参考程度の利用にとどめてください。なお、膝</a:t>
            </a:r>
            <a:r>
              <a:rPr lang="en-US" altLang="ja-JP" sz="1200" dirty="0">
                <a:latin typeface="メイリオ" panose="020B0604030504040204" pitchFamily="50" charset="-128"/>
                <a:ea typeface="メイリオ" panose="020B0604030504040204" pitchFamily="50" charset="-128"/>
              </a:rPr>
              <a:t>OA</a:t>
            </a:r>
            <a:r>
              <a:rPr lang="ja-JP" altLang="en-US" sz="1200" dirty="0">
                <a:latin typeface="メイリオ" panose="020B0604030504040204" pitchFamily="50" charset="-128"/>
                <a:ea typeface="メイリオ" panose="020B0604030504040204" pitchFamily="50" charset="-128"/>
              </a:rPr>
              <a:t>は「変形性ひざ関節症」（膝の軟骨がすり減って痛みや変形が出てくる病気で、筋質の低下が発症や進行に関連すると言われています）のことです。</a:t>
            </a:r>
          </a:p>
        </p:txBody>
      </p:sp>
      <p:pic>
        <p:nvPicPr>
          <p:cNvPr id="64" name="図 63">
            <a:extLst>
              <a:ext uri="{FF2B5EF4-FFF2-40B4-BE49-F238E27FC236}">
                <a16:creationId xmlns:a16="http://schemas.microsoft.com/office/drawing/2014/main" id="{0905FF9B-14A8-4DEB-9AE3-7B93656BBBB4}"/>
              </a:ext>
            </a:extLst>
          </p:cNvPr>
          <p:cNvPicPr>
            <a:picLocks noChangeAspect="1"/>
          </p:cNvPicPr>
          <p:nvPr/>
        </p:nvPicPr>
        <p:blipFill>
          <a:blip r:embed="rId5"/>
          <a:stretch>
            <a:fillRect/>
          </a:stretch>
        </p:blipFill>
        <p:spPr>
          <a:xfrm>
            <a:off x="21808" y="2821605"/>
            <a:ext cx="4206618" cy="1908497"/>
          </a:xfrm>
          <a:prstGeom prst="rect">
            <a:avLst/>
          </a:prstGeom>
        </p:spPr>
      </p:pic>
      <p:pic>
        <p:nvPicPr>
          <p:cNvPr id="65" name="図 64">
            <a:extLst>
              <a:ext uri="{FF2B5EF4-FFF2-40B4-BE49-F238E27FC236}">
                <a16:creationId xmlns:a16="http://schemas.microsoft.com/office/drawing/2014/main" id="{DE659DB0-19B2-4DAF-A61D-DBC74519A516}"/>
              </a:ext>
            </a:extLst>
          </p:cNvPr>
          <p:cNvPicPr>
            <a:picLocks noChangeAspect="1"/>
          </p:cNvPicPr>
          <p:nvPr/>
        </p:nvPicPr>
        <p:blipFill>
          <a:blip r:embed="rId6"/>
          <a:stretch>
            <a:fillRect/>
          </a:stretch>
        </p:blipFill>
        <p:spPr>
          <a:xfrm>
            <a:off x="11512" y="4699638"/>
            <a:ext cx="4235543" cy="1347369"/>
          </a:xfrm>
          <a:prstGeom prst="rect">
            <a:avLst/>
          </a:prstGeom>
        </p:spPr>
      </p:pic>
      <p:pic>
        <p:nvPicPr>
          <p:cNvPr id="66" name="図 65">
            <a:extLst>
              <a:ext uri="{FF2B5EF4-FFF2-40B4-BE49-F238E27FC236}">
                <a16:creationId xmlns:a16="http://schemas.microsoft.com/office/drawing/2014/main" id="{15477B54-EE7C-43E4-A997-010C75B23A68}"/>
              </a:ext>
            </a:extLst>
          </p:cNvPr>
          <p:cNvPicPr>
            <a:picLocks noChangeAspect="1"/>
          </p:cNvPicPr>
          <p:nvPr/>
        </p:nvPicPr>
        <p:blipFill>
          <a:blip r:embed="rId7"/>
          <a:stretch>
            <a:fillRect/>
          </a:stretch>
        </p:blipFill>
        <p:spPr>
          <a:xfrm>
            <a:off x="-19321" y="6077549"/>
            <a:ext cx="4267589" cy="1207933"/>
          </a:xfrm>
          <a:prstGeom prst="rect">
            <a:avLst/>
          </a:prstGeom>
        </p:spPr>
      </p:pic>
      <p:pic>
        <p:nvPicPr>
          <p:cNvPr id="67" name="図 66">
            <a:extLst>
              <a:ext uri="{FF2B5EF4-FFF2-40B4-BE49-F238E27FC236}">
                <a16:creationId xmlns:a16="http://schemas.microsoft.com/office/drawing/2014/main" id="{1C6AF51D-09BB-4BA7-BFD4-794D7BEA5AD5}"/>
              </a:ext>
            </a:extLst>
          </p:cNvPr>
          <p:cNvPicPr>
            <a:picLocks noChangeAspect="1"/>
          </p:cNvPicPr>
          <p:nvPr/>
        </p:nvPicPr>
        <p:blipFill>
          <a:blip r:embed="rId8"/>
          <a:stretch>
            <a:fillRect/>
          </a:stretch>
        </p:blipFill>
        <p:spPr>
          <a:xfrm>
            <a:off x="-61460" y="7278475"/>
            <a:ext cx="4419957" cy="1242693"/>
          </a:xfrm>
          <a:prstGeom prst="rect">
            <a:avLst/>
          </a:prstGeom>
        </p:spPr>
      </p:pic>
      <p:pic>
        <p:nvPicPr>
          <p:cNvPr id="68" name="図 67">
            <a:extLst>
              <a:ext uri="{FF2B5EF4-FFF2-40B4-BE49-F238E27FC236}">
                <a16:creationId xmlns:a16="http://schemas.microsoft.com/office/drawing/2014/main" id="{30AD5E48-AE91-4FA3-BC50-027C4A960AEC}"/>
              </a:ext>
            </a:extLst>
          </p:cNvPr>
          <p:cNvPicPr>
            <a:picLocks noChangeAspect="1"/>
          </p:cNvPicPr>
          <p:nvPr/>
        </p:nvPicPr>
        <p:blipFill>
          <a:blip r:embed="rId9"/>
          <a:stretch>
            <a:fillRect/>
          </a:stretch>
        </p:blipFill>
        <p:spPr>
          <a:xfrm>
            <a:off x="4237518" y="2672184"/>
            <a:ext cx="4276367" cy="1188596"/>
          </a:xfrm>
          <a:prstGeom prst="rect">
            <a:avLst/>
          </a:prstGeom>
        </p:spPr>
      </p:pic>
      <p:pic>
        <p:nvPicPr>
          <p:cNvPr id="69" name="図 68">
            <a:extLst>
              <a:ext uri="{FF2B5EF4-FFF2-40B4-BE49-F238E27FC236}">
                <a16:creationId xmlns:a16="http://schemas.microsoft.com/office/drawing/2014/main" id="{5F7A97AA-BB0E-4AE3-8F96-0FB418790457}"/>
              </a:ext>
            </a:extLst>
          </p:cNvPr>
          <p:cNvPicPr>
            <a:picLocks noChangeAspect="1"/>
          </p:cNvPicPr>
          <p:nvPr/>
        </p:nvPicPr>
        <p:blipFill>
          <a:blip r:embed="rId10"/>
          <a:stretch>
            <a:fillRect/>
          </a:stretch>
        </p:blipFill>
        <p:spPr>
          <a:xfrm>
            <a:off x="4317176" y="7545507"/>
            <a:ext cx="4320830" cy="1220000"/>
          </a:xfrm>
          <a:prstGeom prst="rect">
            <a:avLst/>
          </a:prstGeom>
        </p:spPr>
      </p:pic>
      <p:pic>
        <p:nvPicPr>
          <p:cNvPr id="70" name="図 69">
            <a:extLst>
              <a:ext uri="{FF2B5EF4-FFF2-40B4-BE49-F238E27FC236}">
                <a16:creationId xmlns:a16="http://schemas.microsoft.com/office/drawing/2014/main" id="{0A38F122-D7AB-4B1A-A53A-8143BE0321E6}"/>
              </a:ext>
            </a:extLst>
          </p:cNvPr>
          <p:cNvPicPr>
            <a:picLocks noChangeAspect="1"/>
          </p:cNvPicPr>
          <p:nvPr/>
        </p:nvPicPr>
        <p:blipFill>
          <a:blip r:embed="rId11"/>
          <a:stretch>
            <a:fillRect/>
          </a:stretch>
        </p:blipFill>
        <p:spPr>
          <a:xfrm>
            <a:off x="8619688" y="4782555"/>
            <a:ext cx="4179399" cy="1237668"/>
          </a:xfrm>
          <a:prstGeom prst="rect">
            <a:avLst/>
          </a:prstGeom>
        </p:spPr>
      </p:pic>
      <p:pic>
        <p:nvPicPr>
          <p:cNvPr id="71" name="図 70">
            <a:extLst>
              <a:ext uri="{FF2B5EF4-FFF2-40B4-BE49-F238E27FC236}">
                <a16:creationId xmlns:a16="http://schemas.microsoft.com/office/drawing/2014/main" id="{710ED15B-19AA-45E1-AFA0-36F7E07AD1E6}"/>
              </a:ext>
            </a:extLst>
          </p:cNvPr>
          <p:cNvPicPr>
            <a:picLocks noChangeAspect="1"/>
          </p:cNvPicPr>
          <p:nvPr/>
        </p:nvPicPr>
        <p:blipFill>
          <a:blip r:embed="rId12"/>
          <a:stretch>
            <a:fillRect/>
          </a:stretch>
        </p:blipFill>
        <p:spPr>
          <a:xfrm>
            <a:off x="8581299" y="6069930"/>
            <a:ext cx="4224825" cy="1203335"/>
          </a:xfrm>
          <a:prstGeom prst="rect">
            <a:avLst/>
          </a:prstGeom>
        </p:spPr>
      </p:pic>
      <p:pic>
        <p:nvPicPr>
          <p:cNvPr id="72" name="図 71">
            <a:extLst>
              <a:ext uri="{FF2B5EF4-FFF2-40B4-BE49-F238E27FC236}">
                <a16:creationId xmlns:a16="http://schemas.microsoft.com/office/drawing/2014/main" id="{9CE6BC76-6967-4ADF-951B-88B877D307F1}"/>
              </a:ext>
            </a:extLst>
          </p:cNvPr>
          <p:cNvPicPr>
            <a:picLocks noChangeAspect="1"/>
          </p:cNvPicPr>
          <p:nvPr/>
        </p:nvPicPr>
        <p:blipFill>
          <a:blip r:embed="rId13"/>
          <a:stretch>
            <a:fillRect/>
          </a:stretch>
        </p:blipFill>
        <p:spPr>
          <a:xfrm>
            <a:off x="8579311" y="7401341"/>
            <a:ext cx="4257883" cy="1157345"/>
          </a:xfrm>
          <a:prstGeom prst="rect">
            <a:avLst/>
          </a:prstGeom>
        </p:spPr>
      </p:pic>
      <p:cxnSp>
        <p:nvCxnSpPr>
          <p:cNvPr id="73" name="直線コネクタ 72">
            <a:extLst>
              <a:ext uri="{FF2B5EF4-FFF2-40B4-BE49-F238E27FC236}">
                <a16:creationId xmlns:a16="http://schemas.microsoft.com/office/drawing/2014/main" id="{2A841F8B-30AE-4C70-AA3A-80A3E168E565}"/>
              </a:ext>
            </a:extLst>
          </p:cNvPr>
          <p:cNvCxnSpPr>
            <a:cxnSpLocks/>
          </p:cNvCxnSpPr>
          <p:nvPr/>
        </p:nvCxnSpPr>
        <p:spPr>
          <a:xfrm>
            <a:off x="2410777" y="2713650"/>
            <a:ext cx="1541600" cy="4710"/>
          </a:xfrm>
          <a:prstGeom prst="line">
            <a:avLst/>
          </a:prstGeom>
          <a:ln w="31750">
            <a:solidFill>
              <a:schemeClr val="tx1"/>
            </a:solidFill>
            <a:headEnd w="lg" len="lg"/>
            <a:tailEnd type="triangle"/>
          </a:ln>
        </p:spPr>
        <p:style>
          <a:lnRef idx="1">
            <a:schemeClr val="accent1"/>
          </a:lnRef>
          <a:fillRef idx="0">
            <a:schemeClr val="accent1"/>
          </a:fillRef>
          <a:effectRef idx="0">
            <a:schemeClr val="accent1"/>
          </a:effectRef>
          <a:fontRef idx="minor">
            <a:schemeClr val="tx1"/>
          </a:fontRef>
        </p:style>
      </p:cxnSp>
      <p:sp>
        <p:nvSpPr>
          <p:cNvPr id="76" name="矢印: 上 75">
            <a:extLst>
              <a:ext uri="{FF2B5EF4-FFF2-40B4-BE49-F238E27FC236}">
                <a16:creationId xmlns:a16="http://schemas.microsoft.com/office/drawing/2014/main" id="{6446311F-E5CE-4308-9088-B2C2582B40E2}"/>
              </a:ext>
            </a:extLst>
          </p:cNvPr>
          <p:cNvSpPr/>
          <p:nvPr/>
        </p:nvSpPr>
        <p:spPr>
          <a:xfrm flipV="1">
            <a:off x="6288045" y="6397279"/>
            <a:ext cx="191964" cy="1130770"/>
          </a:xfrm>
          <a:prstGeom prst="upArrow">
            <a:avLst>
              <a:gd name="adj1" fmla="val 42782"/>
              <a:gd name="adj2" fmla="val 95673"/>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pic>
        <p:nvPicPr>
          <p:cNvPr id="6" name="図 5">
            <a:extLst>
              <a:ext uri="{FF2B5EF4-FFF2-40B4-BE49-F238E27FC236}">
                <a16:creationId xmlns:a16="http://schemas.microsoft.com/office/drawing/2014/main" id="{79E163F2-3315-4A9C-A540-02440899F2C6}"/>
              </a:ext>
            </a:extLst>
          </p:cNvPr>
          <p:cNvPicPr>
            <a:picLocks noChangeAspect="1"/>
          </p:cNvPicPr>
          <p:nvPr/>
        </p:nvPicPr>
        <p:blipFill>
          <a:blip r:embed="rId14"/>
          <a:stretch>
            <a:fillRect/>
          </a:stretch>
        </p:blipFill>
        <p:spPr>
          <a:xfrm>
            <a:off x="5932401" y="4734483"/>
            <a:ext cx="865707" cy="804742"/>
          </a:xfrm>
          <a:prstGeom prst="rect">
            <a:avLst/>
          </a:prstGeom>
        </p:spPr>
      </p:pic>
      <p:sp>
        <p:nvSpPr>
          <p:cNvPr id="61" name="矢印: 上 60">
            <a:extLst>
              <a:ext uri="{FF2B5EF4-FFF2-40B4-BE49-F238E27FC236}">
                <a16:creationId xmlns:a16="http://schemas.microsoft.com/office/drawing/2014/main" id="{D7883AEC-383F-4A5C-B2C4-21FDFF2E9956}"/>
              </a:ext>
            </a:extLst>
          </p:cNvPr>
          <p:cNvSpPr/>
          <p:nvPr/>
        </p:nvSpPr>
        <p:spPr>
          <a:xfrm>
            <a:off x="6288046" y="3794483"/>
            <a:ext cx="191964" cy="994103"/>
          </a:xfrm>
          <a:prstGeom prst="upArrow">
            <a:avLst>
              <a:gd name="adj1" fmla="val 42782"/>
              <a:gd name="adj2" fmla="val 95673"/>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74" name="テキスト ボックス 73">
            <a:extLst>
              <a:ext uri="{FF2B5EF4-FFF2-40B4-BE49-F238E27FC236}">
                <a16:creationId xmlns:a16="http://schemas.microsoft.com/office/drawing/2014/main" id="{EF4B2233-5F99-4A1C-BB9C-DB247B415A19}"/>
              </a:ext>
            </a:extLst>
          </p:cNvPr>
          <p:cNvSpPr txBox="1"/>
          <p:nvPr/>
        </p:nvSpPr>
        <p:spPr>
          <a:xfrm>
            <a:off x="3564642" y="258189"/>
            <a:ext cx="9059015" cy="430887"/>
          </a:xfrm>
          <a:prstGeom prst="rect">
            <a:avLst/>
          </a:prstGeom>
          <a:noFill/>
        </p:spPr>
        <p:txBody>
          <a:bodyPr wrap="square" rtlCol="0">
            <a:spAutoFit/>
          </a:bodyPr>
          <a:lstStyle/>
          <a:p>
            <a:pPr algn="r"/>
            <a:r>
              <a:rPr kumimoji="1" lang="ja-JP" altLang="en-US" sz="1100" dirty="0">
                <a:latin typeface="メイリオ" panose="020B0604030504040204" pitchFamily="50" charset="-128"/>
                <a:ea typeface="メイリオ" panose="020B0604030504040204" pitchFamily="50" charset="-128"/>
              </a:rPr>
              <a:t>お名前</a:t>
            </a:r>
            <a:r>
              <a:rPr kumimoji="1" lang="en-US" altLang="ja-JP" sz="1100" dirty="0">
                <a:latin typeface="メイリオ" panose="020B0604030504040204" pitchFamily="50" charset="-128"/>
                <a:ea typeface="メイリオ" panose="020B0604030504040204" pitchFamily="50" charset="-128"/>
              </a:rPr>
              <a:t>: {{NAME}}</a:t>
            </a:r>
            <a:r>
              <a:rPr kumimoji="1" lang="ja-JP" altLang="en-US" sz="1100" dirty="0">
                <a:latin typeface="メイリオ" panose="020B0604030504040204" pitchFamily="50" charset="-128"/>
                <a:ea typeface="メイリオ" panose="020B0604030504040204" pitchFamily="50" charset="-128"/>
              </a:rPr>
              <a:t>様</a:t>
            </a:r>
            <a:r>
              <a:rPr kumimoji="1" lang="en-US" altLang="ja-JP" sz="1100" dirty="0">
                <a:latin typeface="メイリオ" panose="020B0604030504040204" pitchFamily="50" charset="-128"/>
                <a:ea typeface="メイリオ" panose="020B0604030504040204" pitchFamily="50" charset="-128"/>
              </a:rPr>
              <a:t>, {{SEX}}, {{BIRTH_YEAR}}</a:t>
            </a:r>
            <a:r>
              <a:rPr kumimoji="1" lang="ja-JP" altLang="en-US" sz="1100" dirty="0">
                <a:latin typeface="メイリオ" panose="020B0604030504040204" pitchFamily="50" charset="-128"/>
                <a:ea typeface="メイリオ" panose="020B0604030504040204" pitchFamily="50" charset="-128"/>
              </a:rPr>
              <a:t>年</a:t>
            </a:r>
            <a:r>
              <a:rPr kumimoji="1" lang="en-US" altLang="ja-JP" sz="1100" dirty="0">
                <a:latin typeface="メイリオ" panose="020B0604030504040204" pitchFamily="50" charset="-128"/>
                <a:ea typeface="メイリオ" panose="020B0604030504040204" pitchFamily="50" charset="-128"/>
              </a:rPr>
              <a:t>{{BIRTH_MONTH}}</a:t>
            </a:r>
            <a:r>
              <a:rPr kumimoji="1" lang="ja-JP" altLang="en-US" sz="1100" dirty="0">
                <a:latin typeface="メイリオ" panose="020B0604030504040204" pitchFamily="50" charset="-128"/>
                <a:ea typeface="メイリオ" panose="020B0604030504040204" pitchFamily="50" charset="-128"/>
              </a:rPr>
              <a:t>月</a:t>
            </a:r>
            <a:r>
              <a:rPr kumimoji="1" lang="en-US" altLang="ja-JP" sz="1100" dirty="0">
                <a:latin typeface="メイリオ" panose="020B0604030504040204" pitchFamily="50" charset="-128"/>
                <a:ea typeface="メイリオ" panose="020B0604030504040204" pitchFamily="50" charset="-128"/>
              </a:rPr>
              <a:t>{{BIRTH_DAY}}</a:t>
            </a:r>
            <a:r>
              <a:rPr kumimoji="1" lang="ja-JP" altLang="en-US" sz="1100" dirty="0">
                <a:latin typeface="メイリオ" panose="020B0604030504040204" pitchFamily="50" charset="-128"/>
                <a:ea typeface="メイリオ" panose="020B0604030504040204" pitchFamily="50" charset="-128"/>
              </a:rPr>
              <a:t>日生</a:t>
            </a:r>
            <a:r>
              <a:rPr kumimoji="1" lang="en-US" altLang="ja-JP" sz="1100" dirty="0">
                <a:latin typeface="メイリオ" panose="020B0604030504040204" pitchFamily="50" charset="-128"/>
                <a:ea typeface="メイリオ" panose="020B0604030504040204" pitchFamily="50" charset="-128"/>
              </a:rPr>
              <a:t>,  </a:t>
            </a:r>
            <a:r>
              <a:rPr kumimoji="1" lang="ja-JP" altLang="en-US" sz="1100" dirty="0">
                <a:latin typeface="メイリオ" panose="020B0604030504040204" pitchFamily="50" charset="-128"/>
                <a:ea typeface="メイリオ" panose="020B0604030504040204" pitchFamily="50" charset="-128"/>
              </a:rPr>
              <a:t>身長</a:t>
            </a:r>
            <a:r>
              <a:rPr kumimoji="1" lang="en-US" altLang="ja-JP" sz="1100" dirty="0">
                <a:latin typeface="メイリオ" panose="020B0604030504040204" pitchFamily="50" charset="-128"/>
                <a:ea typeface="メイリオ" panose="020B0604030504040204" pitchFamily="50" charset="-128"/>
              </a:rPr>
              <a:t>: {{HEIGHT}}cm, </a:t>
            </a:r>
            <a:r>
              <a:rPr kumimoji="1" lang="ja-JP" altLang="en-US" sz="1100" dirty="0">
                <a:latin typeface="メイリオ" panose="020B0604030504040204" pitchFamily="50" charset="-128"/>
                <a:ea typeface="メイリオ" panose="020B0604030504040204" pitchFamily="50" charset="-128"/>
              </a:rPr>
              <a:t>体重</a:t>
            </a:r>
            <a:r>
              <a:rPr kumimoji="1" lang="en-US" altLang="ja-JP" sz="1100" dirty="0">
                <a:latin typeface="メイリオ" panose="020B0604030504040204" pitchFamily="50" charset="-128"/>
                <a:ea typeface="メイリオ" panose="020B0604030504040204" pitchFamily="50" charset="-128"/>
              </a:rPr>
              <a:t>: {{WEIGHT}}kg, </a:t>
            </a:r>
            <a:r>
              <a:rPr kumimoji="1" lang="ja-JP" altLang="en-US" sz="1100" dirty="0">
                <a:latin typeface="メイリオ" panose="020B0604030504040204" pitchFamily="50" charset="-128"/>
                <a:ea typeface="メイリオ" panose="020B0604030504040204" pitchFamily="50" charset="-128"/>
              </a:rPr>
              <a:t>撮影時年齢 </a:t>
            </a:r>
            <a:r>
              <a:rPr kumimoji="1" lang="en-US" altLang="ja-JP" sz="1100" dirty="0">
                <a:latin typeface="メイリオ" panose="020B0604030504040204" pitchFamily="50" charset="-128"/>
                <a:ea typeface="メイリオ" panose="020B0604030504040204" pitchFamily="50" charset="-128"/>
              </a:rPr>
              <a:t>{{AGE}}</a:t>
            </a:r>
            <a:r>
              <a:rPr kumimoji="1" lang="ja-JP" altLang="en-US" sz="1100" dirty="0">
                <a:latin typeface="メイリオ" panose="020B0604030504040204" pitchFamily="50" charset="-128"/>
                <a:ea typeface="メイリオ" panose="020B0604030504040204" pitchFamily="50" charset="-128"/>
              </a:rPr>
              <a:t>歳 </a:t>
            </a:r>
            <a:r>
              <a:rPr kumimoji="1" lang="en-US" altLang="ja-JP" sz="1100" dirty="0">
                <a:latin typeface="メイリオ" panose="020B0604030504040204" pitchFamily="50" charset="-128"/>
                <a:ea typeface="メイリオ" panose="020B0604030504040204" pitchFamily="50" charset="-128"/>
              </a:rPr>
              <a:t>({{SHOOTING_YEAR}}</a:t>
            </a:r>
            <a:r>
              <a:rPr kumimoji="1" lang="ja-JP" altLang="en-US" sz="1100" dirty="0">
                <a:latin typeface="メイリオ" panose="020B0604030504040204" pitchFamily="50" charset="-128"/>
                <a:ea typeface="メイリオ" panose="020B0604030504040204" pitchFamily="50" charset="-128"/>
              </a:rPr>
              <a:t>年</a:t>
            </a:r>
            <a:r>
              <a:rPr kumimoji="1" lang="en-US" altLang="ja-JP" sz="1100" dirty="0">
                <a:latin typeface="メイリオ" panose="020B0604030504040204" pitchFamily="50" charset="-128"/>
                <a:ea typeface="メイリオ" panose="020B0604030504040204" pitchFamily="50" charset="-128"/>
              </a:rPr>
              <a:t>{{SHOOTING_MONTH}}</a:t>
            </a:r>
            <a:r>
              <a:rPr kumimoji="1" lang="ja-JP" altLang="en-US" sz="1100" dirty="0">
                <a:latin typeface="メイリオ" panose="020B0604030504040204" pitchFamily="50" charset="-128"/>
                <a:ea typeface="メイリオ" panose="020B0604030504040204" pitchFamily="50" charset="-128"/>
              </a:rPr>
              <a:t>月</a:t>
            </a:r>
            <a:r>
              <a:rPr kumimoji="1" lang="en-US" altLang="ja-JP" sz="1100" dirty="0">
                <a:latin typeface="メイリオ" panose="020B0604030504040204" pitchFamily="50" charset="-128"/>
                <a:ea typeface="メイリオ" panose="020B0604030504040204" pitchFamily="50" charset="-128"/>
              </a:rPr>
              <a:t>{{SHOOTING_DAY}}</a:t>
            </a:r>
            <a:r>
              <a:rPr kumimoji="1" lang="ja-JP" altLang="en-US" sz="1100" dirty="0">
                <a:latin typeface="メイリオ" panose="020B0604030504040204" pitchFamily="50" charset="-128"/>
                <a:ea typeface="メイリオ" panose="020B0604030504040204" pitchFamily="50" charset="-128"/>
              </a:rPr>
              <a:t>日撮影</a:t>
            </a:r>
            <a:r>
              <a:rPr kumimoji="1" lang="en-US" altLang="ja-JP" sz="1100" dirty="0">
                <a:latin typeface="メイリオ" panose="020B0604030504040204" pitchFamily="50" charset="-128"/>
                <a:ea typeface="メイリオ" panose="020B0604030504040204" pitchFamily="50" charset="-128"/>
              </a:rPr>
              <a:t>) </a:t>
            </a:r>
            <a:endParaRPr kumimoji="1" lang="ja-JP" altLang="en-US" sz="1100" dirty="0">
              <a:latin typeface="メイリオ" panose="020B0604030504040204" pitchFamily="50" charset="-128"/>
              <a:ea typeface="メイリオ" panose="020B0604030504040204" pitchFamily="50" charset="-128"/>
            </a:endParaRPr>
          </a:p>
        </p:txBody>
      </p:sp>
      <p:sp>
        <p:nvSpPr>
          <p:cNvPr id="2" name="スライド番号プレースホルダー 1">
            <a:extLst>
              <a:ext uri="{FF2B5EF4-FFF2-40B4-BE49-F238E27FC236}">
                <a16:creationId xmlns:a16="http://schemas.microsoft.com/office/drawing/2014/main" id="{9D89FA5C-D34E-41F5-B1A4-822D9417154D}"/>
              </a:ext>
            </a:extLst>
          </p:cNvPr>
          <p:cNvSpPr>
            <a:spLocks noGrp="1"/>
          </p:cNvSpPr>
          <p:nvPr>
            <p:ph type="sldNum" sz="quarter" idx="12"/>
          </p:nvPr>
        </p:nvSpPr>
        <p:spPr/>
        <p:txBody>
          <a:bodyPr/>
          <a:lstStyle/>
          <a:p>
            <a:fld id="{AD811822-4739-4079-91F6-9F51ED4B0761}" type="slidenum">
              <a:rPr kumimoji="1" lang="ja-JP" altLang="en-US" smtClean="0"/>
              <a:t>1</a:t>
            </a:fld>
            <a:endParaRPr kumimoji="1" lang="ja-JP" altLang="en-US"/>
          </a:p>
        </p:txBody>
      </p:sp>
      <p:grpSp>
        <p:nvGrpSpPr>
          <p:cNvPr id="97" name="グループ化 96">
            <a:extLst>
              <a:ext uri="{FF2B5EF4-FFF2-40B4-BE49-F238E27FC236}">
                <a16:creationId xmlns:a16="http://schemas.microsoft.com/office/drawing/2014/main" id="{87801509-4901-44D0-8FD8-121BC3507531}"/>
              </a:ext>
            </a:extLst>
          </p:cNvPr>
          <p:cNvGrpSpPr/>
          <p:nvPr/>
        </p:nvGrpSpPr>
        <p:grpSpPr>
          <a:xfrm>
            <a:off x="10593307" y="9176977"/>
            <a:ext cx="2203720" cy="406521"/>
            <a:chOff x="4454891" y="1886449"/>
            <a:chExt cx="2203720" cy="406521"/>
          </a:xfrm>
        </p:grpSpPr>
        <p:pic>
          <p:nvPicPr>
            <p:cNvPr id="98" name="図 97">
              <a:extLst>
                <a:ext uri="{FF2B5EF4-FFF2-40B4-BE49-F238E27FC236}">
                  <a16:creationId xmlns:a16="http://schemas.microsoft.com/office/drawing/2014/main" id="{5D963E45-9762-4793-9381-B1A4CB1D0C69}"/>
                </a:ext>
              </a:extLst>
            </p:cNvPr>
            <p:cNvPicPr>
              <a:picLocks noChangeAspect="1"/>
            </p:cNvPicPr>
            <p:nvPr/>
          </p:nvPicPr>
          <p:blipFill>
            <a:blip r:embed="rId15"/>
            <a:stretch>
              <a:fillRect/>
            </a:stretch>
          </p:blipFill>
          <p:spPr>
            <a:xfrm>
              <a:off x="6235997" y="1889545"/>
              <a:ext cx="422614" cy="400328"/>
            </a:xfrm>
            <a:prstGeom prst="rect">
              <a:avLst/>
            </a:prstGeom>
          </p:spPr>
        </p:pic>
        <p:pic>
          <p:nvPicPr>
            <p:cNvPr id="99" name="Picture 8">
              <a:extLst>
                <a:ext uri="{FF2B5EF4-FFF2-40B4-BE49-F238E27FC236}">
                  <a16:creationId xmlns:a16="http://schemas.microsoft.com/office/drawing/2014/main" id="{370ABE4A-A875-43EE-BF05-5AAE1AB5984D}"/>
                </a:ext>
              </a:extLst>
            </p:cNvPr>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5730846" y="1924681"/>
              <a:ext cx="475231" cy="330056"/>
            </a:xfrm>
            <a:prstGeom prst="rect">
              <a:avLst/>
            </a:prstGeom>
            <a:noFill/>
            <a:extLst>
              <a:ext uri="{909E8E84-426E-40DD-AFC4-6F175D3DCCD1}">
                <a14:hiddenFill xmlns:a14="http://schemas.microsoft.com/office/drawing/2010/main">
                  <a:solidFill>
                    <a:srgbClr val="FFFFFF"/>
                  </a:solidFill>
                </a14:hiddenFill>
              </a:ext>
            </a:extLst>
          </p:spPr>
        </p:pic>
        <p:pic>
          <p:nvPicPr>
            <p:cNvPr id="100" name="Picture 10">
              <a:extLst>
                <a:ext uri="{FF2B5EF4-FFF2-40B4-BE49-F238E27FC236}">
                  <a16:creationId xmlns:a16="http://schemas.microsoft.com/office/drawing/2014/main" id="{0BF0F718-7761-4535-BBC6-0CEEE56E8DFA}"/>
                </a:ext>
              </a:extLst>
            </p:cNvPr>
            <p:cNvPicPr>
              <a:picLocks noChangeAspect="1" noChangeArrowheads="1"/>
            </p:cNvPicPr>
            <p:nvPr/>
          </p:nvPicPr>
          <p:blipFill>
            <a:blip r:embed="rId17">
              <a:extLst>
                <a:ext uri="{28A0092B-C50C-407E-A947-70E740481C1C}">
                  <a14:useLocalDpi xmlns:a14="http://schemas.microsoft.com/office/drawing/2010/main" val="0"/>
                </a:ext>
              </a:extLst>
            </a:blip>
            <a:srcRect/>
            <a:stretch>
              <a:fillRect/>
            </a:stretch>
          </p:blipFill>
          <p:spPr bwMode="auto">
            <a:xfrm>
              <a:off x="4857415" y="1886449"/>
              <a:ext cx="403424" cy="403424"/>
            </a:xfrm>
            <a:prstGeom prst="rect">
              <a:avLst/>
            </a:prstGeom>
            <a:noFill/>
            <a:extLst>
              <a:ext uri="{909E8E84-426E-40DD-AFC4-6F175D3DCCD1}">
                <a14:hiddenFill xmlns:a14="http://schemas.microsoft.com/office/drawing/2010/main">
                  <a:solidFill>
                    <a:srgbClr val="FFFFFF"/>
                  </a:solidFill>
                </a14:hiddenFill>
              </a:ext>
            </a:extLst>
          </p:spPr>
        </p:pic>
        <p:pic>
          <p:nvPicPr>
            <p:cNvPr id="101" name="Picture 12">
              <a:extLst>
                <a:ext uri="{FF2B5EF4-FFF2-40B4-BE49-F238E27FC236}">
                  <a16:creationId xmlns:a16="http://schemas.microsoft.com/office/drawing/2014/main" id="{CCA362B5-7C2C-41C4-BB01-1ACA06314ABD}"/>
                </a:ext>
              </a:extLst>
            </p:cNvPr>
            <p:cNvPicPr>
              <a:picLocks noChangeAspect="1" noChangeArrowheads="1"/>
            </p:cNvPicPr>
            <p:nvPr/>
          </p:nvPicPr>
          <p:blipFill>
            <a:blip r:embed="rId18">
              <a:extLst>
                <a:ext uri="{28A0092B-C50C-407E-A947-70E740481C1C}">
                  <a14:useLocalDpi xmlns:a14="http://schemas.microsoft.com/office/drawing/2010/main" val="0"/>
                </a:ext>
              </a:extLst>
            </a:blip>
            <a:srcRect/>
            <a:stretch>
              <a:fillRect/>
            </a:stretch>
          </p:blipFill>
          <p:spPr bwMode="auto">
            <a:xfrm>
              <a:off x="4454891" y="1924681"/>
              <a:ext cx="356191" cy="351311"/>
            </a:xfrm>
            <a:prstGeom prst="rect">
              <a:avLst/>
            </a:prstGeom>
            <a:noFill/>
            <a:extLst>
              <a:ext uri="{909E8E84-426E-40DD-AFC4-6F175D3DCCD1}">
                <a14:hiddenFill xmlns:a14="http://schemas.microsoft.com/office/drawing/2010/main">
                  <a:solidFill>
                    <a:srgbClr val="FFFFFF"/>
                  </a:solidFill>
                </a14:hiddenFill>
              </a:ext>
            </a:extLst>
          </p:spPr>
        </p:pic>
        <p:pic>
          <p:nvPicPr>
            <p:cNvPr id="102" name="Picture 14" descr="コーポレートアイデンティティ（CI）｜洛和会ヘルスケアシステム">
              <a:extLst>
                <a:ext uri="{FF2B5EF4-FFF2-40B4-BE49-F238E27FC236}">
                  <a16:creationId xmlns:a16="http://schemas.microsoft.com/office/drawing/2014/main" id="{5887EB9D-F3E9-4896-9359-A6BB9DC1DB3A}"/>
                </a:ext>
              </a:extLst>
            </p:cNvPr>
            <p:cNvPicPr>
              <a:picLocks noChangeAspect="1" noChangeArrowheads="1"/>
            </p:cNvPicPr>
            <p:nvPr/>
          </p:nvPicPr>
          <p:blipFill>
            <a:blip r:embed="rId19">
              <a:extLst>
                <a:ext uri="{28A0092B-C50C-407E-A947-70E740481C1C}">
                  <a14:useLocalDpi xmlns:a14="http://schemas.microsoft.com/office/drawing/2010/main" val="0"/>
                </a:ext>
              </a:extLst>
            </a:blip>
            <a:srcRect/>
            <a:stretch>
              <a:fillRect/>
            </a:stretch>
          </p:blipFill>
          <p:spPr bwMode="auto">
            <a:xfrm>
              <a:off x="5307172" y="1889545"/>
              <a:ext cx="358599" cy="403425"/>
            </a:xfrm>
            <a:prstGeom prst="rect">
              <a:avLst/>
            </a:prstGeom>
            <a:noFill/>
            <a:extLst>
              <a:ext uri="{909E8E84-426E-40DD-AFC4-6F175D3DCCD1}">
                <a14:hiddenFill xmlns:a14="http://schemas.microsoft.com/office/drawing/2010/main">
                  <a:solidFill>
                    <a:srgbClr val="FFFFFF"/>
                  </a:solidFill>
                </a14:hiddenFill>
              </a:ext>
            </a:extLst>
          </p:spPr>
        </p:pic>
      </p:grpSp>
      <p:sp>
        <p:nvSpPr>
          <p:cNvPr id="5" name="IMG: 08">
            <a:extLst>
              <a:ext uri="{FF2B5EF4-FFF2-40B4-BE49-F238E27FC236}">
                <a16:creationId xmlns:a16="http://schemas.microsoft.com/office/drawing/2014/main" id="{D6CB213B-AFD9-F992-0642-F998524386D8}"/>
              </a:ext>
            </a:extLst>
          </p:cNvPr>
          <p:cNvSpPr/>
          <p:nvPr/>
        </p:nvSpPr>
        <p:spPr>
          <a:xfrm>
            <a:off x="10069975" y="4844704"/>
            <a:ext cx="1781374" cy="630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8" name="IMG: 01">
            <a:extLst>
              <a:ext uri="{FF2B5EF4-FFF2-40B4-BE49-F238E27FC236}">
                <a16:creationId xmlns:a16="http://schemas.microsoft.com/office/drawing/2014/main" id="{7E80CB1E-73D9-34DE-02A1-11D08D811AD7}"/>
              </a:ext>
            </a:extLst>
          </p:cNvPr>
          <p:cNvSpPr/>
          <p:nvPr/>
        </p:nvSpPr>
        <p:spPr>
          <a:xfrm>
            <a:off x="2313632" y="2862483"/>
            <a:ext cx="1821600" cy="1296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9" name="IMG: 02">
            <a:extLst>
              <a:ext uri="{FF2B5EF4-FFF2-40B4-BE49-F238E27FC236}">
                <a16:creationId xmlns:a16="http://schemas.microsoft.com/office/drawing/2014/main" id="{912D8C69-9382-0B7E-1436-43C2B24D0530}"/>
              </a:ext>
            </a:extLst>
          </p:cNvPr>
          <p:cNvSpPr/>
          <p:nvPr/>
        </p:nvSpPr>
        <p:spPr>
          <a:xfrm>
            <a:off x="2332726" y="4764297"/>
            <a:ext cx="1854680" cy="7749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0" name="IMG: 03">
            <a:extLst>
              <a:ext uri="{FF2B5EF4-FFF2-40B4-BE49-F238E27FC236}">
                <a16:creationId xmlns:a16="http://schemas.microsoft.com/office/drawing/2014/main" id="{F6871BCB-A96D-318D-7FCE-39D077F4FBD2}"/>
              </a:ext>
            </a:extLst>
          </p:cNvPr>
          <p:cNvSpPr/>
          <p:nvPr/>
        </p:nvSpPr>
        <p:spPr>
          <a:xfrm>
            <a:off x="2355896" y="6150980"/>
            <a:ext cx="1817488" cy="612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 name="IMG: 04">
            <a:extLst>
              <a:ext uri="{FF2B5EF4-FFF2-40B4-BE49-F238E27FC236}">
                <a16:creationId xmlns:a16="http://schemas.microsoft.com/office/drawing/2014/main" id="{C9953A61-4759-9EF6-D51B-2AD2A4BA98C8}"/>
              </a:ext>
            </a:extLst>
          </p:cNvPr>
          <p:cNvSpPr/>
          <p:nvPr/>
        </p:nvSpPr>
        <p:spPr>
          <a:xfrm>
            <a:off x="2221937" y="7332717"/>
            <a:ext cx="1965468" cy="64729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2" name="IMG: 05">
            <a:extLst>
              <a:ext uri="{FF2B5EF4-FFF2-40B4-BE49-F238E27FC236}">
                <a16:creationId xmlns:a16="http://schemas.microsoft.com/office/drawing/2014/main" id="{0BCD363F-66BD-AD4A-D876-A1CCBCC3486F}"/>
              </a:ext>
            </a:extLst>
          </p:cNvPr>
          <p:cNvSpPr/>
          <p:nvPr/>
        </p:nvSpPr>
        <p:spPr>
          <a:xfrm>
            <a:off x="5668778" y="2717104"/>
            <a:ext cx="1773743" cy="59590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3" name="IMG: 06">
            <a:extLst>
              <a:ext uri="{FF2B5EF4-FFF2-40B4-BE49-F238E27FC236}">
                <a16:creationId xmlns:a16="http://schemas.microsoft.com/office/drawing/2014/main" id="{8BF0AE7C-A72B-9BF7-4937-4C7CE66EC497}"/>
              </a:ext>
            </a:extLst>
          </p:cNvPr>
          <p:cNvSpPr/>
          <p:nvPr/>
        </p:nvSpPr>
        <p:spPr>
          <a:xfrm>
            <a:off x="5569422" y="7577999"/>
            <a:ext cx="1773743" cy="73409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4" name="IMG: 07">
            <a:extLst>
              <a:ext uri="{FF2B5EF4-FFF2-40B4-BE49-F238E27FC236}">
                <a16:creationId xmlns:a16="http://schemas.microsoft.com/office/drawing/2014/main" id="{1BCD05C3-D2A7-D00D-8B61-73E03E6113CD}"/>
              </a:ext>
            </a:extLst>
          </p:cNvPr>
          <p:cNvSpPr/>
          <p:nvPr/>
        </p:nvSpPr>
        <p:spPr>
          <a:xfrm>
            <a:off x="9975241" y="2893822"/>
            <a:ext cx="1773743" cy="134321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5" name="IMG: 09">
            <a:extLst>
              <a:ext uri="{FF2B5EF4-FFF2-40B4-BE49-F238E27FC236}">
                <a16:creationId xmlns:a16="http://schemas.microsoft.com/office/drawing/2014/main" id="{D4C3FA08-D221-F58E-3CDD-6E9B5F7F6D4C}"/>
              </a:ext>
            </a:extLst>
          </p:cNvPr>
          <p:cNvSpPr/>
          <p:nvPr/>
        </p:nvSpPr>
        <p:spPr>
          <a:xfrm>
            <a:off x="9996617" y="6142983"/>
            <a:ext cx="1854732" cy="61999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 name="IMG: 10">
            <a:extLst>
              <a:ext uri="{FF2B5EF4-FFF2-40B4-BE49-F238E27FC236}">
                <a16:creationId xmlns:a16="http://schemas.microsoft.com/office/drawing/2014/main" id="{D3AD964A-D3EE-77E3-80C3-BCD9A83F2E85}"/>
              </a:ext>
            </a:extLst>
          </p:cNvPr>
          <p:cNvSpPr/>
          <p:nvPr/>
        </p:nvSpPr>
        <p:spPr>
          <a:xfrm>
            <a:off x="9975241" y="7528049"/>
            <a:ext cx="1854732" cy="54886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 name="IMG: 15">
            <a:extLst>
              <a:ext uri="{FF2B5EF4-FFF2-40B4-BE49-F238E27FC236}">
                <a16:creationId xmlns:a16="http://schemas.microsoft.com/office/drawing/2014/main" id="{820AA1A1-5C4B-6E73-A9B2-E31DD6D8D9DE}"/>
              </a:ext>
            </a:extLst>
          </p:cNvPr>
          <p:cNvSpPr/>
          <p:nvPr/>
        </p:nvSpPr>
        <p:spPr>
          <a:xfrm>
            <a:off x="88477" y="2856575"/>
            <a:ext cx="933740" cy="157391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7" name="IMG: 16">
            <a:extLst>
              <a:ext uri="{FF2B5EF4-FFF2-40B4-BE49-F238E27FC236}">
                <a16:creationId xmlns:a16="http://schemas.microsoft.com/office/drawing/2014/main" id="{6A5D5009-3922-BE25-822A-050277B41BC9}"/>
              </a:ext>
            </a:extLst>
          </p:cNvPr>
          <p:cNvSpPr/>
          <p:nvPr/>
        </p:nvSpPr>
        <p:spPr>
          <a:xfrm>
            <a:off x="75464" y="4714597"/>
            <a:ext cx="933740" cy="1062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 name="IMG: 17">
            <a:extLst>
              <a:ext uri="{FF2B5EF4-FFF2-40B4-BE49-F238E27FC236}">
                <a16:creationId xmlns:a16="http://schemas.microsoft.com/office/drawing/2014/main" id="{EA8AA3B4-2EAA-9B62-FD42-DB8C3061EBAE}"/>
              </a:ext>
            </a:extLst>
          </p:cNvPr>
          <p:cNvSpPr/>
          <p:nvPr/>
        </p:nvSpPr>
        <p:spPr>
          <a:xfrm>
            <a:off x="111172" y="6084863"/>
            <a:ext cx="839079" cy="94479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9" name="IMG: 18">
            <a:extLst>
              <a:ext uri="{FF2B5EF4-FFF2-40B4-BE49-F238E27FC236}">
                <a16:creationId xmlns:a16="http://schemas.microsoft.com/office/drawing/2014/main" id="{BA8B9A90-1355-302E-0777-3DC4F1A63258}"/>
              </a:ext>
            </a:extLst>
          </p:cNvPr>
          <p:cNvSpPr/>
          <p:nvPr/>
        </p:nvSpPr>
        <p:spPr>
          <a:xfrm>
            <a:off x="88477" y="7303599"/>
            <a:ext cx="839079" cy="936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1" name="IMG: 19">
            <a:extLst>
              <a:ext uri="{FF2B5EF4-FFF2-40B4-BE49-F238E27FC236}">
                <a16:creationId xmlns:a16="http://schemas.microsoft.com/office/drawing/2014/main" id="{994714D8-5641-0842-B962-2BF80CF2A81C}"/>
              </a:ext>
            </a:extLst>
          </p:cNvPr>
          <p:cNvSpPr/>
          <p:nvPr/>
        </p:nvSpPr>
        <p:spPr>
          <a:xfrm>
            <a:off x="7350900" y="2700633"/>
            <a:ext cx="1150324" cy="106549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2" name="IMG: 20">
            <a:extLst>
              <a:ext uri="{FF2B5EF4-FFF2-40B4-BE49-F238E27FC236}">
                <a16:creationId xmlns:a16="http://schemas.microsoft.com/office/drawing/2014/main" id="{A3942CAB-43BE-081F-DE04-7717EFCE5964}"/>
              </a:ext>
            </a:extLst>
          </p:cNvPr>
          <p:cNvSpPr/>
          <p:nvPr/>
        </p:nvSpPr>
        <p:spPr>
          <a:xfrm>
            <a:off x="7350901" y="7566751"/>
            <a:ext cx="1162984" cy="103679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4" name="IMG: 21">
            <a:extLst>
              <a:ext uri="{FF2B5EF4-FFF2-40B4-BE49-F238E27FC236}">
                <a16:creationId xmlns:a16="http://schemas.microsoft.com/office/drawing/2014/main" id="{9ED86AE3-862B-6DC8-3127-A6C93337204A}"/>
              </a:ext>
            </a:extLst>
          </p:cNvPr>
          <p:cNvSpPr/>
          <p:nvPr/>
        </p:nvSpPr>
        <p:spPr>
          <a:xfrm>
            <a:off x="11748984" y="2890517"/>
            <a:ext cx="933740" cy="155700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IMG: 22">
            <a:extLst>
              <a:ext uri="{FF2B5EF4-FFF2-40B4-BE49-F238E27FC236}">
                <a16:creationId xmlns:a16="http://schemas.microsoft.com/office/drawing/2014/main" id="{376276C2-D82C-7233-FD71-2D8730B6CBBD}"/>
              </a:ext>
            </a:extLst>
          </p:cNvPr>
          <p:cNvSpPr/>
          <p:nvPr/>
        </p:nvSpPr>
        <p:spPr>
          <a:xfrm>
            <a:off x="11784676" y="4800600"/>
            <a:ext cx="933740" cy="95516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6" name="IMG: 23">
            <a:extLst>
              <a:ext uri="{FF2B5EF4-FFF2-40B4-BE49-F238E27FC236}">
                <a16:creationId xmlns:a16="http://schemas.microsoft.com/office/drawing/2014/main" id="{BDB55272-432F-EBBE-C189-DE320AA1898F}"/>
              </a:ext>
            </a:extLst>
          </p:cNvPr>
          <p:cNvSpPr/>
          <p:nvPr/>
        </p:nvSpPr>
        <p:spPr>
          <a:xfrm>
            <a:off x="11775598" y="6077548"/>
            <a:ext cx="933740" cy="92688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7" name="IMG: 24">
            <a:extLst>
              <a:ext uri="{FF2B5EF4-FFF2-40B4-BE49-F238E27FC236}">
                <a16:creationId xmlns:a16="http://schemas.microsoft.com/office/drawing/2014/main" id="{F10C7E35-D263-2EB1-1B18-57EA252772CB}"/>
              </a:ext>
            </a:extLst>
          </p:cNvPr>
          <p:cNvSpPr/>
          <p:nvPr/>
        </p:nvSpPr>
        <p:spPr>
          <a:xfrm>
            <a:off x="11752412" y="7419131"/>
            <a:ext cx="933740" cy="95705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8" name="IMG: 13">
            <a:extLst>
              <a:ext uri="{FF2B5EF4-FFF2-40B4-BE49-F238E27FC236}">
                <a16:creationId xmlns:a16="http://schemas.microsoft.com/office/drawing/2014/main" id="{55E4D7CF-5FA2-8ACE-5D70-009DA61ADEAD}"/>
              </a:ext>
            </a:extLst>
          </p:cNvPr>
          <p:cNvSpPr/>
          <p:nvPr/>
        </p:nvSpPr>
        <p:spPr>
          <a:xfrm>
            <a:off x="5991971" y="4799799"/>
            <a:ext cx="764415" cy="75063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9" name="IMG: 14">
            <a:extLst>
              <a:ext uri="{FF2B5EF4-FFF2-40B4-BE49-F238E27FC236}">
                <a16:creationId xmlns:a16="http://schemas.microsoft.com/office/drawing/2014/main" id="{D0030119-1A12-B68F-A77F-A49A6D00CD8B}"/>
              </a:ext>
            </a:extLst>
          </p:cNvPr>
          <p:cNvSpPr/>
          <p:nvPr/>
        </p:nvSpPr>
        <p:spPr>
          <a:xfrm>
            <a:off x="5947809" y="5806898"/>
            <a:ext cx="831410" cy="75063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0" name="IMG: 11">
            <a:extLst>
              <a:ext uri="{FF2B5EF4-FFF2-40B4-BE49-F238E27FC236}">
                <a16:creationId xmlns:a16="http://schemas.microsoft.com/office/drawing/2014/main" id="{59785D2E-C99F-F691-E8D5-B9B96DFACE05}"/>
              </a:ext>
            </a:extLst>
          </p:cNvPr>
          <p:cNvSpPr/>
          <p:nvPr/>
        </p:nvSpPr>
        <p:spPr>
          <a:xfrm>
            <a:off x="4790567" y="4342919"/>
            <a:ext cx="1293570" cy="305842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テキスト ボックス 29">
            <a:extLst>
              <a:ext uri="{FF2B5EF4-FFF2-40B4-BE49-F238E27FC236}">
                <a16:creationId xmlns:a16="http://schemas.microsoft.com/office/drawing/2014/main" id="{FA8B9963-EAF9-02B4-DE6E-E0B9C5CB015D}"/>
              </a:ext>
            </a:extLst>
          </p:cNvPr>
          <p:cNvSpPr txBox="1"/>
          <p:nvPr/>
        </p:nvSpPr>
        <p:spPr>
          <a:xfrm>
            <a:off x="2081606" y="2569264"/>
            <a:ext cx="364202" cy="307777"/>
          </a:xfrm>
          <a:prstGeom prst="rect">
            <a:avLst/>
          </a:prstGeom>
          <a:noFill/>
        </p:spPr>
        <p:txBody>
          <a:bodyPr wrap="none" rtlCol="0">
            <a:spAutoFit/>
          </a:bodyPr>
          <a:lstStyle/>
          <a:p>
            <a:r>
              <a:rPr kumimoji="1" lang="ja-JP" altLang="en-US" sz="1400" b="1" dirty="0">
                <a:latin typeface="メイリオ" panose="020B0604030504040204" pitchFamily="50" charset="-128"/>
                <a:ea typeface="メイリオ" panose="020B0604030504040204" pitchFamily="50" charset="-128"/>
              </a:rPr>
              <a:t>低</a:t>
            </a:r>
          </a:p>
        </p:txBody>
      </p:sp>
      <p:sp>
        <p:nvSpPr>
          <p:cNvPr id="31" name="テキスト ボックス 30">
            <a:extLst>
              <a:ext uri="{FF2B5EF4-FFF2-40B4-BE49-F238E27FC236}">
                <a16:creationId xmlns:a16="http://schemas.microsoft.com/office/drawing/2014/main" id="{50932A1F-6F27-7B6D-3C06-92EBF3DDC6A6}"/>
              </a:ext>
            </a:extLst>
          </p:cNvPr>
          <p:cNvSpPr txBox="1"/>
          <p:nvPr/>
        </p:nvSpPr>
        <p:spPr>
          <a:xfrm>
            <a:off x="3936724" y="2582740"/>
            <a:ext cx="364202" cy="307777"/>
          </a:xfrm>
          <a:prstGeom prst="rect">
            <a:avLst/>
          </a:prstGeom>
          <a:noFill/>
        </p:spPr>
        <p:txBody>
          <a:bodyPr wrap="none" rtlCol="0">
            <a:spAutoFit/>
          </a:bodyPr>
          <a:lstStyle/>
          <a:p>
            <a:r>
              <a:rPr kumimoji="1" lang="ja-JP" altLang="en-US" sz="1400" b="1" dirty="0">
                <a:latin typeface="メイリオ" panose="020B0604030504040204" pitchFamily="50" charset="-128"/>
                <a:ea typeface="メイリオ" panose="020B0604030504040204" pitchFamily="50" charset="-128"/>
              </a:rPr>
              <a:t>高</a:t>
            </a:r>
          </a:p>
        </p:txBody>
      </p:sp>
      <p:cxnSp>
        <p:nvCxnSpPr>
          <p:cNvPr id="34" name="直線コネクタ 33">
            <a:extLst>
              <a:ext uri="{FF2B5EF4-FFF2-40B4-BE49-F238E27FC236}">
                <a16:creationId xmlns:a16="http://schemas.microsoft.com/office/drawing/2014/main" id="{F4412648-005D-F887-A515-0B81A9BDED90}"/>
              </a:ext>
            </a:extLst>
          </p:cNvPr>
          <p:cNvCxnSpPr>
            <a:cxnSpLocks/>
          </p:cNvCxnSpPr>
          <p:nvPr/>
        </p:nvCxnSpPr>
        <p:spPr>
          <a:xfrm>
            <a:off x="10067550" y="2714749"/>
            <a:ext cx="1541600" cy="4710"/>
          </a:xfrm>
          <a:prstGeom prst="line">
            <a:avLst/>
          </a:prstGeom>
          <a:ln w="31750">
            <a:solidFill>
              <a:schemeClr val="tx1"/>
            </a:solidFill>
            <a:headEnd w="lg" len="lg"/>
            <a:tailEnd type="triangle"/>
          </a:ln>
        </p:spPr>
        <p:style>
          <a:lnRef idx="1">
            <a:schemeClr val="accent1"/>
          </a:lnRef>
          <a:fillRef idx="0">
            <a:schemeClr val="accent1"/>
          </a:fillRef>
          <a:effectRef idx="0">
            <a:schemeClr val="accent1"/>
          </a:effectRef>
          <a:fontRef idx="minor">
            <a:schemeClr val="tx1"/>
          </a:fontRef>
        </p:style>
      </p:cxnSp>
      <p:sp>
        <p:nvSpPr>
          <p:cNvPr id="35" name="テキスト ボックス 34">
            <a:extLst>
              <a:ext uri="{FF2B5EF4-FFF2-40B4-BE49-F238E27FC236}">
                <a16:creationId xmlns:a16="http://schemas.microsoft.com/office/drawing/2014/main" id="{2680972E-5381-C35C-D4EB-6518C6F8D38D}"/>
              </a:ext>
            </a:extLst>
          </p:cNvPr>
          <p:cNvSpPr txBox="1"/>
          <p:nvPr/>
        </p:nvSpPr>
        <p:spPr>
          <a:xfrm>
            <a:off x="9738379" y="2570363"/>
            <a:ext cx="364202" cy="307777"/>
          </a:xfrm>
          <a:prstGeom prst="rect">
            <a:avLst/>
          </a:prstGeom>
          <a:noFill/>
        </p:spPr>
        <p:txBody>
          <a:bodyPr wrap="none" rtlCol="0">
            <a:spAutoFit/>
          </a:bodyPr>
          <a:lstStyle/>
          <a:p>
            <a:r>
              <a:rPr kumimoji="1" lang="ja-JP" altLang="en-US" sz="1400" b="1" dirty="0">
                <a:latin typeface="メイリオ" panose="020B0604030504040204" pitchFamily="50" charset="-128"/>
                <a:ea typeface="メイリオ" panose="020B0604030504040204" pitchFamily="50" charset="-128"/>
              </a:rPr>
              <a:t>低</a:t>
            </a:r>
          </a:p>
        </p:txBody>
      </p:sp>
      <p:sp>
        <p:nvSpPr>
          <p:cNvPr id="36" name="テキスト ボックス 35">
            <a:extLst>
              <a:ext uri="{FF2B5EF4-FFF2-40B4-BE49-F238E27FC236}">
                <a16:creationId xmlns:a16="http://schemas.microsoft.com/office/drawing/2014/main" id="{52B778B3-8E48-B2FD-12E1-DCF6ED0CB01A}"/>
              </a:ext>
            </a:extLst>
          </p:cNvPr>
          <p:cNvSpPr txBox="1"/>
          <p:nvPr/>
        </p:nvSpPr>
        <p:spPr>
          <a:xfrm>
            <a:off x="11593497" y="2583839"/>
            <a:ext cx="364202" cy="307777"/>
          </a:xfrm>
          <a:prstGeom prst="rect">
            <a:avLst/>
          </a:prstGeom>
          <a:noFill/>
        </p:spPr>
        <p:txBody>
          <a:bodyPr wrap="none" rtlCol="0">
            <a:spAutoFit/>
          </a:bodyPr>
          <a:lstStyle/>
          <a:p>
            <a:r>
              <a:rPr kumimoji="1" lang="ja-JP" altLang="en-US" sz="1400" b="1" dirty="0">
                <a:latin typeface="メイリオ" panose="020B0604030504040204" pitchFamily="50" charset="-128"/>
                <a:ea typeface="メイリオ" panose="020B0604030504040204" pitchFamily="50" charset="-128"/>
              </a:rPr>
              <a:t>高</a:t>
            </a:r>
          </a:p>
        </p:txBody>
      </p:sp>
      <p:sp>
        <p:nvSpPr>
          <p:cNvPr id="23" name="IMG: 12">
            <a:extLst>
              <a:ext uri="{FF2B5EF4-FFF2-40B4-BE49-F238E27FC236}">
                <a16:creationId xmlns:a16="http://schemas.microsoft.com/office/drawing/2014/main" id="{F18EEE64-4594-7984-1023-DFC28D44D2DD}"/>
              </a:ext>
            </a:extLst>
          </p:cNvPr>
          <p:cNvSpPr/>
          <p:nvPr/>
        </p:nvSpPr>
        <p:spPr>
          <a:xfrm>
            <a:off x="6773443" y="4342919"/>
            <a:ext cx="1293570" cy="305842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28AB25E6-AC81-7668-BA18-93FB6723B3B0}"/>
              </a:ext>
            </a:extLst>
          </p:cNvPr>
          <p:cNvSpPr/>
          <p:nvPr/>
        </p:nvSpPr>
        <p:spPr>
          <a:xfrm>
            <a:off x="4395615" y="8344588"/>
            <a:ext cx="3107809" cy="14300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Meiryo" panose="020B0604030504040204" pitchFamily="50" charset="-128"/>
                <a:ea typeface="Meiryo" panose="020B0604030504040204" pitchFamily="50" charset="-128"/>
              </a:rPr>
              <a:t>機能：股関節深部安定、方向転換、転倒時の安定</a:t>
            </a:r>
          </a:p>
        </p:txBody>
      </p:sp>
      <p:sp>
        <p:nvSpPr>
          <p:cNvPr id="75" name="四角形: 角を丸くする 74">
            <a:extLst>
              <a:ext uri="{FF2B5EF4-FFF2-40B4-BE49-F238E27FC236}">
                <a16:creationId xmlns:a16="http://schemas.microsoft.com/office/drawing/2014/main" id="{EFA54542-E899-4E95-864F-5CE74E3BD11E}"/>
              </a:ext>
            </a:extLst>
          </p:cNvPr>
          <p:cNvSpPr/>
          <p:nvPr/>
        </p:nvSpPr>
        <p:spPr>
          <a:xfrm>
            <a:off x="3435927" y="3470564"/>
            <a:ext cx="5543565" cy="3585477"/>
          </a:xfrm>
          <a:prstGeom prst="roundRect">
            <a:avLst/>
          </a:prstGeom>
          <a:solidFill>
            <a:schemeClr val="accent1">
              <a:alpha val="43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3200" b="1" dirty="0">
                <a:solidFill>
                  <a:srgbClr val="C00000"/>
                </a:solidFill>
              </a:rPr>
              <a:t>旧バージョン</a:t>
            </a:r>
          </a:p>
        </p:txBody>
      </p:sp>
    </p:spTree>
    <p:extLst>
      <p:ext uri="{BB962C8B-B14F-4D97-AF65-F5344CB8AC3E}">
        <p14:creationId xmlns:p14="http://schemas.microsoft.com/office/powerpoint/2010/main" val="361721383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テキスト ボックス 41">
            <a:extLst>
              <a:ext uri="{FF2B5EF4-FFF2-40B4-BE49-F238E27FC236}">
                <a16:creationId xmlns:a16="http://schemas.microsoft.com/office/drawing/2014/main" id="{6B58A8E9-6F04-48E1-B671-603C55DA9669}"/>
              </a:ext>
            </a:extLst>
          </p:cNvPr>
          <p:cNvSpPr txBox="1"/>
          <p:nvPr/>
        </p:nvSpPr>
        <p:spPr>
          <a:xfrm>
            <a:off x="654943" y="690428"/>
            <a:ext cx="11494402" cy="707886"/>
          </a:xfrm>
          <a:prstGeom prst="rect">
            <a:avLst/>
          </a:prstGeom>
          <a:noFill/>
          <a:ln>
            <a:solidFill>
              <a:srgbClr val="002060"/>
            </a:solidFill>
          </a:ln>
        </p:spPr>
        <p:txBody>
          <a:bodyPr wrap="square">
            <a:spAutoFit/>
          </a:bodyPr>
          <a:lstStyle/>
          <a:p>
            <a:r>
              <a:rPr lang="ja-JP" altLang="en-US" sz="1400" b="1" dirty="0">
                <a:latin typeface="メイリオ" panose="020B0604030504040204" pitchFamily="50" charset="-128"/>
                <a:ea typeface="メイリオ" panose="020B0604030504040204" pitchFamily="50" charset="-128"/>
              </a:rPr>
              <a:t>所見文</a:t>
            </a:r>
            <a:endParaRPr lang="en-US" altLang="ja-JP" sz="1400" b="1" dirty="0">
              <a:latin typeface="メイリオ" panose="020B0604030504040204" pitchFamily="50" charset="-128"/>
              <a:ea typeface="メイリオ" panose="020B0604030504040204" pitchFamily="50" charset="-128"/>
            </a:endParaRPr>
          </a:p>
          <a:p>
            <a:r>
              <a:rPr lang="en-US" altLang="ja-JP" sz="1400" b="1" dirty="0">
                <a:latin typeface="メイリオ" panose="020B0604030504040204" pitchFamily="50" charset="-128"/>
                <a:ea typeface="メイリオ" panose="020B0604030504040204" pitchFamily="50" charset="-128"/>
              </a:rPr>
              <a:t>	</a:t>
            </a:r>
            <a:r>
              <a:rPr lang="en-US" altLang="ja-JP" sz="1200" dirty="0">
                <a:latin typeface="メイリオ" panose="020B0604030504040204" pitchFamily="50" charset="-128"/>
                <a:ea typeface="メイリオ" panose="020B0604030504040204" pitchFamily="50" charset="-128"/>
              </a:rPr>
              <a:t>{{OBSERVATIONS}}</a:t>
            </a:r>
          </a:p>
          <a:p>
            <a:endParaRPr lang="en-US" altLang="ja-JP" sz="1200" dirty="0">
              <a:latin typeface="メイリオ" panose="020B0604030504040204" pitchFamily="50" charset="-128"/>
              <a:ea typeface="メイリオ" panose="020B0604030504040204" pitchFamily="50" charset="-128"/>
            </a:endParaRPr>
          </a:p>
        </p:txBody>
      </p:sp>
      <p:sp>
        <p:nvSpPr>
          <p:cNvPr id="43" name="テキスト ボックス 42">
            <a:extLst>
              <a:ext uri="{FF2B5EF4-FFF2-40B4-BE49-F238E27FC236}">
                <a16:creationId xmlns:a16="http://schemas.microsoft.com/office/drawing/2014/main" id="{E23FBE1F-1B96-4235-ABE5-DC87006575B8}"/>
              </a:ext>
            </a:extLst>
          </p:cNvPr>
          <p:cNvSpPr txBox="1"/>
          <p:nvPr/>
        </p:nvSpPr>
        <p:spPr>
          <a:xfrm>
            <a:off x="645524" y="197405"/>
            <a:ext cx="4210336" cy="400110"/>
          </a:xfrm>
          <a:prstGeom prst="rect">
            <a:avLst/>
          </a:prstGeom>
          <a:noFill/>
        </p:spPr>
        <p:txBody>
          <a:bodyPr wrap="square" rtlCol="0">
            <a:spAutoFit/>
          </a:bodyPr>
          <a:lstStyle/>
          <a:p>
            <a:r>
              <a:rPr kumimoji="1" lang="ja-JP" altLang="en-US" sz="2000" b="1" dirty="0">
                <a:solidFill>
                  <a:srgbClr val="C00000"/>
                </a:solidFill>
                <a:latin typeface="メイリオ" panose="020B0604030504040204" pitchFamily="50" charset="-128"/>
                <a:ea typeface="メイリオ" panose="020B0604030504040204" pitchFamily="50" charset="-128"/>
              </a:rPr>
              <a:t>筋質（筋肉の質）</a:t>
            </a:r>
            <a:r>
              <a:rPr kumimoji="1" lang="ja-JP" altLang="en-US" b="1" dirty="0">
                <a:latin typeface="メイリオ" panose="020B0604030504040204" pitchFamily="50" charset="-128"/>
                <a:ea typeface="メイリオ" panose="020B0604030504040204" pitchFamily="50" charset="-128"/>
              </a:rPr>
              <a:t>の測定結果シート</a:t>
            </a:r>
          </a:p>
        </p:txBody>
      </p:sp>
      <p:sp>
        <p:nvSpPr>
          <p:cNvPr id="45" name="テキスト ボックス 44">
            <a:extLst>
              <a:ext uri="{FF2B5EF4-FFF2-40B4-BE49-F238E27FC236}">
                <a16:creationId xmlns:a16="http://schemas.microsoft.com/office/drawing/2014/main" id="{30C1F6BC-DFC6-4383-A644-7703B82FB81D}"/>
              </a:ext>
            </a:extLst>
          </p:cNvPr>
          <p:cNvSpPr txBox="1"/>
          <p:nvPr/>
        </p:nvSpPr>
        <p:spPr>
          <a:xfrm>
            <a:off x="645524" y="1527280"/>
            <a:ext cx="11545078" cy="1015663"/>
          </a:xfrm>
          <a:prstGeom prst="rect">
            <a:avLst/>
          </a:prstGeom>
          <a:noFill/>
          <a:ln>
            <a:solidFill>
              <a:srgbClr val="002060"/>
            </a:solidFill>
          </a:ln>
        </p:spPr>
        <p:txBody>
          <a:bodyPr wrap="square">
            <a:spAutoFit/>
          </a:bodyPr>
          <a:lstStyle/>
          <a:p>
            <a:r>
              <a:rPr lang="ja-JP" altLang="en-US" sz="1400" b="1" dirty="0">
                <a:latin typeface="メイリオ" panose="020B0604030504040204" pitchFamily="50" charset="-128"/>
                <a:ea typeface="メイリオ" panose="020B0604030504040204" pitchFamily="50" charset="-128"/>
              </a:rPr>
              <a:t>測定結果シートの見方</a:t>
            </a:r>
            <a:endParaRPr lang="en-US" altLang="ja-JP" sz="1400" b="1" dirty="0">
              <a:latin typeface="メイリオ" panose="020B0604030504040204" pitchFamily="50" charset="-128"/>
              <a:ea typeface="メイリオ" panose="020B0604030504040204" pitchFamily="50" charset="-128"/>
            </a:endParaRPr>
          </a:p>
          <a:p>
            <a:pPr marL="596506" lvl="1" indent="-139306">
              <a:buFont typeface="Arial" panose="020B0604020202020204" pitchFamily="34" charset="0"/>
              <a:buChar char="•"/>
            </a:pPr>
            <a:r>
              <a:rPr lang="ja-JP" altLang="en-US" sz="1200" dirty="0">
                <a:latin typeface="メイリオ" panose="020B0604030504040204" pitchFamily="50" charset="-128"/>
                <a:ea typeface="メイリオ" panose="020B0604030504040204" pitchFamily="50" charset="-128"/>
              </a:rPr>
              <a:t>あなたの各筋肉の</a:t>
            </a:r>
            <a:r>
              <a:rPr lang="ja-JP" altLang="en-US" sz="1200" b="1" dirty="0">
                <a:latin typeface="メイリオ" panose="020B0604030504040204" pitchFamily="50" charset="-128"/>
                <a:ea typeface="メイリオ" panose="020B0604030504040204" pitchFamily="50" charset="-128"/>
              </a:rPr>
              <a:t>筋質スコア（健康状態の数値）</a:t>
            </a:r>
            <a:r>
              <a:rPr lang="ja-JP" altLang="en-US" sz="1200" dirty="0">
                <a:latin typeface="メイリオ" panose="020B0604030504040204" pitchFamily="50" charset="-128"/>
                <a:ea typeface="メイリオ" panose="020B0604030504040204" pitchFamily="50" charset="-128"/>
              </a:rPr>
              <a:t>を「★印」で示しています。</a:t>
            </a:r>
            <a:endParaRPr lang="en-US" altLang="ja-JP" sz="1200" dirty="0">
              <a:latin typeface="メイリオ" panose="020B0604030504040204" pitchFamily="50" charset="-128"/>
              <a:ea typeface="メイリオ" panose="020B0604030504040204" pitchFamily="50" charset="-128"/>
            </a:endParaRPr>
          </a:p>
          <a:p>
            <a:pPr marL="1053718" lvl="2" indent="-139306">
              <a:buFont typeface="Arial" panose="020B0604020202020204" pitchFamily="34" charset="0"/>
              <a:buChar char="•"/>
            </a:pPr>
            <a:r>
              <a:rPr lang="ja-JP" altLang="en-US" sz="1100" dirty="0">
                <a:latin typeface="メイリオ" panose="020B0604030504040204" pitchFamily="50" charset="-128"/>
                <a:ea typeface="メイリオ" panose="020B0604030504040204" pitchFamily="50" charset="-128"/>
              </a:rPr>
              <a:t>筋肉毎に、同性・同年齢の「普通の範囲」を色のついた帯で示しています。★印がその帯より左に出ている場合は、同年代と比べて筋質が低めです。</a:t>
            </a:r>
            <a:endParaRPr lang="en-US" altLang="ja-JP" sz="1100" dirty="0">
              <a:latin typeface="メイリオ" panose="020B0604030504040204" pitchFamily="50" charset="-128"/>
              <a:ea typeface="メイリオ" panose="020B0604030504040204" pitchFamily="50" charset="-128"/>
            </a:endParaRPr>
          </a:p>
          <a:p>
            <a:pPr marL="596506" lvl="1" indent="-139306">
              <a:buFont typeface="Arial" panose="020B0604020202020204" pitchFamily="34" charset="0"/>
              <a:buChar char="•"/>
            </a:pPr>
            <a:r>
              <a:rPr lang="ja-JP" altLang="en-US" sz="1200" b="1" dirty="0">
                <a:latin typeface="メイリオ" panose="020B0604030504040204" pitchFamily="50" charset="-128"/>
                <a:ea typeface="メイリオ" panose="020B0604030504040204" pitchFamily="50" charset="-128"/>
              </a:rPr>
              <a:t>筋質スコア</a:t>
            </a:r>
            <a:r>
              <a:rPr lang="ja-JP" altLang="en-US" sz="1200" dirty="0">
                <a:latin typeface="メイリオ" panose="020B0604030504040204" pitchFamily="50" charset="-128"/>
                <a:ea typeface="メイリオ" panose="020B0604030504040204" pitchFamily="50" charset="-128"/>
              </a:rPr>
              <a:t>とは、</a:t>
            </a:r>
            <a:r>
              <a:rPr lang="en-US" altLang="ja-JP" sz="1200" dirty="0">
                <a:latin typeface="メイリオ" panose="020B0604030504040204" pitchFamily="50" charset="-128"/>
                <a:ea typeface="メイリオ" panose="020B0604030504040204" pitchFamily="50" charset="-128"/>
              </a:rPr>
              <a:t>CT</a:t>
            </a:r>
            <a:r>
              <a:rPr lang="ja-JP" altLang="en-US" sz="1200" dirty="0">
                <a:latin typeface="メイリオ" panose="020B0604030504040204" pitchFamily="50" charset="-128"/>
                <a:ea typeface="メイリオ" panose="020B0604030504040204" pitchFamily="50" charset="-128"/>
              </a:rPr>
              <a:t>画像から計算した数字で、筋肉の中に脂肪がどれくらい混ざっているかを表しています。</a:t>
            </a:r>
            <a:endParaRPr lang="en-US" altLang="ja-JP" sz="1200" dirty="0">
              <a:latin typeface="メイリオ" panose="020B0604030504040204" pitchFamily="50" charset="-128"/>
              <a:ea typeface="メイリオ" panose="020B0604030504040204" pitchFamily="50" charset="-128"/>
            </a:endParaRPr>
          </a:p>
          <a:p>
            <a:pPr marL="1053718" lvl="2" indent="-139306">
              <a:buFont typeface="Arial" panose="020B0604020202020204" pitchFamily="34" charset="0"/>
              <a:buChar char="•"/>
            </a:pPr>
            <a:r>
              <a:rPr lang="ja-JP" altLang="en-US" sz="1100" dirty="0">
                <a:latin typeface="メイリオ" panose="020B0604030504040204" pitchFamily="50" charset="-128"/>
                <a:ea typeface="メイリオ" panose="020B0604030504040204" pitchFamily="50" charset="-128"/>
              </a:rPr>
              <a:t>数値が低いほど、筋肉に脂肪が多く入り込み（いわゆる「霜降り状態」）、筋力が弱くなり、転倒や骨折などのリスクが高くなる可能性があります。</a:t>
            </a:r>
            <a:endParaRPr lang="en-US" altLang="ja-JP" sz="1100" dirty="0">
              <a:latin typeface="メイリオ" panose="020B0604030504040204" pitchFamily="50" charset="-128"/>
              <a:ea typeface="メイリオ" panose="020B0604030504040204" pitchFamily="50" charset="-128"/>
            </a:endParaRPr>
          </a:p>
        </p:txBody>
      </p:sp>
      <p:sp>
        <p:nvSpPr>
          <p:cNvPr id="47" name="テキスト ボックス 46">
            <a:extLst>
              <a:ext uri="{FF2B5EF4-FFF2-40B4-BE49-F238E27FC236}">
                <a16:creationId xmlns:a16="http://schemas.microsoft.com/office/drawing/2014/main" id="{45FBF326-3E42-40C4-8E2A-483A9F689195}"/>
              </a:ext>
            </a:extLst>
          </p:cNvPr>
          <p:cNvSpPr txBox="1"/>
          <p:nvPr/>
        </p:nvSpPr>
        <p:spPr>
          <a:xfrm>
            <a:off x="5884194" y="5584183"/>
            <a:ext cx="973423" cy="276999"/>
          </a:xfrm>
          <a:prstGeom prst="rect">
            <a:avLst/>
          </a:prstGeom>
          <a:noFill/>
        </p:spPr>
        <p:txBody>
          <a:bodyPr wrap="square" rtlCol="0">
            <a:spAutoFit/>
          </a:bodyPr>
          <a:lstStyle/>
          <a:p>
            <a:pPr algn="ctr"/>
            <a:r>
              <a:rPr kumimoji="1" lang="ja-JP" altLang="en-US" sz="1200" b="1" dirty="0">
                <a:latin typeface="メイリオ" panose="020B0604030504040204" pitchFamily="50" charset="-128"/>
                <a:ea typeface="メイリオ" panose="020B0604030504040204" pitchFamily="50" charset="-128"/>
              </a:rPr>
              <a:t>深部の筋肉</a:t>
            </a:r>
          </a:p>
        </p:txBody>
      </p:sp>
      <p:sp>
        <p:nvSpPr>
          <p:cNvPr id="48" name="テキスト ボックス 47">
            <a:extLst>
              <a:ext uri="{FF2B5EF4-FFF2-40B4-BE49-F238E27FC236}">
                <a16:creationId xmlns:a16="http://schemas.microsoft.com/office/drawing/2014/main" id="{3D2032BD-8774-416E-AFEE-827E56F888CD}"/>
              </a:ext>
            </a:extLst>
          </p:cNvPr>
          <p:cNvSpPr txBox="1"/>
          <p:nvPr/>
        </p:nvSpPr>
        <p:spPr>
          <a:xfrm>
            <a:off x="6844180" y="4047016"/>
            <a:ext cx="974690" cy="276999"/>
          </a:xfrm>
          <a:prstGeom prst="rect">
            <a:avLst/>
          </a:prstGeom>
          <a:noFill/>
        </p:spPr>
        <p:txBody>
          <a:bodyPr wrap="square" rtlCol="0">
            <a:spAutoFit/>
          </a:bodyPr>
          <a:lstStyle/>
          <a:p>
            <a:pPr algn="ctr"/>
            <a:r>
              <a:rPr lang="ja-JP" altLang="en-US" sz="1200" b="1" dirty="0">
                <a:latin typeface="メイリオ" panose="020B0604030504040204" pitchFamily="50" charset="-128"/>
                <a:ea typeface="メイリオ" panose="020B0604030504040204" pitchFamily="50" charset="-128"/>
              </a:rPr>
              <a:t>後面の筋肉</a:t>
            </a:r>
            <a:endParaRPr kumimoji="1" lang="ja-JP" altLang="en-US" sz="1200" b="1" dirty="0">
              <a:latin typeface="メイリオ" panose="020B0604030504040204" pitchFamily="50" charset="-128"/>
              <a:ea typeface="メイリオ" panose="020B0604030504040204" pitchFamily="50" charset="-128"/>
            </a:endParaRPr>
          </a:p>
        </p:txBody>
      </p:sp>
      <p:sp>
        <p:nvSpPr>
          <p:cNvPr id="49" name="テキスト ボックス 48">
            <a:extLst>
              <a:ext uri="{FF2B5EF4-FFF2-40B4-BE49-F238E27FC236}">
                <a16:creationId xmlns:a16="http://schemas.microsoft.com/office/drawing/2014/main" id="{56C6CEDB-01BD-49B0-A007-78947852A564}"/>
              </a:ext>
            </a:extLst>
          </p:cNvPr>
          <p:cNvSpPr txBox="1"/>
          <p:nvPr/>
        </p:nvSpPr>
        <p:spPr>
          <a:xfrm>
            <a:off x="4949044" y="4047017"/>
            <a:ext cx="972072" cy="276999"/>
          </a:xfrm>
          <a:prstGeom prst="rect">
            <a:avLst/>
          </a:prstGeom>
          <a:noFill/>
        </p:spPr>
        <p:txBody>
          <a:bodyPr wrap="square" rtlCol="0">
            <a:spAutoFit/>
          </a:bodyPr>
          <a:lstStyle/>
          <a:p>
            <a:pPr algn="ctr"/>
            <a:r>
              <a:rPr lang="ja-JP" altLang="en-US" sz="1200" b="1" dirty="0">
                <a:latin typeface="メイリオ" panose="020B0604030504040204" pitchFamily="50" charset="-128"/>
                <a:ea typeface="メイリオ" panose="020B0604030504040204" pitchFamily="50" charset="-128"/>
              </a:rPr>
              <a:t>前面の筋肉</a:t>
            </a:r>
            <a:endParaRPr kumimoji="1" lang="ja-JP" altLang="en-US" sz="1200" b="1" dirty="0">
              <a:latin typeface="メイリオ" panose="020B0604030504040204" pitchFamily="50" charset="-128"/>
              <a:ea typeface="メイリオ" panose="020B0604030504040204" pitchFamily="50" charset="-128"/>
            </a:endParaRPr>
          </a:p>
        </p:txBody>
      </p:sp>
      <p:sp>
        <p:nvSpPr>
          <p:cNvPr id="50" name="楕円 49">
            <a:extLst>
              <a:ext uri="{FF2B5EF4-FFF2-40B4-BE49-F238E27FC236}">
                <a16:creationId xmlns:a16="http://schemas.microsoft.com/office/drawing/2014/main" id="{DAD5D763-463A-4A2C-BFD8-78B83F9A7EA0}"/>
              </a:ext>
            </a:extLst>
          </p:cNvPr>
          <p:cNvSpPr/>
          <p:nvPr/>
        </p:nvSpPr>
        <p:spPr>
          <a:xfrm>
            <a:off x="5448378" y="5066391"/>
            <a:ext cx="278741" cy="423579"/>
          </a:xfrm>
          <a:prstGeom prst="ellipse">
            <a:avLst/>
          </a:prstGeom>
          <a:noFill/>
          <a:ln w="9525">
            <a:solidFill>
              <a:srgbClr val="00206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51" name="矢印: 上 50">
            <a:extLst>
              <a:ext uri="{FF2B5EF4-FFF2-40B4-BE49-F238E27FC236}">
                <a16:creationId xmlns:a16="http://schemas.microsoft.com/office/drawing/2014/main" id="{3A703B42-0A66-4E76-A84F-9E5A88F42BA2}"/>
              </a:ext>
            </a:extLst>
          </p:cNvPr>
          <p:cNvSpPr/>
          <p:nvPr/>
        </p:nvSpPr>
        <p:spPr>
          <a:xfrm rot="18006218" flipH="1">
            <a:off x="4546789" y="3859236"/>
            <a:ext cx="173687" cy="978618"/>
          </a:xfrm>
          <a:prstGeom prst="upArrow">
            <a:avLst>
              <a:gd name="adj1" fmla="val 37275"/>
              <a:gd name="adj2" fmla="val 94537"/>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52" name="矢印: 上 51">
            <a:extLst>
              <a:ext uri="{FF2B5EF4-FFF2-40B4-BE49-F238E27FC236}">
                <a16:creationId xmlns:a16="http://schemas.microsoft.com/office/drawing/2014/main" id="{A2B87521-D875-4DB6-BAC0-1FA6F509025C}"/>
              </a:ext>
            </a:extLst>
          </p:cNvPr>
          <p:cNvSpPr/>
          <p:nvPr/>
        </p:nvSpPr>
        <p:spPr>
          <a:xfrm rot="14367962" flipH="1">
            <a:off x="4572259" y="5635691"/>
            <a:ext cx="189811" cy="1027343"/>
          </a:xfrm>
          <a:prstGeom prst="upArrow">
            <a:avLst>
              <a:gd name="adj1" fmla="val 31066"/>
              <a:gd name="adj2" fmla="val 83488"/>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53" name="矢印: 上 52">
            <a:extLst>
              <a:ext uri="{FF2B5EF4-FFF2-40B4-BE49-F238E27FC236}">
                <a16:creationId xmlns:a16="http://schemas.microsoft.com/office/drawing/2014/main" id="{4CFCD161-3D2F-40A6-9091-BBC1CB5416E1}"/>
              </a:ext>
            </a:extLst>
          </p:cNvPr>
          <p:cNvSpPr/>
          <p:nvPr/>
        </p:nvSpPr>
        <p:spPr>
          <a:xfrm rot="13793996" flipH="1">
            <a:off x="4587991" y="6492373"/>
            <a:ext cx="236494" cy="1157419"/>
          </a:xfrm>
          <a:prstGeom prst="upArrow">
            <a:avLst>
              <a:gd name="adj1" fmla="val 28572"/>
              <a:gd name="adj2" fmla="val 91392"/>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55" name="矢印: 上 54">
            <a:extLst>
              <a:ext uri="{FF2B5EF4-FFF2-40B4-BE49-F238E27FC236}">
                <a16:creationId xmlns:a16="http://schemas.microsoft.com/office/drawing/2014/main" id="{2AACCFE0-B00E-496A-A77F-B48A48D7B02E}"/>
              </a:ext>
            </a:extLst>
          </p:cNvPr>
          <p:cNvSpPr/>
          <p:nvPr/>
        </p:nvSpPr>
        <p:spPr>
          <a:xfrm rot="15931656" flipH="1">
            <a:off x="4731573" y="4726020"/>
            <a:ext cx="180570" cy="1180113"/>
          </a:xfrm>
          <a:prstGeom prst="upArrow">
            <a:avLst>
              <a:gd name="adj1" fmla="val 37996"/>
              <a:gd name="adj2" fmla="val 80009"/>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56" name="矢印: 上 55">
            <a:extLst>
              <a:ext uri="{FF2B5EF4-FFF2-40B4-BE49-F238E27FC236}">
                <a16:creationId xmlns:a16="http://schemas.microsoft.com/office/drawing/2014/main" id="{28E6489F-3293-4DAF-BB53-A59EF0219A0D}"/>
              </a:ext>
            </a:extLst>
          </p:cNvPr>
          <p:cNvSpPr/>
          <p:nvPr/>
        </p:nvSpPr>
        <p:spPr>
          <a:xfrm rot="3496225">
            <a:off x="8005060" y="3805047"/>
            <a:ext cx="205315" cy="1101344"/>
          </a:xfrm>
          <a:prstGeom prst="upArrow">
            <a:avLst>
              <a:gd name="adj1" fmla="val 32758"/>
              <a:gd name="adj2" fmla="val 96096"/>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57" name="矢印: 上 56">
            <a:extLst>
              <a:ext uri="{FF2B5EF4-FFF2-40B4-BE49-F238E27FC236}">
                <a16:creationId xmlns:a16="http://schemas.microsoft.com/office/drawing/2014/main" id="{809A1C8F-1CDB-42D7-8562-38E967FB4874}"/>
              </a:ext>
            </a:extLst>
          </p:cNvPr>
          <p:cNvSpPr/>
          <p:nvPr/>
        </p:nvSpPr>
        <p:spPr>
          <a:xfrm rot="5915836">
            <a:off x="7996432" y="4918652"/>
            <a:ext cx="216315" cy="1030208"/>
          </a:xfrm>
          <a:prstGeom prst="upArrow">
            <a:avLst>
              <a:gd name="adj1" fmla="val 31681"/>
              <a:gd name="adj2" fmla="val 101903"/>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solidFill>
                <a:schemeClr val="tx1"/>
              </a:solidFill>
            </a:endParaRPr>
          </a:p>
        </p:txBody>
      </p:sp>
      <p:sp>
        <p:nvSpPr>
          <p:cNvPr id="58" name="矢印: 上 57">
            <a:extLst>
              <a:ext uri="{FF2B5EF4-FFF2-40B4-BE49-F238E27FC236}">
                <a16:creationId xmlns:a16="http://schemas.microsoft.com/office/drawing/2014/main" id="{0042D3E8-791F-4C2D-B0A1-5C9474BF7ADF}"/>
              </a:ext>
            </a:extLst>
          </p:cNvPr>
          <p:cNvSpPr/>
          <p:nvPr/>
        </p:nvSpPr>
        <p:spPr>
          <a:xfrm rot="7671784">
            <a:off x="8007058" y="6427374"/>
            <a:ext cx="174184" cy="1286081"/>
          </a:xfrm>
          <a:prstGeom prst="upArrow">
            <a:avLst>
              <a:gd name="adj1" fmla="val 38500"/>
              <a:gd name="adj2" fmla="val 101834"/>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solidFill>
                <a:schemeClr val="tx1"/>
              </a:solidFill>
            </a:endParaRPr>
          </a:p>
        </p:txBody>
      </p:sp>
      <p:sp>
        <p:nvSpPr>
          <p:cNvPr id="59" name="矢印: 上 58">
            <a:extLst>
              <a:ext uri="{FF2B5EF4-FFF2-40B4-BE49-F238E27FC236}">
                <a16:creationId xmlns:a16="http://schemas.microsoft.com/office/drawing/2014/main" id="{D31160A7-32C5-4E43-8C4B-7A3D4B20B5E8}"/>
              </a:ext>
            </a:extLst>
          </p:cNvPr>
          <p:cNvSpPr/>
          <p:nvPr/>
        </p:nvSpPr>
        <p:spPr>
          <a:xfrm rot="6540629">
            <a:off x="8031413" y="5725794"/>
            <a:ext cx="202627" cy="1086912"/>
          </a:xfrm>
          <a:prstGeom prst="upArrow">
            <a:avLst>
              <a:gd name="adj1" fmla="val 32666"/>
              <a:gd name="adj2" fmla="val 104576"/>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solidFill>
                <a:schemeClr val="tx1"/>
              </a:solidFill>
            </a:endParaRPr>
          </a:p>
        </p:txBody>
      </p:sp>
      <p:sp>
        <p:nvSpPr>
          <p:cNvPr id="63" name="テキスト ボックス 62">
            <a:extLst>
              <a:ext uri="{FF2B5EF4-FFF2-40B4-BE49-F238E27FC236}">
                <a16:creationId xmlns:a16="http://schemas.microsoft.com/office/drawing/2014/main" id="{70557EF8-D01E-4E88-AD0E-9267E7A201C3}"/>
              </a:ext>
            </a:extLst>
          </p:cNvPr>
          <p:cNvSpPr txBox="1"/>
          <p:nvPr/>
        </p:nvSpPr>
        <p:spPr>
          <a:xfrm>
            <a:off x="816623" y="8930917"/>
            <a:ext cx="8816896" cy="707886"/>
          </a:xfrm>
          <a:prstGeom prst="rect">
            <a:avLst/>
          </a:prstGeom>
          <a:noFill/>
          <a:ln>
            <a:noFill/>
          </a:ln>
        </p:spPr>
        <p:txBody>
          <a:bodyPr wrap="square">
            <a:spAutoFit/>
          </a:bodyPr>
          <a:lstStyle/>
          <a:p>
            <a:r>
              <a:rPr lang="ja-JP" altLang="en-US" sz="1200" dirty="0">
                <a:latin typeface="メイリオ" panose="020B0604030504040204" pitchFamily="50" charset="-128"/>
                <a:ea typeface="メイリオ" panose="020B0604030504040204" pitchFamily="50" charset="-128"/>
              </a:rPr>
              <a:t>各筋肉の転倒や骨折のリスクとの関係を、</a:t>
            </a:r>
            <a:r>
              <a:rPr lang="ja-JP" altLang="en-US" sz="1600" dirty="0">
                <a:latin typeface="メイリオ" panose="020B0604030504040204" pitchFamily="50" charset="-128"/>
                <a:ea typeface="メイリオ" panose="020B0604030504040204" pitchFamily="50" charset="-128"/>
              </a:rPr>
              <a:t>◎</a:t>
            </a:r>
            <a:r>
              <a:rPr lang="ja-JP" altLang="en-US" sz="1200" dirty="0">
                <a:latin typeface="メイリオ" panose="020B0604030504040204" pitchFamily="50" charset="-128"/>
                <a:ea typeface="メイリオ" panose="020B0604030504040204" pitchFamily="50" charset="-128"/>
              </a:rPr>
              <a:t>：強く関係あり　○：関係あり　△：間接的に関係あり、として示しています。このリスクは独自調査によるもので参考程度の利用にとどめてください。なお、膝</a:t>
            </a:r>
            <a:r>
              <a:rPr lang="en-US" altLang="ja-JP" sz="1200" dirty="0">
                <a:latin typeface="メイリオ" panose="020B0604030504040204" pitchFamily="50" charset="-128"/>
                <a:ea typeface="メイリオ" panose="020B0604030504040204" pitchFamily="50" charset="-128"/>
              </a:rPr>
              <a:t>OA</a:t>
            </a:r>
            <a:r>
              <a:rPr lang="ja-JP" altLang="en-US" sz="1200" dirty="0">
                <a:latin typeface="メイリオ" panose="020B0604030504040204" pitchFamily="50" charset="-128"/>
                <a:ea typeface="メイリオ" panose="020B0604030504040204" pitchFamily="50" charset="-128"/>
              </a:rPr>
              <a:t>は「変形性ひざ関節症」（膝の軟骨がすり減って痛みや変形が出てくる病気で、筋質の低下が発症や進行に関連すると言われています）のことです。</a:t>
            </a:r>
          </a:p>
        </p:txBody>
      </p:sp>
      <p:sp>
        <p:nvSpPr>
          <p:cNvPr id="76" name="矢印: 上 75">
            <a:extLst>
              <a:ext uri="{FF2B5EF4-FFF2-40B4-BE49-F238E27FC236}">
                <a16:creationId xmlns:a16="http://schemas.microsoft.com/office/drawing/2014/main" id="{6446311F-E5CE-4308-9088-B2C2582B40E2}"/>
              </a:ext>
            </a:extLst>
          </p:cNvPr>
          <p:cNvSpPr/>
          <p:nvPr/>
        </p:nvSpPr>
        <p:spPr>
          <a:xfrm flipV="1">
            <a:off x="6288045" y="6397279"/>
            <a:ext cx="191964" cy="1130770"/>
          </a:xfrm>
          <a:prstGeom prst="upArrow">
            <a:avLst>
              <a:gd name="adj1" fmla="val 42782"/>
              <a:gd name="adj2" fmla="val 95673"/>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61" name="矢印: 上 60">
            <a:extLst>
              <a:ext uri="{FF2B5EF4-FFF2-40B4-BE49-F238E27FC236}">
                <a16:creationId xmlns:a16="http://schemas.microsoft.com/office/drawing/2014/main" id="{D7883AEC-383F-4A5C-B2C4-21FDFF2E9956}"/>
              </a:ext>
            </a:extLst>
          </p:cNvPr>
          <p:cNvSpPr/>
          <p:nvPr/>
        </p:nvSpPr>
        <p:spPr>
          <a:xfrm>
            <a:off x="6288046" y="3794483"/>
            <a:ext cx="191964" cy="994103"/>
          </a:xfrm>
          <a:prstGeom prst="upArrow">
            <a:avLst>
              <a:gd name="adj1" fmla="val 42782"/>
              <a:gd name="adj2" fmla="val 95673"/>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74" name="テキスト ボックス 73">
            <a:extLst>
              <a:ext uri="{FF2B5EF4-FFF2-40B4-BE49-F238E27FC236}">
                <a16:creationId xmlns:a16="http://schemas.microsoft.com/office/drawing/2014/main" id="{EF4B2233-5F99-4A1C-BB9C-DB247B415A19}"/>
              </a:ext>
            </a:extLst>
          </p:cNvPr>
          <p:cNvSpPr txBox="1"/>
          <p:nvPr/>
        </p:nvSpPr>
        <p:spPr>
          <a:xfrm>
            <a:off x="3564642" y="258189"/>
            <a:ext cx="9059015" cy="430887"/>
          </a:xfrm>
          <a:prstGeom prst="rect">
            <a:avLst/>
          </a:prstGeom>
          <a:noFill/>
        </p:spPr>
        <p:txBody>
          <a:bodyPr wrap="square" rtlCol="0">
            <a:spAutoFit/>
          </a:bodyPr>
          <a:lstStyle/>
          <a:p>
            <a:pPr algn="r"/>
            <a:r>
              <a:rPr kumimoji="1" lang="ja-JP" altLang="en-US" sz="1100" dirty="0">
                <a:latin typeface="メイリオ" panose="020B0604030504040204" pitchFamily="50" charset="-128"/>
                <a:ea typeface="メイリオ" panose="020B0604030504040204" pitchFamily="50" charset="-128"/>
              </a:rPr>
              <a:t>お名前</a:t>
            </a:r>
            <a:r>
              <a:rPr kumimoji="1" lang="en-US" altLang="ja-JP" sz="1100" dirty="0">
                <a:latin typeface="メイリオ" panose="020B0604030504040204" pitchFamily="50" charset="-128"/>
                <a:ea typeface="メイリオ" panose="020B0604030504040204" pitchFamily="50" charset="-128"/>
              </a:rPr>
              <a:t>: {{NAME}}</a:t>
            </a:r>
            <a:r>
              <a:rPr kumimoji="1" lang="ja-JP" altLang="en-US" sz="1100" dirty="0">
                <a:latin typeface="メイリオ" panose="020B0604030504040204" pitchFamily="50" charset="-128"/>
                <a:ea typeface="メイリオ" panose="020B0604030504040204" pitchFamily="50" charset="-128"/>
              </a:rPr>
              <a:t>様</a:t>
            </a:r>
            <a:r>
              <a:rPr kumimoji="1" lang="en-US" altLang="ja-JP" sz="1100" dirty="0">
                <a:latin typeface="メイリオ" panose="020B0604030504040204" pitchFamily="50" charset="-128"/>
                <a:ea typeface="メイリオ" panose="020B0604030504040204" pitchFamily="50" charset="-128"/>
              </a:rPr>
              <a:t>, {{SEX}}, {{BIRTH_YEAR}}</a:t>
            </a:r>
            <a:r>
              <a:rPr kumimoji="1" lang="ja-JP" altLang="en-US" sz="1100" dirty="0">
                <a:latin typeface="メイリオ" panose="020B0604030504040204" pitchFamily="50" charset="-128"/>
                <a:ea typeface="メイリオ" panose="020B0604030504040204" pitchFamily="50" charset="-128"/>
              </a:rPr>
              <a:t>年</a:t>
            </a:r>
            <a:r>
              <a:rPr kumimoji="1" lang="en-US" altLang="ja-JP" sz="1100" dirty="0">
                <a:latin typeface="メイリオ" panose="020B0604030504040204" pitchFamily="50" charset="-128"/>
                <a:ea typeface="メイリオ" panose="020B0604030504040204" pitchFamily="50" charset="-128"/>
              </a:rPr>
              <a:t>{{BIRTH_MONTH}}</a:t>
            </a:r>
            <a:r>
              <a:rPr kumimoji="1" lang="ja-JP" altLang="en-US" sz="1100" dirty="0">
                <a:latin typeface="メイリオ" panose="020B0604030504040204" pitchFamily="50" charset="-128"/>
                <a:ea typeface="メイリオ" panose="020B0604030504040204" pitchFamily="50" charset="-128"/>
              </a:rPr>
              <a:t>月</a:t>
            </a:r>
            <a:r>
              <a:rPr kumimoji="1" lang="en-US" altLang="ja-JP" sz="1100" dirty="0">
                <a:latin typeface="メイリオ" panose="020B0604030504040204" pitchFamily="50" charset="-128"/>
                <a:ea typeface="メイリオ" panose="020B0604030504040204" pitchFamily="50" charset="-128"/>
              </a:rPr>
              <a:t>{{BIRTH_DAY}}</a:t>
            </a:r>
            <a:r>
              <a:rPr kumimoji="1" lang="ja-JP" altLang="en-US" sz="1100" dirty="0">
                <a:latin typeface="メイリオ" panose="020B0604030504040204" pitchFamily="50" charset="-128"/>
                <a:ea typeface="メイリオ" panose="020B0604030504040204" pitchFamily="50" charset="-128"/>
              </a:rPr>
              <a:t>日生</a:t>
            </a:r>
            <a:r>
              <a:rPr kumimoji="1" lang="en-US" altLang="ja-JP" sz="1100" dirty="0">
                <a:latin typeface="メイリオ" panose="020B0604030504040204" pitchFamily="50" charset="-128"/>
                <a:ea typeface="メイリオ" panose="020B0604030504040204" pitchFamily="50" charset="-128"/>
              </a:rPr>
              <a:t>,  </a:t>
            </a:r>
            <a:r>
              <a:rPr kumimoji="1" lang="ja-JP" altLang="en-US" sz="1100" dirty="0">
                <a:latin typeface="メイリオ" panose="020B0604030504040204" pitchFamily="50" charset="-128"/>
                <a:ea typeface="メイリオ" panose="020B0604030504040204" pitchFamily="50" charset="-128"/>
              </a:rPr>
              <a:t>身長</a:t>
            </a:r>
            <a:r>
              <a:rPr kumimoji="1" lang="en-US" altLang="ja-JP" sz="1100" dirty="0">
                <a:latin typeface="メイリオ" panose="020B0604030504040204" pitchFamily="50" charset="-128"/>
                <a:ea typeface="メイリオ" panose="020B0604030504040204" pitchFamily="50" charset="-128"/>
              </a:rPr>
              <a:t>: {{HEIGHT}}cm, </a:t>
            </a:r>
            <a:r>
              <a:rPr kumimoji="1" lang="ja-JP" altLang="en-US" sz="1100" dirty="0">
                <a:latin typeface="メイリオ" panose="020B0604030504040204" pitchFamily="50" charset="-128"/>
                <a:ea typeface="メイリオ" panose="020B0604030504040204" pitchFamily="50" charset="-128"/>
              </a:rPr>
              <a:t>体重</a:t>
            </a:r>
            <a:r>
              <a:rPr kumimoji="1" lang="en-US" altLang="ja-JP" sz="1100" dirty="0">
                <a:latin typeface="メイリオ" panose="020B0604030504040204" pitchFamily="50" charset="-128"/>
                <a:ea typeface="メイリオ" panose="020B0604030504040204" pitchFamily="50" charset="-128"/>
              </a:rPr>
              <a:t>: {{WEIGHT}}kg, </a:t>
            </a:r>
            <a:r>
              <a:rPr kumimoji="1" lang="ja-JP" altLang="en-US" sz="1100" dirty="0">
                <a:latin typeface="メイリオ" panose="020B0604030504040204" pitchFamily="50" charset="-128"/>
                <a:ea typeface="メイリオ" panose="020B0604030504040204" pitchFamily="50" charset="-128"/>
              </a:rPr>
              <a:t>撮影時年齢 </a:t>
            </a:r>
            <a:r>
              <a:rPr kumimoji="1" lang="en-US" altLang="ja-JP" sz="1100" dirty="0">
                <a:latin typeface="メイリオ" panose="020B0604030504040204" pitchFamily="50" charset="-128"/>
                <a:ea typeface="メイリオ" panose="020B0604030504040204" pitchFamily="50" charset="-128"/>
              </a:rPr>
              <a:t>{{AGE}}</a:t>
            </a:r>
            <a:r>
              <a:rPr kumimoji="1" lang="ja-JP" altLang="en-US" sz="1100" dirty="0">
                <a:latin typeface="メイリオ" panose="020B0604030504040204" pitchFamily="50" charset="-128"/>
                <a:ea typeface="メイリオ" panose="020B0604030504040204" pitchFamily="50" charset="-128"/>
              </a:rPr>
              <a:t>歳 </a:t>
            </a:r>
            <a:r>
              <a:rPr kumimoji="1" lang="en-US" altLang="ja-JP" sz="1100" dirty="0">
                <a:latin typeface="メイリオ" panose="020B0604030504040204" pitchFamily="50" charset="-128"/>
                <a:ea typeface="メイリオ" panose="020B0604030504040204" pitchFamily="50" charset="-128"/>
              </a:rPr>
              <a:t>({{SHOOTING_YEAR}}</a:t>
            </a:r>
            <a:r>
              <a:rPr kumimoji="1" lang="ja-JP" altLang="en-US" sz="1100" dirty="0">
                <a:latin typeface="メイリオ" panose="020B0604030504040204" pitchFamily="50" charset="-128"/>
                <a:ea typeface="メイリオ" panose="020B0604030504040204" pitchFamily="50" charset="-128"/>
              </a:rPr>
              <a:t>年</a:t>
            </a:r>
            <a:r>
              <a:rPr kumimoji="1" lang="en-US" altLang="ja-JP" sz="1100" dirty="0">
                <a:latin typeface="メイリオ" panose="020B0604030504040204" pitchFamily="50" charset="-128"/>
                <a:ea typeface="メイリオ" panose="020B0604030504040204" pitchFamily="50" charset="-128"/>
              </a:rPr>
              <a:t>{{SHOOTING_MONTH}}</a:t>
            </a:r>
            <a:r>
              <a:rPr kumimoji="1" lang="ja-JP" altLang="en-US" sz="1100" dirty="0">
                <a:latin typeface="メイリオ" panose="020B0604030504040204" pitchFamily="50" charset="-128"/>
                <a:ea typeface="メイリオ" panose="020B0604030504040204" pitchFamily="50" charset="-128"/>
              </a:rPr>
              <a:t>月</a:t>
            </a:r>
            <a:r>
              <a:rPr kumimoji="1" lang="en-US" altLang="ja-JP" sz="1100" dirty="0">
                <a:latin typeface="メイリオ" panose="020B0604030504040204" pitchFamily="50" charset="-128"/>
                <a:ea typeface="メイリオ" panose="020B0604030504040204" pitchFamily="50" charset="-128"/>
              </a:rPr>
              <a:t>{{SHOOTING_DAY}}</a:t>
            </a:r>
            <a:r>
              <a:rPr kumimoji="1" lang="ja-JP" altLang="en-US" sz="1100" dirty="0">
                <a:latin typeface="メイリオ" panose="020B0604030504040204" pitchFamily="50" charset="-128"/>
                <a:ea typeface="メイリオ" panose="020B0604030504040204" pitchFamily="50" charset="-128"/>
              </a:rPr>
              <a:t>日撮影</a:t>
            </a:r>
            <a:r>
              <a:rPr kumimoji="1" lang="en-US" altLang="ja-JP" sz="1100" dirty="0">
                <a:latin typeface="メイリオ" panose="020B0604030504040204" pitchFamily="50" charset="-128"/>
                <a:ea typeface="メイリオ" panose="020B0604030504040204" pitchFamily="50" charset="-128"/>
              </a:rPr>
              <a:t>) </a:t>
            </a:r>
            <a:endParaRPr kumimoji="1" lang="ja-JP" altLang="en-US" sz="1100" dirty="0">
              <a:latin typeface="メイリオ" panose="020B0604030504040204" pitchFamily="50" charset="-128"/>
              <a:ea typeface="メイリオ" panose="020B0604030504040204" pitchFamily="50" charset="-128"/>
            </a:endParaRPr>
          </a:p>
        </p:txBody>
      </p:sp>
      <p:sp>
        <p:nvSpPr>
          <p:cNvPr id="2" name="スライド番号プレースホルダー 1">
            <a:extLst>
              <a:ext uri="{FF2B5EF4-FFF2-40B4-BE49-F238E27FC236}">
                <a16:creationId xmlns:a16="http://schemas.microsoft.com/office/drawing/2014/main" id="{9D89FA5C-D34E-41F5-B1A4-822D9417154D}"/>
              </a:ext>
            </a:extLst>
          </p:cNvPr>
          <p:cNvSpPr>
            <a:spLocks noGrp="1"/>
          </p:cNvSpPr>
          <p:nvPr>
            <p:ph type="sldNum" sz="quarter" idx="12"/>
          </p:nvPr>
        </p:nvSpPr>
        <p:spPr/>
        <p:txBody>
          <a:bodyPr/>
          <a:lstStyle/>
          <a:p>
            <a:fld id="{AD811822-4739-4079-91F6-9F51ED4B0761}" type="slidenum">
              <a:rPr kumimoji="1" lang="ja-JP" altLang="en-US" smtClean="0"/>
              <a:t>2</a:t>
            </a:fld>
            <a:endParaRPr kumimoji="1" lang="ja-JP" altLang="en-US"/>
          </a:p>
        </p:txBody>
      </p:sp>
      <p:grpSp>
        <p:nvGrpSpPr>
          <p:cNvPr id="97" name="グループ化 96">
            <a:extLst>
              <a:ext uri="{FF2B5EF4-FFF2-40B4-BE49-F238E27FC236}">
                <a16:creationId xmlns:a16="http://schemas.microsoft.com/office/drawing/2014/main" id="{87801509-4901-44D0-8FD8-121BC3507531}"/>
              </a:ext>
            </a:extLst>
          </p:cNvPr>
          <p:cNvGrpSpPr/>
          <p:nvPr/>
        </p:nvGrpSpPr>
        <p:grpSpPr>
          <a:xfrm>
            <a:off x="10593307" y="9176977"/>
            <a:ext cx="2203720" cy="406521"/>
            <a:chOff x="4454891" y="1886449"/>
            <a:chExt cx="2203720" cy="406521"/>
          </a:xfrm>
        </p:grpSpPr>
        <p:pic>
          <p:nvPicPr>
            <p:cNvPr id="98" name="図 97">
              <a:extLst>
                <a:ext uri="{FF2B5EF4-FFF2-40B4-BE49-F238E27FC236}">
                  <a16:creationId xmlns:a16="http://schemas.microsoft.com/office/drawing/2014/main" id="{5D963E45-9762-4793-9381-B1A4CB1D0C69}"/>
                </a:ext>
              </a:extLst>
            </p:cNvPr>
            <p:cNvPicPr>
              <a:picLocks noChangeAspect="1"/>
            </p:cNvPicPr>
            <p:nvPr/>
          </p:nvPicPr>
          <p:blipFill>
            <a:blip r:embed="rId3"/>
            <a:stretch>
              <a:fillRect/>
            </a:stretch>
          </p:blipFill>
          <p:spPr>
            <a:xfrm>
              <a:off x="6235997" y="1889545"/>
              <a:ext cx="422614" cy="400328"/>
            </a:xfrm>
            <a:prstGeom prst="rect">
              <a:avLst/>
            </a:prstGeom>
          </p:spPr>
        </p:pic>
        <p:pic>
          <p:nvPicPr>
            <p:cNvPr id="99" name="Picture 8">
              <a:extLst>
                <a:ext uri="{FF2B5EF4-FFF2-40B4-BE49-F238E27FC236}">
                  <a16:creationId xmlns:a16="http://schemas.microsoft.com/office/drawing/2014/main" id="{370ABE4A-A875-43EE-BF05-5AAE1AB5984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30846" y="1924681"/>
              <a:ext cx="475231" cy="330056"/>
            </a:xfrm>
            <a:prstGeom prst="rect">
              <a:avLst/>
            </a:prstGeom>
            <a:noFill/>
            <a:extLst>
              <a:ext uri="{909E8E84-426E-40DD-AFC4-6F175D3DCCD1}">
                <a14:hiddenFill xmlns:a14="http://schemas.microsoft.com/office/drawing/2010/main">
                  <a:solidFill>
                    <a:srgbClr val="FFFFFF"/>
                  </a:solidFill>
                </a14:hiddenFill>
              </a:ext>
            </a:extLst>
          </p:spPr>
        </p:pic>
        <p:pic>
          <p:nvPicPr>
            <p:cNvPr id="100" name="Picture 10">
              <a:extLst>
                <a:ext uri="{FF2B5EF4-FFF2-40B4-BE49-F238E27FC236}">
                  <a16:creationId xmlns:a16="http://schemas.microsoft.com/office/drawing/2014/main" id="{0BF0F718-7761-4535-BBC6-0CEEE56E8DF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857415" y="1886449"/>
              <a:ext cx="403424" cy="403424"/>
            </a:xfrm>
            <a:prstGeom prst="rect">
              <a:avLst/>
            </a:prstGeom>
            <a:noFill/>
            <a:extLst>
              <a:ext uri="{909E8E84-426E-40DD-AFC4-6F175D3DCCD1}">
                <a14:hiddenFill xmlns:a14="http://schemas.microsoft.com/office/drawing/2010/main">
                  <a:solidFill>
                    <a:srgbClr val="FFFFFF"/>
                  </a:solidFill>
                </a14:hiddenFill>
              </a:ext>
            </a:extLst>
          </p:spPr>
        </p:pic>
        <p:pic>
          <p:nvPicPr>
            <p:cNvPr id="101" name="Picture 12">
              <a:extLst>
                <a:ext uri="{FF2B5EF4-FFF2-40B4-BE49-F238E27FC236}">
                  <a16:creationId xmlns:a16="http://schemas.microsoft.com/office/drawing/2014/main" id="{CCA362B5-7C2C-41C4-BB01-1ACA06314AB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454891" y="1924681"/>
              <a:ext cx="356191" cy="351311"/>
            </a:xfrm>
            <a:prstGeom prst="rect">
              <a:avLst/>
            </a:prstGeom>
            <a:noFill/>
            <a:extLst>
              <a:ext uri="{909E8E84-426E-40DD-AFC4-6F175D3DCCD1}">
                <a14:hiddenFill xmlns:a14="http://schemas.microsoft.com/office/drawing/2010/main">
                  <a:solidFill>
                    <a:srgbClr val="FFFFFF"/>
                  </a:solidFill>
                </a14:hiddenFill>
              </a:ext>
            </a:extLst>
          </p:spPr>
        </p:pic>
        <p:pic>
          <p:nvPicPr>
            <p:cNvPr id="102" name="Picture 14" descr="コーポレートアイデンティティ（CI）｜洛和会ヘルスケアシステム">
              <a:extLst>
                <a:ext uri="{FF2B5EF4-FFF2-40B4-BE49-F238E27FC236}">
                  <a16:creationId xmlns:a16="http://schemas.microsoft.com/office/drawing/2014/main" id="{5887EB9D-F3E9-4896-9359-A6BB9DC1DB3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307172" y="1889545"/>
              <a:ext cx="358599" cy="403425"/>
            </a:xfrm>
            <a:prstGeom prst="rect">
              <a:avLst/>
            </a:prstGeom>
            <a:noFill/>
            <a:extLst>
              <a:ext uri="{909E8E84-426E-40DD-AFC4-6F175D3DCCD1}">
                <a14:hiddenFill xmlns:a14="http://schemas.microsoft.com/office/drawing/2010/main">
                  <a:solidFill>
                    <a:srgbClr val="FFFFFF"/>
                  </a:solidFill>
                </a14:hiddenFill>
              </a:ext>
            </a:extLst>
          </p:spPr>
        </p:pic>
      </p:grpSp>
      <p:graphicFrame>
        <p:nvGraphicFramePr>
          <p:cNvPr id="80" name="表 79">
            <a:extLst>
              <a:ext uri="{FF2B5EF4-FFF2-40B4-BE49-F238E27FC236}">
                <a16:creationId xmlns:a16="http://schemas.microsoft.com/office/drawing/2014/main" id="{12D6D250-0B30-41C3-BBF1-E1DA0284663E}"/>
              </a:ext>
            </a:extLst>
          </p:cNvPr>
          <p:cNvGraphicFramePr>
            <a:graphicFrameLocks noGrp="1"/>
          </p:cNvGraphicFramePr>
          <p:nvPr>
            <p:extLst>
              <p:ext uri="{D42A27DB-BD31-4B8C-83A1-F6EECF244321}">
                <p14:modId xmlns:p14="http://schemas.microsoft.com/office/powerpoint/2010/main" val="1220805030"/>
              </p:ext>
            </p:extLst>
          </p:nvPr>
        </p:nvGraphicFramePr>
        <p:xfrm>
          <a:off x="1037925" y="2890136"/>
          <a:ext cx="1231515" cy="1359549"/>
        </p:xfrm>
        <a:graphic>
          <a:graphicData uri="http://schemas.openxmlformats.org/drawingml/2006/table">
            <a:tbl>
              <a:tblPr firstRow="1" bandRow="1">
                <a:tableStyleId>{8799B23B-EC83-4686-B30A-512413B5E67A}</a:tableStyleId>
              </a:tblPr>
              <a:tblGrid>
                <a:gridCol w="321806">
                  <a:extLst>
                    <a:ext uri="{9D8B030D-6E8A-4147-A177-3AD203B41FA5}">
                      <a16:colId xmlns:a16="http://schemas.microsoft.com/office/drawing/2014/main" val="3169332520"/>
                    </a:ext>
                  </a:extLst>
                </a:gridCol>
                <a:gridCol w="909709">
                  <a:extLst>
                    <a:ext uri="{9D8B030D-6E8A-4147-A177-3AD203B41FA5}">
                      <a16:colId xmlns:a16="http://schemas.microsoft.com/office/drawing/2014/main" val="426943108"/>
                    </a:ext>
                  </a:extLst>
                </a:gridCol>
              </a:tblGrid>
              <a:tr h="1359549">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1" lang="ja-JP" altLang="en-US" sz="1100" b="1" i="0" u="none" strike="noStrike" kern="1200" cap="none" spc="0" normalizeH="0" baseline="0" dirty="0">
                          <a:ln>
                            <a:noFill/>
                          </a:ln>
                          <a:solidFill>
                            <a:prstClr val="black"/>
                          </a:solidFill>
                          <a:effectLst/>
                          <a:uLnTx/>
                          <a:uFillTx/>
                          <a:latin typeface="メイリオ" panose="020B0604030504040204" pitchFamily="50" charset="-128"/>
                          <a:ea typeface="メイリオ" panose="020B0604030504040204" pitchFamily="50" charset="-128"/>
                          <a:cs typeface="+mn-cs"/>
                        </a:rPr>
                        <a:t>胸・お腹</a:t>
                      </a:r>
                    </a:p>
                  </a:txBody>
                  <a:tcPr anchor="ctr"/>
                </a:tc>
                <a:tc>
                  <a:txBody>
                    <a:bodyPr/>
                    <a:lstStyle/>
                    <a:p>
                      <a:r>
                        <a:rPr lang="ja-JP" altLang="en-US" sz="1000" b="0" dirty="0">
                          <a:latin typeface="メイリオ" panose="020B0604030504040204" pitchFamily="50" charset="-128"/>
                          <a:ea typeface="メイリオ" panose="020B0604030504040204" pitchFamily="50" charset="-128"/>
                        </a:rPr>
                        <a:t>大胸筋</a:t>
                      </a:r>
                      <a:endParaRPr lang="en-US" altLang="ja-JP" sz="1000" b="0" dirty="0">
                        <a:latin typeface="メイリオ" panose="020B0604030504040204" pitchFamily="50" charset="-128"/>
                        <a:ea typeface="メイリオ" panose="020B0604030504040204" pitchFamily="50" charset="-128"/>
                      </a:endParaRPr>
                    </a:p>
                    <a:p>
                      <a:r>
                        <a:rPr lang="ja-JP" altLang="en-US" sz="1000" b="0" dirty="0">
                          <a:latin typeface="メイリオ" panose="020B0604030504040204" pitchFamily="50" charset="-128"/>
                          <a:ea typeface="メイリオ" panose="020B0604030504040204" pitchFamily="50" charset="-128"/>
                        </a:rPr>
                        <a:t>小胸筋</a:t>
                      </a:r>
                      <a:endParaRPr lang="en-US" altLang="ja-JP" sz="1000" b="0" dirty="0">
                        <a:latin typeface="メイリオ" panose="020B0604030504040204" pitchFamily="50" charset="-128"/>
                        <a:ea typeface="メイリオ" panose="020B0604030504040204" pitchFamily="50" charset="-128"/>
                      </a:endParaRPr>
                    </a:p>
                    <a:p>
                      <a:r>
                        <a:rPr lang="ja-JP" altLang="en-US" sz="1000" b="0" dirty="0">
                          <a:latin typeface="メイリオ" panose="020B0604030504040204" pitchFamily="50" charset="-128"/>
                          <a:ea typeface="メイリオ" panose="020B0604030504040204" pitchFamily="50" charset="-128"/>
                        </a:rPr>
                        <a:t>前鋸筋</a:t>
                      </a:r>
                      <a:endParaRPr lang="en-US" altLang="ja-JP" sz="1000" b="0" dirty="0">
                        <a:latin typeface="メイリオ" panose="020B0604030504040204" pitchFamily="50" charset="-128"/>
                        <a:ea typeface="メイリオ" panose="020B0604030504040204" pitchFamily="50" charset="-128"/>
                      </a:endParaRPr>
                    </a:p>
                    <a:p>
                      <a:r>
                        <a:rPr lang="ja-JP" altLang="en-US" sz="1000" b="0" dirty="0">
                          <a:solidFill>
                            <a:srgbClr val="FF0000"/>
                          </a:solidFill>
                          <a:latin typeface="メイリオ" panose="020B0604030504040204" pitchFamily="50" charset="-128"/>
                          <a:ea typeface="メイリオ" panose="020B0604030504040204" pitchFamily="50" charset="-128"/>
                        </a:rPr>
                        <a:t>肋間筋</a:t>
                      </a:r>
                      <a:endParaRPr lang="en-US" altLang="ja-JP" sz="1000" b="0" dirty="0">
                        <a:solidFill>
                          <a:srgbClr val="FF0000"/>
                        </a:solidFill>
                        <a:latin typeface="メイリオ" panose="020B0604030504040204" pitchFamily="50" charset="-128"/>
                        <a:ea typeface="メイリオ" panose="020B0604030504040204" pitchFamily="50" charset="-128"/>
                      </a:endParaRPr>
                    </a:p>
                    <a:p>
                      <a:r>
                        <a:rPr lang="ja-JP" altLang="en-US" sz="1000" b="0" dirty="0">
                          <a:solidFill>
                            <a:srgbClr val="FF0000"/>
                          </a:solidFill>
                          <a:latin typeface="メイリオ" panose="020B0604030504040204" pitchFamily="50" charset="-128"/>
                          <a:ea typeface="メイリオ" panose="020B0604030504040204" pitchFamily="50" charset="-128"/>
                        </a:rPr>
                        <a:t>腹直筋</a:t>
                      </a:r>
                      <a:endParaRPr lang="en-US" altLang="ja-JP" sz="1000" b="0" dirty="0">
                        <a:solidFill>
                          <a:srgbClr val="FF0000"/>
                        </a:solidFill>
                        <a:latin typeface="メイリオ" panose="020B0604030504040204" pitchFamily="50" charset="-128"/>
                        <a:ea typeface="メイリオ" panose="020B0604030504040204" pitchFamily="50" charset="-128"/>
                      </a:endParaRPr>
                    </a:p>
                    <a:p>
                      <a:r>
                        <a:rPr lang="ja-JP" altLang="en-US" sz="1000" b="0" dirty="0">
                          <a:solidFill>
                            <a:srgbClr val="FF0000"/>
                          </a:solidFill>
                          <a:latin typeface="メイリオ" panose="020B0604030504040204" pitchFamily="50" charset="-128"/>
                          <a:ea typeface="メイリオ" panose="020B0604030504040204" pitchFamily="50" charset="-128"/>
                        </a:rPr>
                        <a:t>内腹斜筋</a:t>
                      </a:r>
                      <a:endParaRPr lang="en-US" altLang="ja-JP" sz="1000" b="0" dirty="0">
                        <a:solidFill>
                          <a:srgbClr val="FF0000"/>
                        </a:solidFill>
                        <a:latin typeface="メイリオ" panose="020B0604030504040204" pitchFamily="50" charset="-128"/>
                        <a:ea typeface="メイリオ" panose="020B0604030504040204" pitchFamily="50" charset="-128"/>
                      </a:endParaRPr>
                    </a:p>
                    <a:p>
                      <a:r>
                        <a:rPr lang="ja-JP" altLang="en-US" sz="1000" b="0" dirty="0">
                          <a:solidFill>
                            <a:srgbClr val="FF0000"/>
                          </a:solidFill>
                          <a:latin typeface="メイリオ" panose="020B0604030504040204" pitchFamily="50" charset="-128"/>
                          <a:ea typeface="メイリオ" panose="020B0604030504040204" pitchFamily="50" charset="-128"/>
                        </a:rPr>
                        <a:t>外腹斜筋</a:t>
                      </a:r>
                      <a:endParaRPr lang="en-US" altLang="ja-JP" sz="1000" b="0" dirty="0">
                        <a:solidFill>
                          <a:srgbClr val="FF0000"/>
                        </a:solidFill>
                        <a:latin typeface="メイリオ" panose="020B0604030504040204" pitchFamily="50" charset="-128"/>
                        <a:ea typeface="メイリオ" panose="020B0604030504040204" pitchFamily="50" charset="-128"/>
                      </a:endParaRPr>
                    </a:p>
                    <a:p>
                      <a:r>
                        <a:rPr lang="ja-JP" altLang="en-US" sz="1000" b="0" dirty="0">
                          <a:solidFill>
                            <a:srgbClr val="FF0000"/>
                          </a:solidFill>
                          <a:latin typeface="メイリオ" panose="020B0604030504040204" pitchFamily="50" charset="-128"/>
                          <a:ea typeface="メイリオ" panose="020B0604030504040204" pitchFamily="50" charset="-128"/>
                        </a:rPr>
                        <a:t>腹横筋</a:t>
                      </a:r>
                      <a:endParaRPr lang="en-US" altLang="ja-JP" sz="1000" b="0" dirty="0">
                        <a:solidFill>
                          <a:srgbClr val="FF0000"/>
                        </a:solidFill>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1173203978"/>
                  </a:ext>
                </a:extLst>
              </a:tr>
            </a:tbl>
          </a:graphicData>
        </a:graphic>
      </p:graphicFrame>
      <p:sp>
        <p:nvSpPr>
          <p:cNvPr id="81" name="テキスト ボックス 80">
            <a:extLst>
              <a:ext uri="{FF2B5EF4-FFF2-40B4-BE49-F238E27FC236}">
                <a16:creationId xmlns:a16="http://schemas.microsoft.com/office/drawing/2014/main" id="{E8DF3E2E-B29A-4C64-A5E4-05AA85368B3D}"/>
              </a:ext>
            </a:extLst>
          </p:cNvPr>
          <p:cNvSpPr txBox="1"/>
          <p:nvPr/>
        </p:nvSpPr>
        <p:spPr>
          <a:xfrm>
            <a:off x="968690" y="4246772"/>
            <a:ext cx="2764128" cy="253916"/>
          </a:xfrm>
          <a:prstGeom prst="rect">
            <a:avLst/>
          </a:prstGeom>
          <a:noFill/>
        </p:spPr>
        <p:txBody>
          <a:bodyPr wrap="square">
            <a:spAutoFit/>
          </a:bodyPr>
          <a:lstStyle/>
          <a:p>
            <a:r>
              <a:rPr lang="ja-JP" altLang="en-US" sz="1050" b="1" dirty="0">
                <a:latin typeface="メイリオ" panose="020B0604030504040204" pitchFamily="50" charset="-128"/>
                <a:ea typeface="メイリオ" panose="020B0604030504040204" pitchFamily="50" charset="-128"/>
              </a:rPr>
              <a:t>機能：体幹の安定、姿勢保持、呼吸補助</a:t>
            </a:r>
            <a:endParaRPr lang="en-US" altLang="ja-JP" sz="1050" b="1" dirty="0">
              <a:latin typeface="メイリオ" panose="020B0604030504040204" pitchFamily="50" charset="-128"/>
              <a:ea typeface="メイリオ" panose="020B0604030504040204" pitchFamily="50" charset="-128"/>
            </a:endParaRPr>
          </a:p>
        </p:txBody>
      </p:sp>
      <p:sp>
        <p:nvSpPr>
          <p:cNvPr id="82" name="テキスト ボックス 81">
            <a:extLst>
              <a:ext uri="{FF2B5EF4-FFF2-40B4-BE49-F238E27FC236}">
                <a16:creationId xmlns:a16="http://schemas.microsoft.com/office/drawing/2014/main" id="{EAD579E4-8038-4E5E-B5B1-8F613634BF5E}"/>
              </a:ext>
            </a:extLst>
          </p:cNvPr>
          <p:cNvSpPr txBox="1"/>
          <p:nvPr/>
        </p:nvSpPr>
        <p:spPr>
          <a:xfrm>
            <a:off x="968427" y="4414948"/>
            <a:ext cx="1194799" cy="246221"/>
          </a:xfrm>
          <a:prstGeom prst="rect">
            <a:avLst/>
          </a:prstGeom>
          <a:noFill/>
        </p:spPr>
        <p:txBody>
          <a:bodyPr wrap="square">
            <a:spAutoFit/>
          </a:bodyPr>
          <a:lstStyle/>
          <a:p>
            <a:r>
              <a:rPr lang="ja-JP" altLang="en-US" sz="1000" dirty="0">
                <a:latin typeface="メイリオ" panose="020B0604030504040204" pitchFamily="50" charset="-128"/>
                <a:ea typeface="メイリオ" panose="020B0604030504040204" pitchFamily="50" charset="-128"/>
              </a:rPr>
              <a:t>△転倒リスク</a:t>
            </a:r>
          </a:p>
        </p:txBody>
      </p:sp>
      <p:sp>
        <p:nvSpPr>
          <p:cNvPr id="83" name="テキスト ボックス 82">
            <a:extLst>
              <a:ext uri="{FF2B5EF4-FFF2-40B4-BE49-F238E27FC236}">
                <a16:creationId xmlns:a16="http://schemas.microsoft.com/office/drawing/2014/main" id="{86E68F16-9ADB-4E4D-BFF9-780147ED4FD6}"/>
              </a:ext>
            </a:extLst>
          </p:cNvPr>
          <p:cNvSpPr txBox="1"/>
          <p:nvPr/>
        </p:nvSpPr>
        <p:spPr>
          <a:xfrm>
            <a:off x="1846945" y="4422943"/>
            <a:ext cx="1975165" cy="246221"/>
          </a:xfrm>
          <a:prstGeom prst="rect">
            <a:avLst/>
          </a:prstGeom>
          <a:noFill/>
        </p:spPr>
        <p:txBody>
          <a:bodyPr wrap="square">
            <a:spAutoFit/>
          </a:bodyPr>
          <a:lstStyle/>
          <a:p>
            <a:r>
              <a:rPr lang="ja-JP" altLang="en-US" sz="1000" dirty="0">
                <a:latin typeface="メイリオ" panose="020B0604030504040204" pitchFamily="50" charset="-128"/>
                <a:ea typeface="メイリオ" panose="020B0604030504040204" pitchFamily="50" charset="-128"/>
              </a:rPr>
              <a:t>△背骨疾患リスク</a:t>
            </a:r>
            <a:r>
              <a:rPr lang="ja-JP" altLang="en-US" sz="900" dirty="0">
                <a:latin typeface="メイリオ" panose="020B0604030504040204" pitchFamily="50" charset="-128"/>
                <a:ea typeface="メイリオ" panose="020B0604030504040204" pitchFamily="50" charset="-128"/>
              </a:rPr>
              <a:t>（骨折</a:t>
            </a:r>
            <a:r>
              <a:rPr lang="en-US" altLang="ja-JP" sz="900" dirty="0">
                <a:latin typeface="メイリオ" panose="020B0604030504040204" pitchFamily="50" charset="-128"/>
                <a:ea typeface="メイリオ" panose="020B0604030504040204" pitchFamily="50" charset="-128"/>
              </a:rPr>
              <a:t>/</a:t>
            </a:r>
            <a:r>
              <a:rPr lang="ja-JP" altLang="en-US" sz="900" dirty="0">
                <a:latin typeface="メイリオ" panose="020B0604030504040204" pitchFamily="50" charset="-128"/>
                <a:ea typeface="メイリオ" panose="020B0604030504040204" pitchFamily="50" charset="-128"/>
              </a:rPr>
              <a:t>狭窄）</a:t>
            </a:r>
            <a:endParaRPr lang="ja-JP" altLang="en-US" sz="1000" dirty="0">
              <a:latin typeface="メイリオ" panose="020B0604030504040204" pitchFamily="50" charset="-128"/>
              <a:ea typeface="メイリオ" panose="020B0604030504040204" pitchFamily="50" charset="-128"/>
            </a:endParaRPr>
          </a:p>
        </p:txBody>
      </p:sp>
      <p:sp>
        <p:nvSpPr>
          <p:cNvPr id="84" name="四角形: 角を丸くする 83">
            <a:extLst>
              <a:ext uri="{FF2B5EF4-FFF2-40B4-BE49-F238E27FC236}">
                <a16:creationId xmlns:a16="http://schemas.microsoft.com/office/drawing/2014/main" id="{8D3DA354-1FC7-471E-818B-22D6F67EFA92}"/>
              </a:ext>
            </a:extLst>
          </p:cNvPr>
          <p:cNvSpPr/>
          <p:nvPr/>
        </p:nvSpPr>
        <p:spPr>
          <a:xfrm>
            <a:off x="29200" y="2834154"/>
            <a:ext cx="4193298" cy="1801400"/>
          </a:xfrm>
          <a:prstGeom prst="roundRect">
            <a:avLst>
              <a:gd name="adj" fmla="val 4247"/>
            </a:avLst>
          </a:prstGeom>
          <a:no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85" name="四角形: 角を丸くする 84">
            <a:extLst>
              <a:ext uri="{FF2B5EF4-FFF2-40B4-BE49-F238E27FC236}">
                <a16:creationId xmlns:a16="http://schemas.microsoft.com/office/drawing/2014/main" id="{187A03B4-4808-4AA2-8D8B-E1602DB2EAA4}"/>
              </a:ext>
            </a:extLst>
          </p:cNvPr>
          <p:cNvSpPr/>
          <p:nvPr/>
        </p:nvSpPr>
        <p:spPr>
          <a:xfrm>
            <a:off x="36195" y="4708216"/>
            <a:ext cx="4195356" cy="1253539"/>
          </a:xfrm>
          <a:prstGeom prst="roundRect">
            <a:avLst>
              <a:gd name="adj" fmla="val 4247"/>
            </a:avLst>
          </a:prstGeom>
          <a:no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86" name="四角形: 角を丸くする 85">
            <a:extLst>
              <a:ext uri="{FF2B5EF4-FFF2-40B4-BE49-F238E27FC236}">
                <a16:creationId xmlns:a16="http://schemas.microsoft.com/office/drawing/2014/main" id="{41308B29-8033-4D42-BCBF-DC5C5F690311}"/>
              </a:ext>
            </a:extLst>
          </p:cNvPr>
          <p:cNvSpPr/>
          <p:nvPr/>
        </p:nvSpPr>
        <p:spPr>
          <a:xfrm>
            <a:off x="36811" y="7287093"/>
            <a:ext cx="4200708" cy="1116611"/>
          </a:xfrm>
          <a:prstGeom prst="roundRect">
            <a:avLst>
              <a:gd name="adj" fmla="val 4247"/>
            </a:avLst>
          </a:prstGeom>
          <a:no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87" name="四角形: 角を丸くする 86">
            <a:extLst>
              <a:ext uri="{FF2B5EF4-FFF2-40B4-BE49-F238E27FC236}">
                <a16:creationId xmlns:a16="http://schemas.microsoft.com/office/drawing/2014/main" id="{71ED878D-D3F1-4B03-901A-98CE084390EF}"/>
              </a:ext>
            </a:extLst>
          </p:cNvPr>
          <p:cNvSpPr/>
          <p:nvPr/>
        </p:nvSpPr>
        <p:spPr>
          <a:xfrm>
            <a:off x="36195" y="6084863"/>
            <a:ext cx="4186303" cy="1117916"/>
          </a:xfrm>
          <a:prstGeom prst="roundRect">
            <a:avLst>
              <a:gd name="adj" fmla="val 4247"/>
            </a:avLst>
          </a:prstGeom>
          <a:no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88" name="四角形: 角を丸くする 87">
            <a:extLst>
              <a:ext uri="{FF2B5EF4-FFF2-40B4-BE49-F238E27FC236}">
                <a16:creationId xmlns:a16="http://schemas.microsoft.com/office/drawing/2014/main" id="{49157FAF-7FB5-4FED-9D94-AF192BBFA9F4}"/>
              </a:ext>
            </a:extLst>
          </p:cNvPr>
          <p:cNvSpPr/>
          <p:nvPr/>
        </p:nvSpPr>
        <p:spPr>
          <a:xfrm>
            <a:off x="4301207" y="2687109"/>
            <a:ext cx="4212678" cy="1123417"/>
          </a:xfrm>
          <a:prstGeom prst="roundRect">
            <a:avLst>
              <a:gd name="adj" fmla="val 4247"/>
            </a:avLst>
          </a:prstGeom>
          <a:no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89" name="四角形: 角を丸くする 88">
            <a:extLst>
              <a:ext uri="{FF2B5EF4-FFF2-40B4-BE49-F238E27FC236}">
                <a16:creationId xmlns:a16="http://schemas.microsoft.com/office/drawing/2014/main" id="{8A6489E3-26FB-440D-9213-3F1746CC9CCA}"/>
              </a:ext>
            </a:extLst>
          </p:cNvPr>
          <p:cNvSpPr/>
          <p:nvPr/>
        </p:nvSpPr>
        <p:spPr>
          <a:xfrm>
            <a:off x="4358497" y="7547842"/>
            <a:ext cx="4186919" cy="1181133"/>
          </a:xfrm>
          <a:prstGeom prst="roundRect">
            <a:avLst>
              <a:gd name="adj" fmla="val 4247"/>
            </a:avLst>
          </a:prstGeom>
          <a:no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90" name="四角形: 角を丸くする 89">
            <a:extLst>
              <a:ext uri="{FF2B5EF4-FFF2-40B4-BE49-F238E27FC236}">
                <a16:creationId xmlns:a16="http://schemas.microsoft.com/office/drawing/2014/main" id="{1C994994-C374-4051-95EB-14DBC8502F44}"/>
              </a:ext>
            </a:extLst>
          </p:cNvPr>
          <p:cNvSpPr/>
          <p:nvPr/>
        </p:nvSpPr>
        <p:spPr>
          <a:xfrm>
            <a:off x="8589161" y="2828377"/>
            <a:ext cx="4136975" cy="1915849"/>
          </a:xfrm>
          <a:prstGeom prst="roundRect">
            <a:avLst>
              <a:gd name="adj" fmla="val 4247"/>
            </a:avLst>
          </a:prstGeom>
          <a:no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91" name="四角形: 角を丸くする 90">
            <a:extLst>
              <a:ext uri="{FF2B5EF4-FFF2-40B4-BE49-F238E27FC236}">
                <a16:creationId xmlns:a16="http://schemas.microsoft.com/office/drawing/2014/main" id="{A46ED2A9-6DE3-4B8B-BEF7-F10FDD8A89E0}"/>
              </a:ext>
            </a:extLst>
          </p:cNvPr>
          <p:cNvSpPr/>
          <p:nvPr/>
        </p:nvSpPr>
        <p:spPr>
          <a:xfrm>
            <a:off x="8622837" y="4776235"/>
            <a:ext cx="4129336" cy="1176111"/>
          </a:xfrm>
          <a:prstGeom prst="roundRect">
            <a:avLst>
              <a:gd name="adj" fmla="val 4247"/>
            </a:avLst>
          </a:prstGeom>
          <a:no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92" name="四角形: 角を丸くする 91">
            <a:extLst>
              <a:ext uri="{FF2B5EF4-FFF2-40B4-BE49-F238E27FC236}">
                <a16:creationId xmlns:a16="http://schemas.microsoft.com/office/drawing/2014/main" id="{FA7C595A-3F6A-4D29-8F37-D9EA66CB4853}"/>
              </a:ext>
            </a:extLst>
          </p:cNvPr>
          <p:cNvSpPr/>
          <p:nvPr/>
        </p:nvSpPr>
        <p:spPr>
          <a:xfrm>
            <a:off x="8643896" y="6071616"/>
            <a:ext cx="4108277" cy="1201649"/>
          </a:xfrm>
          <a:prstGeom prst="roundRect">
            <a:avLst>
              <a:gd name="adj" fmla="val 4247"/>
            </a:avLst>
          </a:prstGeom>
          <a:no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93" name="四角形: 角を丸くする 92">
            <a:extLst>
              <a:ext uri="{FF2B5EF4-FFF2-40B4-BE49-F238E27FC236}">
                <a16:creationId xmlns:a16="http://schemas.microsoft.com/office/drawing/2014/main" id="{8E3E7552-915E-48AF-AD83-4F2846A15610}"/>
              </a:ext>
            </a:extLst>
          </p:cNvPr>
          <p:cNvSpPr/>
          <p:nvPr/>
        </p:nvSpPr>
        <p:spPr>
          <a:xfrm>
            <a:off x="8584926" y="7404343"/>
            <a:ext cx="4167247" cy="1116825"/>
          </a:xfrm>
          <a:prstGeom prst="roundRect">
            <a:avLst>
              <a:gd name="adj" fmla="val 4247"/>
            </a:avLst>
          </a:prstGeom>
          <a:no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cxnSp>
        <p:nvCxnSpPr>
          <p:cNvPr id="94" name="直線コネクタ 93">
            <a:extLst>
              <a:ext uri="{FF2B5EF4-FFF2-40B4-BE49-F238E27FC236}">
                <a16:creationId xmlns:a16="http://schemas.microsoft.com/office/drawing/2014/main" id="{141AD58C-CC36-4A95-98E6-8BCEC311D5A5}"/>
              </a:ext>
            </a:extLst>
          </p:cNvPr>
          <p:cNvCxnSpPr>
            <a:cxnSpLocks/>
          </p:cNvCxnSpPr>
          <p:nvPr/>
        </p:nvCxnSpPr>
        <p:spPr>
          <a:xfrm>
            <a:off x="2410777" y="2713650"/>
            <a:ext cx="1541600" cy="4710"/>
          </a:xfrm>
          <a:prstGeom prst="line">
            <a:avLst/>
          </a:prstGeom>
          <a:ln w="31750">
            <a:solidFill>
              <a:schemeClr val="tx1"/>
            </a:solidFill>
            <a:headEnd w="lg" len="lg"/>
            <a:tailEnd type="triangle"/>
          </a:ln>
        </p:spPr>
        <p:style>
          <a:lnRef idx="1">
            <a:schemeClr val="accent1"/>
          </a:lnRef>
          <a:fillRef idx="0">
            <a:schemeClr val="accent1"/>
          </a:fillRef>
          <a:effectRef idx="0">
            <a:schemeClr val="accent1"/>
          </a:effectRef>
          <a:fontRef idx="minor">
            <a:schemeClr val="tx1"/>
          </a:fontRef>
        </p:style>
      </p:cxnSp>
      <p:sp>
        <p:nvSpPr>
          <p:cNvPr id="95" name="テキスト ボックス 94">
            <a:extLst>
              <a:ext uri="{FF2B5EF4-FFF2-40B4-BE49-F238E27FC236}">
                <a16:creationId xmlns:a16="http://schemas.microsoft.com/office/drawing/2014/main" id="{F7A187D3-57C8-4C23-B459-9865B842D5D4}"/>
              </a:ext>
            </a:extLst>
          </p:cNvPr>
          <p:cNvSpPr txBox="1"/>
          <p:nvPr/>
        </p:nvSpPr>
        <p:spPr>
          <a:xfrm>
            <a:off x="2081606" y="2569264"/>
            <a:ext cx="364202" cy="307777"/>
          </a:xfrm>
          <a:prstGeom prst="rect">
            <a:avLst/>
          </a:prstGeom>
          <a:noFill/>
        </p:spPr>
        <p:txBody>
          <a:bodyPr wrap="none" rtlCol="0">
            <a:spAutoFit/>
          </a:bodyPr>
          <a:lstStyle/>
          <a:p>
            <a:r>
              <a:rPr kumimoji="1" lang="ja-JP" altLang="en-US" sz="1400" b="1" dirty="0">
                <a:latin typeface="メイリオ" panose="020B0604030504040204" pitchFamily="50" charset="-128"/>
                <a:ea typeface="メイリオ" panose="020B0604030504040204" pitchFamily="50" charset="-128"/>
              </a:rPr>
              <a:t>低</a:t>
            </a:r>
          </a:p>
        </p:txBody>
      </p:sp>
      <p:sp>
        <p:nvSpPr>
          <p:cNvPr id="96" name="テキスト ボックス 95">
            <a:extLst>
              <a:ext uri="{FF2B5EF4-FFF2-40B4-BE49-F238E27FC236}">
                <a16:creationId xmlns:a16="http://schemas.microsoft.com/office/drawing/2014/main" id="{EDEB194E-7862-462C-83EB-56CB0DBD327B}"/>
              </a:ext>
            </a:extLst>
          </p:cNvPr>
          <p:cNvSpPr txBox="1"/>
          <p:nvPr/>
        </p:nvSpPr>
        <p:spPr>
          <a:xfrm>
            <a:off x="3936724" y="2582740"/>
            <a:ext cx="364202" cy="307777"/>
          </a:xfrm>
          <a:prstGeom prst="rect">
            <a:avLst/>
          </a:prstGeom>
          <a:noFill/>
        </p:spPr>
        <p:txBody>
          <a:bodyPr wrap="none" rtlCol="0">
            <a:spAutoFit/>
          </a:bodyPr>
          <a:lstStyle/>
          <a:p>
            <a:r>
              <a:rPr kumimoji="1" lang="ja-JP" altLang="en-US" sz="1400" b="1" dirty="0">
                <a:latin typeface="メイリオ" panose="020B0604030504040204" pitchFamily="50" charset="-128"/>
                <a:ea typeface="メイリオ" panose="020B0604030504040204" pitchFamily="50" charset="-128"/>
              </a:rPr>
              <a:t>高</a:t>
            </a:r>
          </a:p>
        </p:txBody>
      </p:sp>
      <p:cxnSp>
        <p:nvCxnSpPr>
          <p:cNvPr id="103" name="直線コネクタ 102">
            <a:extLst>
              <a:ext uri="{FF2B5EF4-FFF2-40B4-BE49-F238E27FC236}">
                <a16:creationId xmlns:a16="http://schemas.microsoft.com/office/drawing/2014/main" id="{F882DF77-375C-4568-AD85-49096EDD685A}"/>
              </a:ext>
            </a:extLst>
          </p:cNvPr>
          <p:cNvCxnSpPr>
            <a:cxnSpLocks/>
          </p:cNvCxnSpPr>
          <p:nvPr/>
        </p:nvCxnSpPr>
        <p:spPr>
          <a:xfrm>
            <a:off x="10067550" y="2714749"/>
            <a:ext cx="1541600" cy="4710"/>
          </a:xfrm>
          <a:prstGeom prst="line">
            <a:avLst/>
          </a:prstGeom>
          <a:ln w="31750">
            <a:solidFill>
              <a:schemeClr val="tx1"/>
            </a:solidFill>
            <a:headEnd w="lg" len="lg"/>
            <a:tailEnd type="triangle"/>
          </a:ln>
        </p:spPr>
        <p:style>
          <a:lnRef idx="1">
            <a:schemeClr val="accent1"/>
          </a:lnRef>
          <a:fillRef idx="0">
            <a:schemeClr val="accent1"/>
          </a:fillRef>
          <a:effectRef idx="0">
            <a:schemeClr val="accent1"/>
          </a:effectRef>
          <a:fontRef idx="minor">
            <a:schemeClr val="tx1"/>
          </a:fontRef>
        </p:style>
      </p:cxnSp>
      <p:sp>
        <p:nvSpPr>
          <p:cNvPr id="104" name="テキスト ボックス 103">
            <a:extLst>
              <a:ext uri="{FF2B5EF4-FFF2-40B4-BE49-F238E27FC236}">
                <a16:creationId xmlns:a16="http://schemas.microsoft.com/office/drawing/2014/main" id="{5C8BD205-D03E-4E00-9425-D688B6DDBF1D}"/>
              </a:ext>
            </a:extLst>
          </p:cNvPr>
          <p:cNvSpPr txBox="1"/>
          <p:nvPr/>
        </p:nvSpPr>
        <p:spPr>
          <a:xfrm>
            <a:off x="9738379" y="2570363"/>
            <a:ext cx="364202" cy="307777"/>
          </a:xfrm>
          <a:prstGeom prst="rect">
            <a:avLst/>
          </a:prstGeom>
          <a:noFill/>
        </p:spPr>
        <p:txBody>
          <a:bodyPr wrap="none" rtlCol="0">
            <a:spAutoFit/>
          </a:bodyPr>
          <a:lstStyle/>
          <a:p>
            <a:r>
              <a:rPr kumimoji="1" lang="ja-JP" altLang="en-US" sz="1400" b="1" dirty="0">
                <a:latin typeface="メイリオ" panose="020B0604030504040204" pitchFamily="50" charset="-128"/>
                <a:ea typeface="メイリオ" panose="020B0604030504040204" pitchFamily="50" charset="-128"/>
              </a:rPr>
              <a:t>低</a:t>
            </a:r>
          </a:p>
        </p:txBody>
      </p:sp>
      <p:sp>
        <p:nvSpPr>
          <p:cNvPr id="105" name="テキスト ボックス 104">
            <a:extLst>
              <a:ext uri="{FF2B5EF4-FFF2-40B4-BE49-F238E27FC236}">
                <a16:creationId xmlns:a16="http://schemas.microsoft.com/office/drawing/2014/main" id="{B9359093-6938-453C-B923-DE93BA9E8773}"/>
              </a:ext>
            </a:extLst>
          </p:cNvPr>
          <p:cNvSpPr txBox="1"/>
          <p:nvPr/>
        </p:nvSpPr>
        <p:spPr>
          <a:xfrm>
            <a:off x="11593497" y="2583839"/>
            <a:ext cx="364202" cy="307777"/>
          </a:xfrm>
          <a:prstGeom prst="rect">
            <a:avLst/>
          </a:prstGeom>
          <a:noFill/>
        </p:spPr>
        <p:txBody>
          <a:bodyPr wrap="none" rtlCol="0">
            <a:spAutoFit/>
          </a:bodyPr>
          <a:lstStyle/>
          <a:p>
            <a:r>
              <a:rPr kumimoji="1" lang="ja-JP" altLang="en-US" sz="1400" b="1" dirty="0">
                <a:latin typeface="メイリオ" panose="020B0604030504040204" pitchFamily="50" charset="-128"/>
                <a:ea typeface="メイリオ" panose="020B0604030504040204" pitchFamily="50" charset="-128"/>
              </a:rPr>
              <a:t>高</a:t>
            </a:r>
          </a:p>
        </p:txBody>
      </p:sp>
      <p:graphicFrame>
        <p:nvGraphicFramePr>
          <p:cNvPr id="106" name="表 105">
            <a:extLst>
              <a:ext uri="{FF2B5EF4-FFF2-40B4-BE49-F238E27FC236}">
                <a16:creationId xmlns:a16="http://schemas.microsoft.com/office/drawing/2014/main" id="{642802A6-2CA0-4D0F-BA0D-AA11DCAFF67A}"/>
              </a:ext>
            </a:extLst>
          </p:cNvPr>
          <p:cNvGraphicFramePr>
            <a:graphicFrameLocks noGrp="1"/>
          </p:cNvGraphicFramePr>
          <p:nvPr>
            <p:extLst>
              <p:ext uri="{D42A27DB-BD31-4B8C-83A1-F6EECF244321}">
                <p14:modId xmlns:p14="http://schemas.microsoft.com/office/powerpoint/2010/main" val="2537893965"/>
              </p:ext>
            </p:extLst>
          </p:nvPr>
        </p:nvGraphicFramePr>
        <p:xfrm>
          <a:off x="1048473" y="4770483"/>
          <a:ext cx="1217807" cy="762646"/>
        </p:xfrm>
        <a:graphic>
          <a:graphicData uri="http://schemas.openxmlformats.org/drawingml/2006/table">
            <a:tbl>
              <a:tblPr firstRow="1" bandRow="1">
                <a:tableStyleId>{8799B23B-EC83-4686-B30A-512413B5E67A}</a:tableStyleId>
              </a:tblPr>
              <a:tblGrid>
                <a:gridCol w="332540">
                  <a:extLst>
                    <a:ext uri="{9D8B030D-6E8A-4147-A177-3AD203B41FA5}">
                      <a16:colId xmlns:a16="http://schemas.microsoft.com/office/drawing/2014/main" val="3544890682"/>
                    </a:ext>
                  </a:extLst>
                </a:gridCol>
                <a:gridCol w="885267">
                  <a:extLst>
                    <a:ext uri="{9D8B030D-6E8A-4147-A177-3AD203B41FA5}">
                      <a16:colId xmlns:a16="http://schemas.microsoft.com/office/drawing/2014/main" val="4250031406"/>
                    </a:ext>
                  </a:extLst>
                </a:gridCol>
              </a:tblGrid>
              <a:tr h="762646">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1" lang="ja-JP" altLang="en-US" sz="1100" b="1" i="0" u="none" strike="noStrike" kern="1200" cap="none" spc="0" normalizeH="0" baseline="0" dirty="0">
                          <a:ln>
                            <a:noFill/>
                          </a:ln>
                          <a:solidFill>
                            <a:prstClr val="black"/>
                          </a:solidFill>
                          <a:effectLst/>
                          <a:uLnTx/>
                          <a:uFillTx/>
                          <a:latin typeface="メイリオ" panose="020B0604030504040204" pitchFamily="50" charset="-128"/>
                          <a:ea typeface="メイリオ" panose="020B0604030504040204" pitchFamily="50" charset="-128"/>
                          <a:cs typeface="+mn-cs"/>
                        </a:rPr>
                        <a:t>内もも</a:t>
                      </a:r>
                    </a:p>
                  </a:txBody>
                  <a:tcPr anchor="ctr"/>
                </a:tc>
                <a:tc>
                  <a:txBody>
                    <a:bodyPr/>
                    <a:lstStyle/>
                    <a:p>
                      <a:r>
                        <a:rPr lang="ja-JP" altLang="en-US" sz="1000" b="0" dirty="0">
                          <a:solidFill>
                            <a:srgbClr val="FF0000"/>
                          </a:solidFill>
                          <a:latin typeface="メイリオ" panose="020B0604030504040204" pitchFamily="50" charset="-128"/>
                          <a:ea typeface="メイリオ" panose="020B0604030504040204" pitchFamily="50" charset="-128"/>
                        </a:rPr>
                        <a:t>内転筋群</a:t>
                      </a:r>
                      <a:endParaRPr lang="en-US" altLang="ja-JP" sz="1000" b="0" dirty="0">
                        <a:solidFill>
                          <a:srgbClr val="FF0000"/>
                        </a:solidFill>
                        <a:latin typeface="メイリオ" panose="020B0604030504040204" pitchFamily="50" charset="-128"/>
                        <a:ea typeface="メイリオ" panose="020B0604030504040204" pitchFamily="50" charset="-128"/>
                      </a:endParaRPr>
                    </a:p>
                    <a:p>
                      <a:r>
                        <a:rPr lang="zh-TW" altLang="en-US" sz="1000" b="0" dirty="0">
                          <a:solidFill>
                            <a:srgbClr val="FF0000"/>
                          </a:solidFill>
                          <a:latin typeface="メイリオ" panose="020B0604030504040204" pitchFamily="50" charset="-128"/>
                          <a:ea typeface="メイリオ" panose="020B0604030504040204" pitchFamily="50" charset="-128"/>
                        </a:rPr>
                        <a:t>恥骨筋</a:t>
                      </a:r>
                      <a:endParaRPr lang="en-US" altLang="zh-TW" sz="1000" b="0" dirty="0">
                        <a:solidFill>
                          <a:srgbClr val="FF0000"/>
                        </a:solidFill>
                        <a:latin typeface="メイリオ" panose="020B0604030504040204" pitchFamily="50" charset="-128"/>
                        <a:ea typeface="メイリオ" panose="020B0604030504040204" pitchFamily="50" charset="-128"/>
                      </a:endParaRPr>
                    </a:p>
                    <a:p>
                      <a:r>
                        <a:rPr lang="ja-JP" altLang="en-US" sz="1000" b="0" dirty="0">
                          <a:solidFill>
                            <a:srgbClr val="FF0000"/>
                          </a:solidFill>
                          <a:latin typeface="メイリオ" panose="020B0604030504040204" pitchFamily="50" charset="-128"/>
                          <a:ea typeface="メイリオ" panose="020B0604030504040204" pitchFamily="50" charset="-128"/>
                        </a:rPr>
                        <a:t>薄筋</a:t>
                      </a:r>
                      <a:endParaRPr lang="en-US" altLang="ja-JP" sz="1000" b="0" dirty="0">
                        <a:solidFill>
                          <a:srgbClr val="FF0000"/>
                        </a:solidFill>
                        <a:latin typeface="メイリオ" panose="020B0604030504040204" pitchFamily="50" charset="-128"/>
                        <a:ea typeface="メイリオ" panose="020B0604030504040204" pitchFamily="50" charset="-128"/>
                      </a:endParaRPr>
                    </a:p>
                    <a:p>
                      <a:r>
                        <a:rPr lang="ja-JP" altLang="en-US" sz="1000" b="0" dirty="0">
                          <a:solidFill>
                            <a:srgbClr val="FF0000"/>
                          </a:solidFill>
                          <a:latin typeface="メイリオ" panose="020B0604030504040204" pitchFamily="50" charset="-128"/>
                          <a:ea typeface="メイリオ" panose="020B0604030504040204" pitchFamily="50" charset="-128"/>
                        </a:rPr>
                        <a:t>縫工筋</a:t>
                      </a:r>
                    </a:p>
                  </a:txBody>
                  <a:tcPr anchor="ctr"/>
                </a:tc>
                <a:extLst>
                  <a:ext uri="{0D108BD9-81ED-4DB2-BD59-A6C34878D82A}">
                    <a16:rowId xmlns:a16="http://schemas.microsoft.com/office/drawing/2014/main" val="4066695419"/>
                  </a:ext>
                </a:extLst>
              </a:tr>
            </a:tbl>
          </a:graphicData>
        </a:graphic>
      </p:graphicFrame>
      <p:sp>
        <p:nvSpPr>
          <p:cNvPr id="107" name="テキスト ボックス 106">
            <a:extLst>
              <a:ext uri="{FF2B5EF4-FFF2-40B4-BE49-F238E27FC236}">
                <a16:creationId xmlns:a16="http://schemas.microsoft.com/office/drawing/2014/main" id="{7FB3262C-BD70-4E0E-9AB1-634F1282A07A}"/>
              </a:ext>
            </a:extLst>
          </p:cNvPr>
          <p:cNvSpPr txBox="1"/>
          <p:nvPr/>
        </p:nvSpPr>
        <p:spPr>
          <a:xfrm>
            <a:off x="932110" y="5568305"/>
            <a:ext cx="2200535" cy="253916"/>
          </a:xfrm>
          <a:prstGeom prst="rect">
            <a:avLst/>
          </a:prstGeom>
          <a:noFill/>
        </p:spPr>
        <p:txBody>
          <a:bodyPr wrap="square">
            <a:spAutoFit/>
          </a:bodyPr>
          <a:lstStyle/>
          <a:p>
            <a:r>
              <a:rPr lang="ja-JP" altLang="en-US" sz="1050" b="1" dirty="0">
                <a:latin typeface="メイリオ" panose="020B0604030504040204" pitchFamily="50" charset="-128"/>
                <a:ea typeface="メイリオ" panose="020B0604030504040204" pitchFamily="50" charset="-128"/>
              </a:rPr>
              <a:t>機能：股関節内転、立位の安定</a:t>
            </a:r>
          </a:p>
        </p:txBody>
      </p:sp>
      <p:sp>
        <p:nvSpPr>
          <p:cNvPr id="108" name="テキスト ボックス 107">
            <a:extLst>
              <a:ext uri="{FF2B5EF4-FFF2-40B4-BE49-F238E27FC236}">
                <a16:creationId xmlns:a16="http://schemas.microsoft.com/office/drawing/2014/main" id="{0AAD8A2C-082C-49F7-B5C2-E25302CF75DB}"/>
              </a:ext>
            </a:extLst>
          </p:cNvPr>
          <p:cNvSpPr txBox="1"/>
          <p:nvPr/>
        </p:nvSpPr>
        <p:spPr>
          <a:xfrm>
            <a:off x="950251" y="5746688"/>
            <a:ext cx="1194799" cy="246221"/>
          </a:xfrm>
          <a:prstGeom prst="rect">
            <a:avLst/>
          </a:prstGeom>
          <a:noFill/>
        </p:spPr>
        <p:txBody>
          <a:bodyPr wrap="square">
            <a:spAutoFit/>
          </a:bodyPr>
          <a:lstStyle/>
          <a:p>
            <a:r>
              <a:rPr lang="ja-JP" altLang="en-US" sz="1000" dirty="0">
                <a:latin typeface="メイリオ" panose="020B0604030504040204" pitchFamily="50" charset="-128"/>
                <a:ea typeface="メイリオ" panose="020B0604030504040204" pitchFamily="50" charset="-128"/>
              </a:rPr>
              <a:t>〇転倒リスク</a:t>
            </a:r>
          </a:p>
        </p:txBody>
      </p:sp>
      <p:sp>
        <p:nvSpPr>
          <p:cNvPr id="109" name="テキスト ボックス 108">
            <a:extLst>
              <a:ext uri="{FF2B5EF4-FFF2-40B4-BE49-F238E27FC236}">
                <a16:creationId xmlns:a16="http://schemas.microsoft.com/office/drawing/2014/main" id="{6E185B3A-C7D2-48A1-93E9-BD628765C53C}"/>
              </a:ext>
            </a:extLst>
          </p:cNvPr>
          <p:cNvSpPr txBox="1"/>
          <p:nvPr/>
        </p:nvSpPr>
        <p:spPr>
          <a:xfrm>
            <a:off x="1941394" y="5740936"/>
            <a:ext cx="1317553" cy="246221"/>
          </a:xfrm>
          <a:prstGeom prst="rect">
            <a:avLst/>
          </a:prstGeom>
          <a:noFill/>
        </p:spPr>
        <p:txBody>
          <a:bodyPr wrap="square">
            <a:spAutoFit/>
          </a:bodyPr>
          <a:lstStyle/>
          <a:p>
            <a:r>
              <a:rPr lang="ja-JP" altLang="en-US" sz="1000" dirty="0">
                <a:latin typeface="メイリオ" panose="020B0604030504040204" pitchFamily="50" charset="-128"/>
                <a:ea typeface="メイリオ" panose="020B0604030504040204" pitchFamily="50" charset="-128"/>
              </a:rPr>
              <a:t>〇膝</a:t>
            </a:r>
            <a:r>
              <a:rPr lang="en-US" altLang="ja-JP" sz="1000" dirty="0">
                <a:latin typeface="メイリオ" panose="020B0604030504040204" pitchFamily="50" charset="-128"/>
                <a:ea typeface="メイリオ" panose="020B0604030504040204" pitchFamily="50" charset="-128"/>
              </a:rPr>
              <a:t>OA</a:t>
            </a:r>
            <a:r>
              <a:rPr lang="ja-JP" altLang="en-US" sz="1000" dirty="0">
                <a:latin typeface="メイリオ" panose="020B0604030504040204" pitchFamily="50" charset="-128"/>
                <a:ea typeface="メイリオ" panose="020B0604030504040204" pitchFamily="50" charset="-128"/>
              </a:rPr>
              <a:t>リスク</a:t>
            </a:r>
          </a:p>
        </p:txBody>
      </p:sp>
      <p:graphicFrame>
        <p:nvGraphicFramePr>
          <p:cNvPr id="110" name="表 109">
            <a:extLst>
              <a:ext uri="{FF2B5EF4-FFF2-40B4-BE49-F238E27FC236}">
                <a16:creationId xmlns:a16="http://schemas.microsoft.com/office/drawing/2014/main" id="{24DF609B-8737-41DD-AC8D-FBB6629F904D}"/>
              </a:ext>
            </a:extLst>
          </p:cNvPr>
          <p:cNvGraphicFramePr>
            <a:graphicFrameLocks noGrp="1"/>
          </p:cNvGraphicFramePr>
          <p:nvPr>
            <p:extLst>
              <p:ext uri="{D42A27DB-BD31-4B8C-83A1-F6EECF244321}">
                <p14:modId xmlns:p14="http://schemas.microsoft.com/office/powerpoint/2010/main" val="97162324"/>
              </p:ext>
            </p:extLst>
          </p:nvPr>
        </p:nvGraphicFramePr>
        <p:xfrm>
          <a:off x="1035929" y="6142982"/>
          <a:ext cx="1230352" cy="637833"/>
        </p:xfrm>
        <a:graphic>
          <a:graphicData uri="http://schemas.openxmlformats.org/drawingml/2006/table">
            <a:tbl>
              <a:tblPr firstRow="1" bandRow="1">
                <a:tableStyleId>{8799B23B-EC83-4686-B30A-512413B5E67A}</a:tableStyleId>
              </a:tblPr>
              <a:tblGrid>
                <a:gridCol w="269374">
                  <a:extLst>
                    <a:ext uri="{9D8B030D-6E8A-4147-A177-3AD203B41FA5}">
                      <a16:colId xmlns:a16="http://schemas.microsoft.com/office/drawing/2014/main" val="4009949933"/>
                    </a:ext>
                  </a:extLst>
                </a:gridCol>
                <a:gridCol w="960978">
                  <a:extLst>
                    <a:ext uri="{9D8B030D-6E8A-4147-A177-3AD203B41FA5}">
                      <a16:colId xmlns:a16="http://schemas.microsoft.com/office/drawing/2014/main" val="194728516"/>
                    </a:ext>
                  </a:extLst>
                </a:gridCol>
              </a:tblGrid>
              <a:tr h="637833">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1" lang="ja-JP" altLang="en-US" sz="1100" b="1" i="0" u="none" strike="noStrike" kern="1200" cap="none" spc="0" normalizeH="0" baseline="0" dirty="0">
                          <a:ln>
                            <a:noFill/>
                          </a:ln>
                          <a:solidFill>
                            <a:prstClr val="black"/>
                          </a:solidFill>
                          <a:effectLst/>
                          <a:uLnTx/>
                          <a:uFillTx/>
                          <a:latin typeface="メイリオ" panose="020B0604030504040204" pitchFamily="50" charset="-128"/>
                          <a:ea typeface="メイリオ" panose="020B0604030504040204" pitchFamily="50" charset="-128"/>
                          <a:cs typeface="+mn-cs"/>
                        </a:rPr>
                        <a:t>もも前</a:t>
                      </a:r>
                      <a:endParaRPr kumimoji="1" lang="en-US" altLang="ja-JP" sz="1100" b="1" i="0" u="none" strike="noStrike" kern="1200" cap="none" spc="0" normalizeH="0" baseline="0" dirty="0">
                        <a:ln>
                          <a:noFill/>
                        </a:ln>
                        <a:solidFill>
                          <a:prstClr val="black"/>
                        </a:solidFill>
                        <a:effectLst/>
                        <a:uLnTx/>
                        <a:uFillTx/>
                        <a:latin typeface="メイリオ" panose="020B0604030504040204" pitchFamily="50" charset="-128"/>
                        <a:ea typeface="メイリオ" panose="020B0604030504040204" pitchFamily="50" charset="-128"/>
                        <a:cs typeface="+mn-cs"/>
                      </a:endParaRPr>
                    </a:p>
                  </a:txBody>
                  <a:tcPr anchor="ctr"/>
                </a:tc>
                <a:tc>
                  <a:txBody>
                    <a:bodyPr/>
                    <a:lstStyle/>
                    <a:p>
                      <a:r>
                        <a:rPr lang="ja-JP" altLang="en-US" sz="1000" b="0" dirty="0">
                          <a:solidFill>
                            <a:srgbClr val="FF0000"/>
                          </a:solidFill>
                          <a:latin typeface="メイリオ" panose="020B0604030504040204" pitchFamily="50" charset="-128"/>
                          <a:ea typeface="メイリオ" panose="020B0604030504040204" pitchFamily="50" charset="-128"/>
                        </a:rPr>
                        <a:t>大腿直筋</a:t>
                      </a:r>
                      <a:endParaRPr lang="en-US" altLang="ja-JP" sz="1000" b="0" dirty="0">
                        <a:solidFill>
                          <a:srgbClr val="FF0000"/>
                        </a:solidFill>
                        <a:latin typeface="メイリオ" panose="020B0604030504040204" pitchFamily="50" charset="-128"/>
                        <a:ea typeface="メイリオ" panose="020B0604030504040204" pitchFamily="50" charset="-128"/>
                      </a:endParaRPr>
                    </a:p>
                    <a:p>
                      <a:r>
                        <a:rPr lang="ja-JP" altLang="en-US" sz="1000" b="0" dirty="0">
                          <a:solidFill>
                            <a:srgbClr val="FF0000"/>
                          </a:solidFill>
                          <a:latin typeface="メイリオ" panose="020B0604030504040204" pitchFamily="50" charset="-128"/>
                          <a:ea typeface="メイリオ" panose="020B0604030504040204" pitchFamily="50" charset="-128"/>
                        </a:rPr>
                        <a:t>外側中間広筋</a:t>
                      </a:r>
                      <a:endParaRPr lang="en-US" altLang="ja-JP" sz="1000" b="0" dirty="0">
                        <a:solidFill>
                          <a:srgbClr val="FF0000"/>
                        </a:solidFill>
                        <a:latin typeface="メイリオ" panose="020B0604030504040204" pitchFamily="50" charset="-128"/>
                        <a:ea typeface="メイリオ" panose="020B0604030504040204" pitchFamily="50" charset="-128"/>
                      </a:endParaRPr>
                    </a:p>
                    <a:p>
                      <a:r>
                        <a:rPr lang="ja-JP" altLang="en-US" sz="1000" b="0" dirty="0">
                          <a:solidFill>
                            <a:srgbClr val="FF0000"/>
                          </a:solidFill>
                          <a:latin typeface="メイリオ" panose="020B0604030504040204" pitchFamily="50" charset="-128"/>
                          <a:ea typeface="メイリオ" panose="020B0604030504040204" pitchFamily="50" charset="-128"/>
                        </a:rPr>
                        <a:t>内側広筋</a:t>
                      </a:r>
                    </a:p>
                  </a:txBody>
                  <a:tcPr anchor="ctr"/>
                </a:tc>
                <a:extLst>
                  <a:ext uri="{0D108BD9-81ED-4DB2-BD59-A6C34878D82A}">
                    <a16:rowId xmlns:a16="http://schemas.microsoft.com/office/drawing/2014/main" val="3809921758"/>
                  </a:ext>
                </a:extLst>
              </a:tr>
            </a:tbl>
          </a:graphicData>
        </a:graphic>
      </p:graphicFrame>
      <p:sp>
        <p:nvSpPr>
          <p:cNvPr id="111" name="テキスト ボックス 110">
            <a:extLst>
              <a:ext uri="{FF2B5EF4-FFF2-40B4-BE49-F238E27FC236}">
                <a16:creationId xmlns:a16="http://schemas.microsoft.com/office/drawing/2014/main" id="{30A23E7A-7035-48F7-B215-118809973DBC}"/>
              </a:ext>
            </a:extLst>
          </p:cNvPr>
          <p:cNvSpPr txBox="1"/>
          <p:nvPr/>
        </p:nvSpPr>
        <p:spPr>
          <a:xfrm>
            <a:off x="947595" y="6980690"/>
            <a:ext cx="1194799" cy="246221"/>
          </a:xfrm>
          <a:prstGeom prst="rect">
            <a:avLst/>
          </a:prstGeom>
          <a:noFill/>
        </p:spPr>
        <p:txBody>
          <a:bodyPr wrap="square">
            <a:spAutoFit/>
          </a:bodyPr>
          <a:lstStyle/>
          <a:p>
            <a:r>
              <a:rPr lang="ja-JP" altLang="en-US" sz="1000" dirty="0">
                <a:latin typeface="メイリオ" panose="020B0604030504040204" pitchFamily="50" charset="-128"/>
                <a:ea typeface="メイリオ" panose="020B0604030504040204" pitchFamily="50" charset="-128"/>
              </a:rPr>
              <a:t>〇転倒リスク</a:t>
            </a:r>
          </a:p>
        </p:txBody>
      </p:sp>
      <p:sp>
        <p:nvSpPr>
          <p:cNvPr id="112" name="テキスト ボックス 111">
            <a:extLst>
              <a:ext uri="{FF2B5EF4-FFF2-40B4-BE49-F238E27FC236}">
                <a16:creationId xmlns:a16="http://schemas.microsoft.com/office/drawing/2014/main" id="{D652395B-D693-47B7-B412-31F753449FDF}"/>
              </a:ext>
            </a:extLst>
          </p:cNvPr>
          <p:cNvSpPr txBox="1"/>
          <p:nvPr/>
        </p:nvSpPr>
        <p:spPr>
          <a:xfrm>
            <a:off x="1850167" y="6993109"/>
            <a:ext cx="1317553" cy="246221"/>
          </a:xfrm>
          <a:prstGeom prst="rect">
            <a:avLst/>
          </a:prstGeom>
          <a:noFill/>
        </p:spPr>
        <p:txBody>
          <a:bodyPr wrap="square">
            <a:spAutoFit/>
          </a:bodyPr>
          <a:lstStyle/>
          <a:p>
            <a:r>
              <a:rPr lang="ja-JP" altLang="en-US" sz="1000" dirty="0">
                <a:latin typeface="メイリオ" panose="020B0604030504040204" pitchFamily="50" charset="-128"/>
                <a:ea typeface="メイリオ" panose="020B0604030504040204" pitchFamily="50" charset="-128"/>
              </a:rPr>
              <a:t>〇膝</a:t>
            </a:r>
            <a:r>
              <a:rPr lang="en-US" altLang="ja-JP" sz="1000" dirty="0">
                <a:latin typeface="メイリオ" panose="020B0604030504040204" pitchFamily="50" charset="-128"/>
                <a:ea typeface="メイリオ" panose="020B0604030504040204" pitchFamily="50" charset="-128"/>
              </a:rPr>
              <a:t>OA</a:t>
            </a:r>
            <a:r>
              <a:rPr lang="ja-JP" altLang="en-US" sz="1000" dirty="0">
                <a:latin typeface="メイリオ" panose="020B0604030504040204" pitchFamily="50" charset="-128"/>
                <a:ea typeface="メイリオ" panose="020B0604030504040204" pitchFamily="50" charset="-128"/>
              </a:rPr>
              <a:t>リスク</a:t>
            </a:r>
          </a:p>
        </p:txBody>
      </p:sp>
      <p:sp>
        <p:nvSpPr>
          <p:cNvPr id="113" name="テキスト ボックス 112">
            <a:extLst>
              <a:ext uri="{FF2B5EF4-FFF2-40B4-BE49-F238E27FC236}">
                <a16:creationId xmlns:a16="http://schemas.microsoft.com/office/drawing/2014/main" id="{619E819E-8141-4B1C-A757-DC6B0E38F0D6}"/>
              </a:ext>
            </a:extLst>
          </p:cNvPr>
          <p:cNvSpPr txBox="1"/>
          <p:nvPr/>
        </p:nvSpPr>
        <p:spPr>
          <a:xfrm>
            <a:off x="2886339" y="6977867"/>
            <a:ext cx="1365258" cy="246221"/>
          </a:xfrm>
          <a:prstGeom prst="rect">
            <a:avLst/>
          </a:prstGeom>
          <a:noFill/>
        </p:spPr>
        <p:txBody>
          <a:bodyPr wrap="square">
            <a:spAutoFit/>
          </a:bodyPr>
          <a:lstStyle/>
          <a:p>
            <a:r>
              <a:rPr lang="ja-JP" altLang="en-US" sz="1000" dirty="0">
                <a:latin typeface="メイリオ" panose="020B0604030504040204" pitchFamily="50" charset="-128"/>
                <a:ea typeface="メイリオ" panose="020B0604030504040204" pitchFamily="50" charset="-128"/>
              </a:rPr>
              <a:t>〇大腿骨骨折リスク</a:t>
            </a:r>
          </a:p>
        </p:txBody>
      </p:sp>
      <p:sp>
        <p:nvSpPr>
          <p:cNvPr id="114" name="テキスト ボックス 113">
            <a:extLst>
              <a:ext uri="{FF2B5EF4-FFF2-40B4-BE49-F238E27FC236}">
                <a16:creationId xmlns:a16="http://schemas.microsoft.com/office/drawing/2014/main" id="{C471DFCB-A574-4860-986E-1FD1CE2F7049}"/>
              </a:ext>
            </a:extLst>
          </p:cNvPr>
          <p:cNvSpPr txBox="1"/>
          <p:nvPr/>
        </p:nvSpPr>
        <p:spPr>
          <a:xfrm>
            <a:off x="941443" y="6802125"/>
            <a:ext cx="2285199" cy="253916"/>
          </a:xfrm>
          <a:prstGeom prst="rect">
            <a:avLst/>
          </a:prstGeom>
          <a:noFill/>
        </p:spPr>
        <p:txBody>
          <a:bodyPr wrap="square">
            <a:spAutoFit/>
          </a:bodyPr>
          <a:lstStyle/>
          <a:p>
            <a:r>
              <a:rPr lang="ja-JP" altLang="en-US" sz="1050" b="1" dirty="0">
                <a:latin typeface="メイリオ" panose="020B0604030504040204" pitchFamily="50" charset="-128"/>
                <a:ea typeface="メイリオ" panose="020B0604030504040204" pitchFamily="50" charset="-128"/>
              </a:rPr>
              <a:t>機能：膝伸展、歩行、立ち上がり</a:t>
            </a:r>
            <a:endParaRPr lang="en-US" altLang="ja-JP" sz="1050" b="1" dirty="0">
              <a:latin typeface="メイリオ" panose="020B0604030504040204" pitchFamily="50" charset="-128"/>
              <a:ea typeface="メイリオ" panose="020B0604030504040204" pitchFamily="50" charset="-128"/>
            </a:endParaRPr>
          </a:p>
        </p:txBody>
      </p:sp>
      <p:graphicFrame>
        <p:nvGraphicFramePr>
          <p:cNvPr id="115" name="表 114">
            <a:extLst>
              <a:ext uri="{FF2B5EF4-FFF2-40B4-BE49-F238E27FC236}">
                <a16:creationId xmlns:a16="http://schemas.microsoft.com/office/drawing/2014/main" id="{9720B4FE-95F6-48EA-804C-5EA06AD1FB92}"/>
              </a:ext>
            </a:extLst>
          </p:cNvPr>
          <p:cNvGraphicFramePr>
            <a:graphicFrameLocks noGrp="1"/>
          </p:cNvGraphicFramePr>
          <p:nvPr>
            <p:extLst>
              <p:ext uri="{D42A27DB-BD31-4B8C-83A1-F6EECF244321}">
                <p14:modId xmlns:p14="http://schemas.microsoft.com/office/powerpoint/2010/main" val="871084498"/>
              </p:ext>
            </p:extLst>
          </p:nvPr>
        </p:nvGraphicFramePr>
        <p:xfrm>
          <a:off x="1012400" y="7325887"/>
          <a:ext cx="1172419" cy="655338"/>
        </p:xfrm>
        <a:graphic>
          <a:graphicData uri="http://schemas.openxmlformats.org/drawingml/2006/table">
            <a:tbl>
              <a:tblPr firstRow="1" bandRow="1">
                <a:tableStyleId>{8799B23B-EC83-4686-B30A-512413B5E67A}</a:tableStyleId>
              </a:tblPr>
              <a:tblGrid>
                <a:gridCol w="312659">
                  <a:extLst>
                    <a:ext uri="{9D8B030D-6E8A-4147-A177-3AD203B41FA5}">
                      <a16:colId xmlns:a16="http://schemas.microsoft.com/office/drawing/2014/main" val="2069685764"/>
                    </a:ext>
                  </a:extLst>
                </a:gridCol>
                <a:gridCol w="859760">
                  <a:extLst>
                    <a:ext uri="{9D8B030D-6E8A-4147-A177-3AD203B41FA5}">
                      <a16:colId xmlns:a16="http://schemas.microsoft.com/office/drawing/2014/main" val="3304209401"/>
                    </a:ext>
                  </a:extLst>
                </a:gridCol>
              </a:tblGrid>
              <a:tr h="655338">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1" lang="ja-JP" altLang="en-US" sz="1100" b="1" i="0" u="none" strike="noStrike" kern="1200" cap="none" spc="0" normalizeH="0" baseline="0" dirty="0">
                          <a:ln>
                            <a:noFill/>
                          </a:ln>
                          <a:solidFill>
                            <a:prstClr val="black"/>
                          </a:solidFill>
                          <a:effectLst/>
                          <a:uLnTx/>
                          <a:uFillTx/>
                          <a:latin typeface="メイリオ" panose="020B0604030504040204" pitchFamily="50" charset="-128"/>
                          <a:ea typeface="メイリオ" panose="020B0604030504040204" pitchFamily="50" charset="-128"/>
                          <a:cs typeface="+mn-cs"/>
                        </a:rPr>
                        <a:t>すね前</a:t>
                      </a:r>
                    </a:p>
                  </a:txBody>
                  <a:tcPr anchor="ctr"/>
                </a:tc>
                <a:tc>
                  <a:txBody>
                    <a:bodyPr/>
                    <a:lstStyle/>
                    <a:p>
                      <a:r>
                        <a:rPr lang="ja-JP" altLang="en-US" sz="1000" b="0" dirty="0">
                          <a:solidFill>
                            <a:srgbClr val="FF0000"/>
                          </a:solidFill>
                          <a:latin typeface="メイリオ" panose="020B0604030504040204" pitchFamily="50" charset="-128"/>
                          <a:ea typeface="メイリオ" panose="020B0604030504040204" pitchFamily="50" charset="-128"/>
                        </a:rPr>
                        <a:t>前方区画</a:t>
                      </a:r>
                      <a:endParaRPr lang="en-US" altLang="ja-JP" sz="1000" b="0" dirty="0">
                        <a:solidFill>
                          <a:srgbClr val="FF0000"/>
                        </a:solidFill>
                        <a:latin typeface="メイリオ" panose="020B0604030504040204" pitchFamily="50" charset="-128"/>
                        <a:ea typeface="メイリオ" panose="020B0604030504040204" pitchFamily="50" charset="-128"/>
                      </a:endParaRPr>
                    </a:p>
                    <a:p>
                      <a:r>
                        <a:rPr lang="ja-JP" altLang="en-US" sz="1000" b="0" dirty="0">
                          <a:solidFill>
                            <a:srgbClr val="FF0000"/>
                          </a:solidFill>
                          <a:latin typeface="メイリオ" panose="020B0604030504040204" pitchFamily="50" charset="-128"/>
                          <a:ea typeface="メイリオ" panose="020B0604030504040204" pitchFamily="50" charset="-128"/>
                        </a:rPr>
                        <a:t>外側区画</a:t>
                      </a:r>
                      <a:endParaRPr lang="en-US" altLang="ja-JP" sz="1000" b="0" dirty="0">
                        <a:solidFill>
                          <a:srgbClr val="FF0000"/>
                        </a:solidFill>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1058651088"/>
                  </a:ext>
                </a:extLst>
              </a:tr>
            </a:tbl>
          </a:graphicData>
        </a:graphic>
      </p:graphicFrame>
      <p:sp>
        <p:nvSpPr>
          <p:cNvPr id="116" name="テキスト ボックス 115">
            <a:extLst>
              <a:ext uri="{FF2B5EF4-FFF2-40B4-BE49-F238E27FC236}">
                <a16:creationId xmlns:a16="http://schemas.microsoft.com/office/drawing/2014/main" id="{1629187F-9CB4-45A1-AE3B-0F0E6F5C02A9}"/>
              </a:ext>
            </a:extLst>
          </p:cNvPr>
          <p:cNvSpPr txBox="1"/>
          <p:nvPr/>
        </p:nvSpPr>
        <p:spPr>
          <a:xfrm>
            <a:off x="971247" y="7986116"/>
            <a:ext cx="3066838" cy="253916"/>
          </a:xfrm>
          <a:prstGeom prst="rect">
            <a:avLst/>
          </a:prstGeom>
          <a:noFill/>
        </p:spPr>
        <p:txBody>
          <a:bodyPr wrap="square">
            <a:spAutoFit/>
          </a:bodyPr>
          <a:lstStyle/>
          <a:p>
            <a:r>
              <a:rPr lang="ja-JP" altLang="en-US" sz="1050" b="1" dirty="0">
                <a:latin typeface="メイリオ" panose="020B0604030504040204" pitchFamily="50" charset="-128"/>
                <a:ea typeface="メイリオ" panose="020B0604030504040204" pitchFamily="50" charset="-128"/>
              </a:rPr>
              <a:t>機能：足関節背屈、足部安定、土踏まず保持</a:t>
            </a:r>
          </a:p>
        </p:txBody>
      </p:sp>
      <p:sp>
        <p:nvSpPr>
          <p:cNvPr id="117" name="テキスト ボックス 116">
            <a:extLst>
              <a:ext uri="{FF2B5EF4-FFF2-40B4-BE49-F238E27FC236}">
                <a16:creationId xmlns:a16="http://schemas.microsoft.com/office/drawing/2014/main" id="{5205AF04-DAC1-4B58-8777-BEC620EA0155}"/>
              </a:ext>
            </a:extLst>
          </p:cNvPr>
          <p:cNvSpPr txBox="1"/>
          <p:nvPr/>
        </p:nvSpPr>
        <p:spPr>
          <a:xfrm>
            <a:off x="933584" y="8145657"/>
            <a:ext cx="1214072" cy="276999"/>
          </a:xfrm>
          <a:prstGeom prst="rect">
            <a:avLst/>
          </a:prstGeom>
          <a:noFill/>
        </p:spPr>
        <p:txBody>
          <a:bodyPr wrap="square">
            <a:spAutoFit/>
          </a:bodyPr>
          <a:lstStyle/>
          <a:p>
            <a:r>
              <a:rPr lang="ja-JP" altLang="en-US" sz="1200" dirty="0">
                <a:latin typeface="メイリオ" panose="020B0604030504040204" pitchFamily="50" charset="-128"/>
                <a:ea typeface="メイリオ" panose="020B0604030504040204" pitchFamily="50" charset="-128"/>
              </a:rPr>
              <a:t>◎</a:t>
            </a:r>
            <a:r>
              <a:rPr lang="ja-JP" altLang="en-US" sz="1000" dirty="0">
                <a:latin typeface="メイリオ" panose="020B0604030504040204" pitchFamily="50" charset="-128"/>
                <a:ea typeface="メイリオ" panose="020B0604030504040204" pitchFamily="50" charset="-128"/>
              </a:rPr>
              <a:t>転倒リスク</a:t>
            </a:r>
          </a:p>
        </p:txBody>
      </p:sp>
      <p:graphicFrame>
        <p:nvGraphicFramePr>
          <p:cNvPr id="118" name="表 117">
            <a:extLst>
              <a:ext uri="{FF2B5EF4-FFF2-40B4-BE49-F238E27FC236}">
                <a16:creationId xmlns:a16="http://schemas.microsoft.com/office/drawing/2014/main" id="{541717D3-75A1-4460-8A1C-54B03E7BF39A}"/>
              </a:ext>
            </a:extLst>
          </p:cNvPr>
          <p:cNvGraphicFramePr>
            <a:graphicFrameLocks noGrp="1"/>
          </p:cNvGraphicFramePr>
          <p:nvPr>
            <p:extLst>
              <p:ext uri="{D42A27DB-BD31-4B8C-83A1-F6EECF244321}">
                <p14:modId xmlns:p14="http://schemas.microsoft.com/office/powerpoint/2010/main" val="2101602765"/>
              </p:ext>
            </p:extLst>
          </p:nvPr>
        </p:nvGraphicFramePr>
        <p:xfrm>
          <a:off x="8669372" y="2863566"/>
          <a:ext cx="1305869" cy="1463040"/>
        </p:xfrm>
        <a:graphic>
          <a:graphicData uri="http://schemas.openxmlformats.org/drawingml/2006/table">
            <a:tbl>
              <a:tblPr firstRow="1" bandRow="1">
                <a:tableStyleId>{8799B23B-EC83-4686-B30A-512413B5E67A}</a:tableStyleId>
              </a:tblPr>
              <a:tblGrid>
                <a:gridCol w="315297">
                  <a:extLst>
                    <a:ext uri="{9D8B030D-6E8A-4147-A177-3AD203B41FA5}">
                      <a16:colId xmlns:a16="http://schemas.microsoft.com/office/drawing/2014/main" val="258627500"/>
                    </a:ext>
                  </a:extLst>
                </a:gridCol>
                <a:gridCol w="990572">
                  <a:extLst>
                    <a:ext uri="{9D8B030D-6E8A-4147-A177-3AD203B41FA5}">
                      <a16:colId xmlns:a16="http://schemas.microsoft.com/office/drawing/2014/main" val="2293094048"/>
                    </a:ext>
                  </a:extLst>
                </a:gridCol>
              </a:tblGrid>
              <a:tr h="1380913">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1" lang="ja-JP" altLang="en-US" sz="1100" b="1" i="0" u="none" strike="noStrike" kern="1200" cap="none" spc="0" normalizeH="0" baseline="0" dirty="0">
                          <a:ln>
                            <a:noFill/>
                          </a:ln>
                          <a:solidFill>
                            <a:prstClr val="black"/>
                          </a:solidFill>
                          <a:effectLst/>
                          <a:uLnTx/>
                          <a:uFillTx/>
                          <a:latin typeface="メイリオ" panose="020B0604030504040204" pitchFamily="50" charset="-128"/>
                          <a:ea typeface="メイリオ" panose="020B0604030504040204" pitchFamily="50" charset="-128"/>
                          <a:cs typeface="+mn-cs"/>
                        </a:rPr>
                        <a:t>背中・肩</a:t>
                      </a:r>
                    </a:p>
                  </a:txBody>
                  <a:tcPr anchor="ctr"/>
                </a:tc>
                <a:tc>
                  <a:txBody>
                    <a:bodyPr/>
                    <a:lstStyle/>
                    <a:p>
                      <a:r>
                        <a:rPr lang="ja-JP" altLang="en-US" sz="1000" b="0" dirty="0">
                          <a:solidFill>
                            <a:srgbClr val="FF0000"/>
                          </a:solidFill>
                          <a:latin typeface="メイリオ" panose="020B0604030504040204" pitchFamily="50" charset="-128"/>
                          <a:ea typeface="メイリオ" panose="020B0604030504040204" pitchFamily="50" charset="-128"/>
                        </a:rPr>
                        <a:t>脊柱起立筋</a:t>
                      </a:r>
                      <a:endParaRPr lang="en-US" altLang="ja-JP" sz="1000" b="0" dirty="0">
                        <a:solidFill>
                          <a:srgbClr val="FF0000"/>
                        </a:solidFill>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00" b="0" dirty="0">
                          <a:solidFill>
                            <a:srgbClr val="FF0000"/>
                          </a:solidFill>
                          <a:latin typeface="メイリオ" panose="020B0604030504040204" pitchFamily="50" charset="-128"/>
                          <a:ea typeface="メイリオ" panose="020B0604030504040204" pitchFamily="50" charset="-128"/>
                        </a:rPr>
                        <a:t>広背筋</a:t>
                      </a:r>
                      <a:endParaRPr lang="en-US" altLang="ja-JP" sz="1000" b="0" dirty="0">
                        <a:solidFill>
                          <a:srgbClr val="FF0000"/>
                        </a:solidFill>
                        <a:latin typeface="メイリオ" panose="020B0604030504040204" pitchFamily="50" charset="-128"/>
                        <a:ea typeface="メイリオ" panose="020B0604030504040204" pitchFamily="50" charset="-128"/>
                      </a:endParaRPr>
                    </a:p>
                    <a:p>
                      <a:r>
                        <a:rPr lang="ja-JP" altLang="en-US" sz="1000" b="0" dirty="0">
                          <a:latin typeface="メイリオ" panose="020B0604030504040204" pitchFamily="50" charset="-128"/>
                          <a:ea typeface="メイリオ" panose="020B0604030504040204" pitchFamily="50" charset="-128"/>
                        </a:rPr>
                        <a:t>僧帽筋</a:t>
                      </a:r>
                      <a:endParaRPr lang="en-US" altLang="ja-JP" sz="1000" b="0" dirty="0">
                        <a:latin typeface="メイリオ" panose="020B0604030504040204" pitchFamily="50" charset="-128"/>
                        <a:ea typeface="メイリオ" panose="020B0604030504040204" pitchFamily="50" charset="-128"/>
                      </a:endParaRPr>
                    </a:p>
                    <a:p>
                      <a:r>
                        <a:rPr lang="ja-JP" altLang="en-US" sz="1000" b="0" dirty="0">
                          <a:latin typeface="メイリオ" panose="020B0604030504040204" pitchFamily="50" charset="-128"/>
                          <a:ea typeface="メイリオ" panose="020B0604030504040204" pitchFamily="50" charset="-128"/>
                        </a:rPr>
                        <a:t>棘上筋</a:t>
                      </a:r>
                      <a:endParaRPr lang="en-US" altLang="ja-JP" sz="1000" b="0" dirty="0">
                        <a:latin typeface="メイリオ" panose="020B0604030504040204" pitchFamily="50" charset="-128"/>
                        <a:ea typeface="メイリオ" panose="020B0604030504040204" pitchFamily="50" charset="-128"/>
                      </a:endParaRPr>
                    </a:p>
                    <a:p>
                      <a:r>
                        <a:rPr lang="ja-JP" altLang="en-US" sz="1000" b="0" dirty="0">
                          <a:latin typeface="メイリオ" panose="020B0604030504040204" pitchFamily="50" charset="-128"/>
                          <a:ea typeface="メイリオ" panose="020B0604030504040204" pitchFamily="50" charset="-128"/>
                        </a:rPr>
                        <a:t>棘下筋</a:t>
                      </a:r>
                      <a:endParaRPr lang="en-US" altLang="ja-JP" sz="1000" b="0" dirty="0">
                        <a:latin typeface="メイリオ" panose="020B0604030504040204" pitchFamily="50" charset="-128"/>
                        <a:ea typeface="メイリオ" panose="020B0604030504040204" pitchFamily="50" charset="-128"/>
                      </a:endParaRPr>
                    </a:p>
                    <a:p>
                      <a:r>
                        <a:rPr lang="ja-JP" altLang="en-US" sz="1000" b="0" dirty="0">
                          <a:latin typeface="メイリオ" panose="020B0604030504040204" pitchFamily="50" charset="-128"/>
                          <a:ea typeface="メイリオ" panose="020B0604030504040204" pitchFamily="50" charset="-128"/>
                        </a:rPr>
                        <a:t>前鋸筋</a:t>
                      </a:r>
                      <a:endParaRPr lang="en-US" altLang="ja-JP" sz="1000" b="0" dirty="0">
                        <a:latin typeface="メイリオ" panose="020B0604030504040204" pitchFamily="50" charset="-128"/>
                        <a:ea typeface="メイリオ" panose="020B0604030504040204" pitchFamily="50" charset="-128"/>
                      </a:endParaRPr>
                    </a:p>
                    <a:p>
                      <a:r>
                        <a:rPr lang="ja-JP" altLang="en-US" sz="1000" b="0" dirty="0">
                          <a:latin typeface="メイリオ" panose="020B0604030504040204" pitchFamily="50" charset="-128"/>
                          <a:ea typeface="メイリオ" panose="020B0604030504040204" pitchFamily="50" charset="-128"/>
                        </a:rPr>
                        <a:t>肩甲下筋</a:t>
                      </a:r>
                      <a:endParaRPr lang="en-US" altLang="ja-JP" sz="1000" b="0" dirty="0">
                        <a:latin typeface="メイリオ" panose="020B0604030504040204" pitchFamily="50" charset="-128"/>
                        <a:ea typeface="メイリオ" panose="020B0604030504040204" pitchFamily="50" charset="-128"/>
                      </a:endParaRPr>
                    </a:p>
                    <a:p>
                      <a:r>
                        <a:rPr lang="ja-JP" altLang="en-US" sz="1000" b="0" dirty="0">
                          <a:latin typeface="メイリオ" panose="020B0604030504040204" pitchFamily="50" charset="-128"/>
                          <a:ea typeface="メイリオ" panose="020B0604030504040204" pitchFamily="50" charset="-128"/>
                        </a:rPr>
                        <a:t>大円筋</a:t>
                      </a:r>
                      <a:endParaRPr lang="en-US" altLang="ja-JP" sz="1000" b="0" dirty="0">
                        <a:latin typeface="メイリオ" panose="020B0604030504040204" pitchFamily="50" charset="-128"/>
                        <a:ea typeface="メイリオ" panose="020B0604030504040204" pitchFamily="50" charset="-128"/>
                      </a:endParaRPr>
                    </a:p>
                    <a:p>
                      <a:r>
                        <a:rPr lang="ja-JP" altLang="en-US" sz="1000" b="0" dirty="0">
                          <a:latin typeface="メイリオ" panose="020B0604030504040204" pitchFamily="50" charset="-128"/>
                          <a:ea typeface="メイリオ" panose="020B0604030504040204" pitchFamily="50" charset="-128"/>
                        </a:rPr>
                        <a:t>小円筋</a:t>
                      </a:r>
                      <a:endParaRPr lang="en-US" altLang="ja-JP" sz="1000" b="0" dirty="0">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1882783772"/>
                  </a:ext>
                </a:extLst>
              </a:tr>
            </a:tbl>
          </a:graphicData>
        </a:graphic>
      </p:graphicFrame>
      <p:sp>
        <p:nvSpPr>
          <p:cNvPr id="119" name="テキスト ボックス 118">
            <a:extLst>
              <a:ext uri="{FF2B5EF4-FFF2-40B4-BE49-F238E27FC236}">
                <a16:creationId xmlns:a16="http://schemas.microsoft.com/office/drawing/2014/main" id="{55CD6E55-14BD-436D-A1A2-AD6828DFBC14}"/>
              </a:ext>
            </a:extLst>
          </p:cNvPr>
          <p:cNvSpPr txBox="1"/>
          <p:nvPr/>
        </p:nvSpPr>
        <p:spPr>
          <a:xfrm>
            <a:off x="8630074" y="4347222"/>
            <a:ext cx="3004982" cy="253916"/>
          </a:xfrm>
          <a:prstGeom prst="rect">
            <a:avLst/>
          </a:prstGeom>
          <a:noFill/>
        </p:spPr>
        <p:txBody>
          <a:bodyPr wrap="square">
            <a:spAutoFit/>
          </a:bodyPr>
          <a:lstStyle/>
          <a:p>
            <a:r>
              <a:rPr lang="ja-JP" altLang="en-US" sz="1050" b="1" dirty="0">
                <a:latin typeface="メイリオ" panose="020B0604030504040204" pitchFamily="50" charset="-128"/>
                <a:ea typeface="メイリオ" panose="020B0604030504040204" pitchFamily="50" charset="-128"/>
              </a:rPr>
              <a:t>機能：姿勢保持、肩・腕の運動、肩関節安定</a:t>
            </a:r>
          </a:p>
        </p:txBody>
      </p:sp>
      <p:sp>
        <p:nvSpPr>
          <p:cNvPr id="120" name="テキスト ボックス 119">
            <a:extLst>
              <a:ext uri="{FF2B5EF4-FFF2-40B4-BE49-F238E27FC236}">
                <a16:creationId xmlns:a16="http://schemas.microsoft.com/office/drawing/2014/main" id="{D70632B0-5D9D-4F62-8DD7-E4B9081DDD10}"/>
              </a:ext>
            </a:extLst>
          </p:cNvPr>
          <p:cNvSpPr txBox="1"/>
          <p:nvPr/>
        </p:nvSpPr>
        <p:spPr>
          <a:xfrm>
            <a:off x="8622625" y="4504325"/>
            <a:ext cx="1194799" cy="246221"/>
          </a:xfrm>
          <a:prstGeom prst="rect">
            <a:avLst/>
          </a:prstGeom>
          <a:noFill/>
        </p:spPr>
        <p:txBody>
          <a:bodyPr wrap="square">
            <a:spAutoFit/>
          </a:bodyPr>
          <a:lstStyle/>
          <a:p>
            <a:r>
              <a:rPr lang="ja-JP" altLang="en-US" sz="1000" dirty="0">
                <a:latin typeface="メイリオ" panose="020B0604030504040204" pitchFamily="50" charset="-128"/>
                <a:ea typeface="メイリオ" panose="020B0604030504040204" pitchFamily="50" charset="-128"/>
              </a:rPr>
              <a:t>〇転倒リスク</a:t>
            </a:r>
          </a:p>
        </p:txBody>
      </p:sp>
      <p:sp>
        <p:nvSpPr>
          <p:cNvPr id="121" name="テキスト ボックス 120">
            <a:extLst>
              <a:ext uri="{FF2B5EF4-FFF2-40B4-BE49-F238E27FC236}">
                <a16:creationId xmlns:a16="http://schemas.microsoft.com/office/drawing/2014/main" id="{D479ABA5-7224-49F7-A7DF-60EF66A39355}"/>
              </a:ext>
            </a:extLst>
          </p:cNvPr>
          <p:cNvSpPr txBox="1"/>
          <p:nvPr/>
        </p:nvSpPr>
        <p:spPr>
          <a:xfrm>
            <a:off x="9554274" y="4514772"/>
            <a:ext cx="2039223" cy="246221"/>
          </a:xfrm>
          <a:prstGeom prst="rect">
            <a:avLst/>
          </a:prstGeom>
          <a:noFill/>
        </p:spPr>
        <p:txBody>
          <a:bodyPr wrap="square">
            <a:spAutoFit/>
          </a:bodyPr>
          <a:lstStyle/>
          <a:p>
            <a:r>
              <a:rPr lang="ja-JP" altLang="en-US" sz="1000" dirty="0">
                <a:latin typeface="メイリオ" panose="020B0604030504040204" pitchFamily="50" charset="-128"/>
                <a:ea typeface="メイリオ" panose="020B0604030504040204" pitchFamily="50" charset="-128"/>
              </a:rPr>
              <a:t>〇背骨疾患リスク </a:t>
            </a:r>
            <a:r>
              <a:rPr lang="en-US" altLang="ja-JP" sz="1000" dirty="0">
                <a:latin typeface="メイリオ" panose="020B0604030504040204" pitchFamily="50" charset="-128"/>
                <a:ea typeface="メイリオ" panose="020B0604030504040204" pitchFamily="50" charset="-128"/>
              </a:rPr>
              <a:t>(</a:t>
            </a:r>
            <a:r>
              <a:rPr lang="ja-JP" altLang="en-US" sz="1000" dirty="0">
                <a:latin typeface="メイリオ" panose="020B0604030504040204" pitchFamily="50" charset="-128"/>
                <a:ea typeface="メイリオ" panose="020B0604030504040204" pitchFamily="50" charset="-128"/>
              </a:rPr>
              <a:t>骨折</a:t>
            </a:r>
            <a:r>
              <a:rPr lang="en-US" altLang="ja-JP" sz="1000" dirty="0">
                <a:latin typeface="メイリオ" panose="020B0604030504040204" pitchFamily="50" charset="-128"/>
                <a:ea typeface="メイリオ" panose="020B0604030504040204" pitchFamily="50" charset="-128"/>
              </a:rPr>
              <a:t>/</a:t>
            </a:r>
            <a:r>
              <a:rPr lang="ja-JP" altLang="en-US" sz="1000" dirty="0">
                <a:latin typeface="メイリオ" panose="020B0604030504040204" pitchFamily="50" charset="-128"/>
                <a:ea typeface="メイリオ" panose="020B0604030504040204" pitchFamily="50" charset="-128"/>
              </a:rPr>
              <a:t>狭窄</a:t>
            </a:r>
            <a:r>
              <a:rPr lang="en-US" altLang="ja-JP" sz="1000" dirty="0">
                <a:latin typeface="メイリオ" panose="020B0604030504040204" pitchFamily="50" charset="-128"/>
                <a:ea typeface="メイリオ" panose="020B0604030504040204" pitchFamily="50" charset="-128"/>
              </a:rPr>
              <a:t>)</a:t>
            </a:r>
            <a:endParaRPr lang="ja-JP" altLang="en-US" sz="1000" dirty="0">
              <a:latin typeface="メイリオ" panose="020B0604030504040204" pitchFamily="50" charset="-128"/>
              <a:ea typeface="メイリオ" panose="020B0604030504040204" pitchFamily="50" charset="-128"/>
            </a:endParaRPr>
          </a:p>
        </p:txBody>
      </p:sp>
      <p:graphicFrame>
        <p:nvGraphicFramePr>
          <p:cNvPr id="122" name="表 121">
            <a:extLst>
              <a:ext uri="{FF2B5EF4-FFF2-40B4-BE49-F238E27FC236}">
                <a16:creationId xmlns:a16="http://schemas.microsoft.com/office/drawing/2014/main" id="{30E7FB19-27DE-40E0-B2D7-FBD2F37A659F}"/>
              </a:ext>
            </a:extLst>
          </p:cNvPr>
          <p:cNvGraphicFramePr>
            <a:graphicFrameLocks noGrp="1"/>
          </p:cNvGraphicFramePr>
          <p:nvPr>
            <p:extLst>
              <p:ext uri="{D42A27DB-BD31-4B8C-83A1-F6EECF244321}">
                <p14:modId xmlns:p14="http://schemas.microsoft.com/office/powerpoint/2010/main" val="1493159660"/>
              </p:ext>
            </p:extLst>
          </p:nvPr>
        </p:nvGraphicFramePr>
        <p:xfrm>
          <a:off x="8705939" y="4814246"/>
          <a:ext cx="1232734" cy="744116"/>
        </p:xfrm>
        <a:graphic>
          <a:graphicData uri="http://schemas.openxmlformats.org/drawingml/2006/table">
            <a:tbl>
              <a:tblPr firstRow="1" bandRow="1">
                <a:tableStyleId>{8799B23B-EC83-4686-B30A-512413B5E67A}</a:tableStyleId>
              </a:tblPr>
              <a:tblGrid>
                <a:gridCol w="267949">
                  <a:extLst>
                    <a:ext uri="{9D8B030D-6E8A-4147-A177-3AD203B41FA5}">
                      <a16:colId xmlns:a16="http://schemas.microsoft.com/office/drawing/2014/main" val="631247754"/>
                    </a:ext>
                  </a:extLst>
                </a:gridCol>
                <a:gridCol w="964785">
                  <a:extLst>
                    <a:ext uri="{9D8B030D-6E8A-4147-A177-3AD203B41FA5}">
                      <a16:colId xmlns:a16="http://schemas.microsoft.com/office/drawing/2014/main" val="4231436098"/>
                    </a:ext>
                  </a:extLst>
                </a:gridCol>
              </a:tblGrid>
              <a:tr h="744116">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1" lang="ja-JP" altLang="en-US" sz="1100" b="1" i="0" u="none" strike="noStrike" kern="1200" cap="none" spc="0" normalizeH="0" baseline="0" dirty="0">
                          <a:ln>
                            <a:noFill/>
                          </a:ln>
                          <a:solidFill>
                            <a:prstClr val="black"/>
                          </a:solidFill>
                          <a:effectLst/>
                          <a:uLnTx/>
                          <a:uFillTx/>
                          <a:latin typeface="メイリオ" panose="020B0604030504040204" pitchFamily="50" charset="-128"/>
                          <a:ea typeface="メイリオ" panose="020B0604030504040204" pitchFamily="50" charset="-128"/>
                          <a:cs typeface="+mn-cs"/>
                        </a:rPr>
                        <a:t>お尻</a:t>
                      </a:r>
                    </a:p>
                  </a:txBody>
                  <a:tcPr anchor="ctr"/>
                </a:tc>
                <a:tc>
                  <a:txBody>
                    <a:bodyPr/>
                    <a:lstStyle/>
                    <a:p>
                      <a:r>
                        <a:rPr lang="zh-TW" altLang="en-US" sz="1000" b="0" dirty="0">
                          <a:solidFill>
                            <a:srgbClr val="FF0000"/>
                          </a:solidFill>
                          <a:latin typeface="メイリオ" panose="020B0604030504040204" pitchFamily="50" charset="-128"/>
                          <a:ea typeface="メイリオ" panose="020B0604030504040204" pitchFamily="50" charset="-128"/>
                        </a:rPr>
                        <a:t>大</a:t>
                      </a:r>
                      <a:r>
                        <a:rPr lang="ja-JP" altLang="en-US" sz="1000" b="0" dirty="0">
                          <a:solidFill>
                            <a:srgbClr val="FF0000"/>
                          </a:solidFill>
                          <a:latin typeface="メイリオ" panose="020B0604030504040204" pitchFamily="50" charset="-128"/>
                          <a:ea typeface="メイリオ" panose="020B0604030504040204" pitchFamily="50" charset="-128"/>
                        </a:rPr>
                        <a:t>殿筋</a:t>
                      </a:r>
                      <a:endParaRPr lang="en-US" altLang="ja-JP" sz="1000" b="0" dirty="0">
                        <a:solidFill>
                          <a:srgbClr val="FF0000"/>
                        </a:solidFill>
                        <a:latin typeface="メイリオ" panose="020B0604030504040204" pitchFamily="50" charset="-128"/>
                        <a:ea typeface="メイリオ" panose="020B0604030504040204" pitchFamily="50" charset="-128"/>
                      </a:endParaRPr>
                    </a:p>
                    <a:p>
                      <a:r>
                        <a:rPr lang="zh-TW" altLang="en-US" sz="1000" b="0" dirty="0">
                          <a:solidFill>
                            <a:srgbClr val="FF0000"/>
                          </a:solidFill>
                          <a:latin typeface="メイリオ" panose="020B0604030504040204" pitchFamily="50" charset="-128"/>
                          <a:ea typeface="メイリオ" panose="020B0604030504040204" pitchFamily="50" charset="-128"/>
                        </a:rPr>
                        <a:t>中</a:t>
                      </a:r>
                      <a:r>
                        <a:rPr lang="ja-JP" altLang="en-US" sz="1000" b="0" dirty="0">
                          <a:solidFill>
                            <a:srgbClr val="FF0000"/>
                          </a:solidFill>
                          <a:latin typeface="メイリオ" panose="020B0604030504040204" pitchFamily="50" charset="-128"/>
                          <a:ea typeface="メイリオ" panose="020B0604030504040204" pitchFamily="50" charset="-128"/>
                        </a:rPr>
                        <a:t>殿筋</a:t>
                      </a:r>
                      <a:endParaRPr lang="en-US" altLang="ja-JP" sz="1000" b="0" dirty="0">
                        <a:solidFill>
                          <a:srgbClr val="FF0000"/>
                        </a:solidFill>
                        <a:latin typeface="メイリオ" panose="020B0604030504040204" pitchFamily="50" charset="-128"/>
                        <a:ea typeface="メイリオ" panose="020B0604030504040204" pitchFamily="50" charset="-128"/>
                      </a:endParaRPr>
                    </a:p>
                    <a:p>
                      <a:r>
                        <a:rPr lang="zh-TW" altLang="en-US" sz="1000" b="0" dirty="0">
                          <a:solidFill>
                            <a:srgbClr val="FF0000"/>
                          </a:solidFill>
                          <a:latin typeface="メイリオ" panose="020B0604030504040204" pitchFamily="50" charset="-128"/>
                          <a:ea typeface="メイリオ" panose="020B0604030504040204" pitchFamily="50" charset="-128"/>
                        </a:rPr>
                        <a:t>小殿筋</a:t>
                      </a:r>
                      <a:endParaRPr lang="en-US" altLang="zh-TW" sz="1000" b="0" dirty="0">
                        <a:solidFill>
                          <a:srgbClr val="FF0000"/>
                        </a:solidFill>
                        <a:latin typeface="メイリオ" panose="020B0604030504040204" pitchFamily="50" charset="-128"/>
                        <a:ea typeface="メイリオ" panose="020B0604030504040204" pitchFamily="50" charset="-128"/>
                      </a:endParaRPr>
                    </a:p>
                    <a:p>
                      <a:r>
                        <a:rPr lang="zh-TW" altLang="en-US" sz="900" b="0" dirty="0">
                          <a:solidFill>
                            <a:srgbClr val="FF0000"/>
                          </a:solidFill>
                          <a:latin typeface="メイリオ" panose="020B0604030504040204" pitchFamily="50" charset="-128"/>
                          <a:ea typeface="メイリオ" panose="020B0604030504040204" pitchFamily="50" charset="-128"/>
                        </a:rPr>
                        <a:t>大腿筋膜張筋</a:t>
                      </a:r>
                    </a:p>
                  </a:txBody>
                  <a:tcPr anchor="ctr"/>
                </a:tc>
                <a:extLst>
                  <a:ext uri="{0D108BD9-81ED-4DB2-BD59-A6C34878D82A}">
                    <a16:rowId xmlns:a16="http://schemas.microsoft.com/office/drawing/2014/main" val="2017471924"/>
                  </a:ext>
                </a:extLst>
              </a:tr>
            </a:tbl>
          </a:graphicData>
        </a:graphic>
      </p:graphicFrame>
      <p:sp>
        <p:nvSpPr>
          <p:cNvPr id="123" name="テキスト ボックス 122">
            <a:extLst>
              <a:ext uri="{FF2B5EF4-FFF2-40B4-BE49-F238E27FC236}">
                <a16:creationId xmlns:a16="http://schemas.microsoft.com/office/drawing/2014/main" id="{C3131E5D-D300-4C7F-A8F5-FD17ED166BCF}"/>
              </a:ext>
            </a:extLst>
          </p:cNvPr>
          <p:cNvSpPr txBox="1"/>
          <p:nvPr/>
        </p:nvSpPr>
        <p:spPr>
          <a:xfrm>
            <a:off x="8617472" y="5540927"/>
            <a:ext cx="2750900" cy="253916"/>
          </a:xfrm>
          <a:prstGeom prst="rect">
            <a:avLst/>
          </a:prstGeom>
          <a:noFill/>
        </p:spPr>
        <p:txBody>
          <a:bodyPr wrap="square">
            <a:spAutoFit/>
          </a:bodyPr>
          <a:lstStyle/>
          <a:p>
            <a:r>
              <a:rPr lang="ja-JP" altLang="en-US" sz="1050" b="1" dirty="0">
                <a:latin typeface="メイリオ" panose="020B0604030504040204" pitchFamily="50" charset="-128"/>
                <a:ea typeface="メイリオ" panose="020B0604030504040204" pitchFamily="50" charset="-128"/>
              </a:rPr>
              <a:t>機能：股関節伸展・外転、片脚立ちの安定</a:t>
            </a:r>
          </a:p>
        </p:txBody>
      </p:sp>
      <p:sp>
        <p:nvSpPr>
          <p:cNvPr id="124" name="テキスト ボックス 123">
            <a:extLst>
              <a:ext uri="{FF2B5EF4-FFF2-40B4-BE49-F238E27FC236}">
                <a16:creationId xmlns:a16="http://schemas.microsoft.com/office/drawing/2014/main" id="{2652295C-4350-4B47-B1DE-04E46665ECC0}"/>
              </a:ext>
            </a:extLst>
          </p:cNvPr>
          <p:cNvSpPr txBox="1"/>
          <p:nvPr/>
        </p:nvSpPr>
        <p:spPr>
          <a:xfrm>
            <a:off x="8625222" y="5727089"/>
            <a:ext cx="1194799" cy="246221"/>
          </a:xfrm>
          <a:prstGeom prst="rect">
            <a:avLst/>
          </a:prstGeom>
          <a:noFill/>
        </p:spPr>
        <p:txBody>
          <a:bodyPr wrap="square">
            <a:spAutoFit/>
          </a:bodyPr>
          <a:lstStyle/>
          <a:p>
            <a:r>
              <a:rPr lang="ja-JP" altLang="en-US" sz="1000" dirty="0">
                <a:latin typeface="メイリオ" panose="020B0604030504040204" pitchFamily="50" charset="-128"/>
                <a:ea typeface="メイリオ" panose="020B0604030504040204" pitchFamily="50" charset="-128"/>
              </a:rPr>
              <a:t>〇転倒リスク</a:t>
            </a:r>
          </a:p>
        </p:txBody>
      </p:sp>
      <p:sp>
        <p:nvSpPr>
          <p:cNvPr id="125" name="テキスト ボックス 124">
            <a:extLst>
              <a:ext uri="{FF2B5EF4-FFF2-40B4-BE49-F238E27FC236}">
                <a16:creationId xmlns:a16="http://schemas.microsoft.com/office/drawing/2014/main" id="{ABD3DD20-D61E-4DF2-8C81-2B028DD8FCEB}"/>
              </a:ext>
            </a:extLst>
          </p:cNvPr>
          <p:cNvSpPr txBox="1"/>
          <p:nvPr/>
        </p:nvSpPr>
        <p:spPr>
          <a:xfrm>
            <a:off x="9484589" y="5722682"/>
            <a:ext cx="1016665" cy="253916"/>
          </a:xfrm>
          <a:prstGeom prst="rect">
            <a:avLst/>
          </a:prstGeom>
          <a:noFill/>
        </p:spPr>
        <p:txBody>
          <a:bodyPr wrap="square">
            <a:spAutoFit/>
          </a:bodyPr>
          <a:lstStyle/>
          <a:p>
            <a:r>
              <a:rPr lang="ja-JP" altLang="en-US" sz="1000" dirty="0">
                <a:latin typeface="メイリオ" panose="020B0604030504040204" pitchFamily="50" charset="-128"/>
                <a:ea typeface="メイリオ" panose="020B0604030504040204" pitchFamily="50" charset="-128"/>
              </a:rPr>
              <a:t>〇膝</a:t>
            </a:r>
            <a:r>
              <a:rPr lang="en-US" altLang="ja-JP" sz="1000" dirty="0">
                <a:latin typeface="メイリオ" panose="020B0604030504040204" pitchFamily="50" charset="-128"/>
                <a:ea typeface="メイリオ" panose="020B0604030504040204" pitchFamily="50" charset="-128"/>
              </a:rPr>
              <a:t>OA</a:t>
            </a:r>
            <a:r>
              <a:rPr lang="ja-JP" altLang="en-US" sz="1000" dirty="0">
                <a:latin typeface="メイリオ" panose="020B0604030504040204" pitchFamily="50" charset="-128"/>
                <a:ea typeface="メイリオ" panose="020B0604030504040204" pitchFamily="50" charset="-128"/>
              </a:rPr>
              <a:t>リスク</a:t>
            </a:r>
          </a:p>
        </p:txBody>
      </p:sp>
      <p:sp>
        <p:nvSpPr>
          <p:cNvPr id="127" name="テキスト ボックス 126">
            <a:extLst>
              <a:ext uri="{FF2B5EF4-FFF2-40B4-BE49-F238E27FC236}">
                <a16:creationId xmlns:a16="http://schemas.microsoft.com/office/drawing/2014/main" id="{AEE0A6EF-B964-4841-817C-78F1185577FC}"/>
              </a:ext>
            </a:extLst>
          </p:cNvPr>
          <p:cNvSpPr txBox="1"/>
          <p:nvPr/>
        </p:nvSpPr>
        <p:spPr>
          <a:xfrm>
            <a:off x="8610750" y="6837610"/>
            <a:ext cx="2817349" cy="253916"/>
          </a:xfrm>
          <a:prstGeom prst="rect">
            <a:avLst/>
          </a:prstGeom>
          <a:noFill/>
        </p:spPr>
        <p:txBody>
          <a:bodyPr wrap="square">
            <a:spAutoFit/>
          </a:bodyPr>
          <a:lstStyle/>
          <a:p>
            <a:r>
              <a:rPr lang="ja-JP" altLang="en-US" sz="1050" b="1" dirty="0">
                <a:latin typeface="メイリオ" panose="020B0604030504040204" pitchFamily="50" charset="-128"/>
                <a:ea typeface="メイリオ" panose="020B0604030504040204" pitchFamily="50" charset="-128"/>
              </a:rPr>
              <a:t>機能：股関節伸展・外転、片脚立ちの安定</a:t>
            </a:r>
          </a:p>
        </p:txBody>
      </p:sp>
      <p:graphicFrame>
        <p:nvGraphicFramePr>
          <p:cNvPr id="128" name="表 127">
            <a:extLst>
              <a:ext uri="{FF2B5EF4-FFF2-40B4-BE49-F238E27FC236}">
                <a16:creationId xmlns:a16="http://schemas.microsoft.com/office/drawing/2014/main" id="{5F50E49A-3B13-4BD7-8A1D-A8CF925E913F}"/>
              </a:ext>
            </a:extLst>
          </p:cNvPr>
          <p:cNvGraphicFramePr>
            <a:graphicFrameLocks noGrp="1"/>
          </p:cNvGraphicFramePr>
          <p:nvPr>
            <p:extLst>
              <p:ext uri="{D42A27DB-BD31-4B8C-83A1-F6EECF244321}">
                <p14:modId xmlns:p14="http://schemas.microsoft.com/office/powerpoint/2010/main" val="3156349600"/>
              </p:ext>
            </p:extLst>
          </p:nvPr>
        </p:nvGraphicFramePr>
        <p:xfrm>
          <a:off x="8713040" y="6106929"/>
          <a:ext cx="1231941" cy="704116"/>
        </p:xfrm>
        <a:graphic>
          <a:graphicData uri="http://schemas.openxmlformats.org/drawingml/2006/table">
            <a:tbl>
              <a:tblPr firstRow="1" bandRow="1">
                <a:tableStyleId>{8799B23B-EC83-4686-B30A-512413B5E67A}</a:tableStyleId>
              </a:tblPr>
              <a:tblGrid>
                <a:gridCol w="290478">
                  <a:extLst>
                    <a:ext uri="{9D8B030D-6E8A-4147-A177-3AD203B41FA5}">
                      <a16:colId xmlns:a16="http://schemas.microsoft.com/office/drawing/2014/main" val="1039484250"/>
                    </a:ext>
                  </a:extLst>
                </a:gridCol>
                <a:gridCol w="941463">
                  <a:extLst>
                    <a:ext uri="{9D8B030D-6E8A-4147-A177-3AD203B41FA5}">
                      <a16:colId xmlns:a16="http://schemas.microsoft.com/office/drawing/2014/main" val="2116401510"/>
                    </a:ext>
                  </a:extLst>
                </a:gridCol>
              </a:tblGrid>
              <a:tr h="704116">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1" lang="ja-JP" altLang="en-US" sz="1100" b="1" i="0" u="none" strike="noStrike" kern="1200" cap="none" spc="0" normalizeH="0" baseline="0" dirty="0">
                          <a:ln>
                            <a:noFill/>
                          </a:ln>
                          <a:solidFill>
                            <a:prstClr val="black"/>
                          </a:solidFill>
                          <a:effectLst/>
                          <a:uLnTx/>
                          <a:uFillTx/>
                          <a:latin typeface="メイリオ" panose="020B0604030504040204" pitchFamily="50" charset="-128"/>
                          <a:ea typeface="メイリオ" panose="020B0604030504040204" pitchFamily="50" charset="-128"/>
                          <a:cs typeface="+mn-cs"/>
                        </a:rPr>
                        <a:t>もも裏</a:t>
                      </a:r>
                    </a:p>
                  </a:txBody>
                  <a:tcPr anchor="ctr"/>
                </a:tc>
                <a:tc>
                  <a:txBody>
                    <a:bodyPr/>
                    <a:lstStyle/>
                    <a:p>
                      <a:r>
                        <a:rPr lang="ja-JP" altLang="en-US" sz="1000" b="0" dirty="0">
                          <a:solidFill>
                            <a:srgbClr val="FF0000"/>
                          </a:solidFill>
                          <a:latin typeface="メイリオ" panose="020B0604030504040204" pitchFamily="50" charset="-128"/>
                          <a:ea typeface="メイリオ" panose="020B0604030504040204" pitchFamily="50" charset="-128"/>
                        </a:rPr>
                        <a:t>大腿二頭筋</a:t>
                      </a:r>
                      <a:endParaRPr lang="en-US" altLang="ja-JP" sz="1000" b="0" dirty="0">
                        <a:solidFill>
                          <a:srgbClr val="FF0000"/>
                        </a:solidFill>
                        <a:latin typeface="メイリオ" panose="020B0604030504040204" pitchFamily="50" charset="-128"/>
                        <a:ea typeface="メイリオ" panose="020B0604030504040204" pitchFamily="50" charset="-128"/>
                      </a:endParaRPr>
                    </a:p>
                    <a:p>
                      <a:r>
                        <a:rPr lang="ja-JP" altLang="en-US" sz="1000" b="0" dirty="0">
                          <a:solidFill>
                            <a:srgbClr val="FF0000"/>
                          </a:solidFill>
                          <a:latin typeface="メイリオ" panose="020B0604030504040204" pitchFamily="50" charset="-128"/>
                          <a:ea typeface="メイリオ" panose="020B0604030504040204" pitchFamily="50" charset="-128"/>
                        </a:rPr>
                        <a:t>半腱様筋</a:t>
                      </a:r>
                      <a:endParaRPr lang="en-US" altLang="ja-JP" sz="1000" b="0" dirty="0">
                        <a:solidFill>
                          <a:srgbClr val="FF0000"/>
                        </a:solidFill>
                        <a:latin typeface="メイリオ" panose="020B0604030504040204" pitchFamily="50" charset="-128"/>
                        <a:ea typeface="メイリオ" panose="020B0604030504040204" pitchFamily="50" charset="-128"/>
                      </a:endParaRPr>
                    </a:p>
                    <a:p>
                      <a:r>
                        <a:rPr lang="ja-JP" altLang="en-US" sz="1000" b="0" dirty="0">
                          <a:solidFill>
                            <a:srgbClr val="FF0000"/>
                          </a:solidFill>
                          <a:latin typeface="メイリオ" panose="020B0604030504040204" pitchFamily="50" charset="-128"/>
                          <a:ea typeface="メイリオ" panose="020B0604030504040204" pitchFamily="50" charset="-128"/>
                        </a:rPr>
                        <a:t>半膜様筋</a:t>
                      </a:r>
                    </a:p>
                  </a:txBody>
                  <a:tcPr anchor="ctr"/>
                </a:tc>
                <a:extLst>
                  <a:ext uri="{0D108BD9-81ED-4DB2-BD59-A6C34878D82A}">
                    <a16:rowId xmlns:a16="http://schemas.microsoft.com/office/drawing/2014/main" val="2785691566"/>
                  </a:ext>
                </a:extLst>
              </a:tr>
            </a:tbl>
          </a:graphicData>
        </a:graphic>
      </p:graphicFrame>
      <p:sp>
        <p:nvSpPr>
          <p:cNvPr id="129" name="テキスト ボックス 128">
            <a:extLst>
              <a:ext uri="{FF2B5EF4-FFF2-40B4-BE49-F238E27FC236}">
                <a16:creationId xmlns:a16="http://schemas.microsoft.com/office/drawing/2014/main" id="{5BECC6F9-6D5F-4894-9802-74A0BEC0C999}"/>
              </a:ext>
            </a:extLst>
          </p:cNvPr>
          <p:cNvSpPr txBox="1"/>
          <p:nvPr/>
        </p:nvSpPr>
        <p:spPr>
          <a:xfrm>
            <a:off x="8610750" y="7040509"/>
            <a:ext cx="1194799" cy="246221"/>
          </a:xfrm>
          <a:prstGeom prst="rect">
            <a:avLst/>
          </a:prstGeom>
          <a:noFill/>
        </p:spPr>
        <p:txBody>
          <a:bodyPr wrap="square">
            <a:spAutoFit/>
          </a:bodyPr>
          <a:lstStyle/>
          <a:p>
            <a:r>
              <a:rPr lang="ja-JP" altLang="en-US" sz="1000" dirty="0">
                <a:latin typeface="メイリオ" panose="020B0604030504040204" pitchFamily="50" charset="-128"/>
                <a:ea typeface="メイリオ" panose="020B0604030504040204" pitchFamily="50" charset="-128"/>
              </a:rPr>
              <a:t>〇転倒リスク</a:t>
            </a:r>
          </a:p>
        </p:txBody>
      </p:sp>
      <p:sp>
        <p:nvSpPr>
          <p:cNvPr id="130" name="テキスト ボックス 129">
            <a:extLst>
              <a:ext uri="{FF2B5EF4-FFF2-40B4-BE49-F238E27FC236}">
                <a16:creationId xmlns:a16="http://schemas.microsoft.com/office/drawing/2014/main" id="{17118606-909F-4BF6-835B-FBE4086FD6CD}"/>
              </a:ext>
            </a:extLst>
          </p:cNvPr>
          <p:cNvSpPr txBox="1"/>
          <p:nvPr/>
        </p:nvSpPr>
        <p:spPr>
          <a:xfrm>
            <a:off x="9458407" y="7030359"/>
            <a:ext cx="1391017" cy="253916"/>
          </a:xfrm>
          <a:prstGeom prst="rect">
            <a:avLst/>
          </a:prstGeom>
          <a:noFill/>
        </p:spPr>
        <p:txBody>
          <a:bodyPr wrap="square">
            <a:spAutoFit/>
          </a:bodyPr>
          <a:lstStyle/>
          <a:p>
            <a:r>
              <a:rPr lang="ja-JP" altLang="en-US" sz="1000" dirty="0">
                <a:latin typeface="メイリオ" panose="020B0604030504040204" pitchFamily="50" charset="-128"/>
                <a:ea typeface="メイリオ" panose="020B0604030504040204" pitchFamily="50" charset="-128"/>
              </a:rPr>
              <a:t>〇大腿骨骨折リスク</a:t>
            </a:r>
          </a:p>
        </p:txBody>
      </p:sp>
      <p:graphicFrame>
        <p:nvGraphicFramePr>
          <p:cNvPr id="131" name="表 130">
            <a:extLst>
              <a:ext uri="{FF2B5EF4-FFF2-40B4-BE49-F238E27FC236}">
                <a16:creationId xmlns:a16="http://schemas.microsoft.com/office/drawing/2014/main" id="{1F8AD5EE-AF40-449B-A81A-71DB6A8F69B0}"/>
              </a:ext>
            </a:extLst>
          </p:cNvPr>
          <p:cNvGraphicFramePr>
            <a:graphicFrameLocks noGrp="1"/>
          </p:cNvGraphicFramePr>
          <p:nvPr>
            <p:extLst>
              <p:ext uri="{D42A27DB-BD31-4B8C-83A1-F6EECF244321}">
                <p14:modId xmlns:p14="http://schemas.microsoft.com/office/powerpoint/2010/main" val="1067028804"/>
              </p:ext>
            </p:extLst>
          </p:nvPr>
        </p:nvGraphicFramePr>
        <p:xfrm>
          <a:off x="8677655" y="7515088"/>
          <a:ext cx="1222938" cy="594360"/>
        </p:xfrm>
        <a:graphic>
          <a:graphicData uri="http://schemas.openxmlformats.org/drawingml/2006/table">
            <a:tbl>
              <a:tblPr firstRow="1" bandRow="1">
                <a:tableStyleId>{8799B23B-EC83-4686-B30A-512413B5E67A}</a:tableStyleId>
              </a:tblPr>
              <a:tblGrid>
                <a:gridCol w="340601">
                  <a:extLst>
                    <a:ext uri="{9D8B030D-6E8A-4147-A177-3AD203B41FA5}">
                      <a16:colId xmlns:a16="http://schemas.microsoft.com/office/drawing/2014/main" val="4203512896"/>
                    </a:ext>
                  </a:extLst>
                </a:gridCol>
                <a:gridCol w="882337">
                  <a:extLst>
                    <a:ext uri="{9D8B030D-6E8A-4147-A177-3AD203B41FA5}">
                      <a16:colId xmlns:a16="http://schemas.microsoft.com/office/drawing/2014/main" val="3556321484"/>
                    </a:ext>
                  </a:extLst>
                </a:gridCol>
              </a:tblGrid>
              <a:tr h="574358">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1" lang="ja-JP" altLang="en-US" sz="1100" b="1" i="0" u="none" strike="noStrike" kern="120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cs typeface="+mn-cs"/>
                        </a:rPr>
                        <a:t>すね裏</a:t>
                      </a:r>
                    </a:p>
                  </a:txBody>
                  <a:tcPr anchor="ctr"/>
                </a:tc>
                <a:tc>
                  <a:txBody>
                    <a:bodyPr/>
                    <a:lstStyle/>
                    <a:p>
                      <a:r>
                        <a:rPr lang="ja-JP" altLang="en-US" sz="1000" b="0" dirty="0">
                          <a:solidFill>
                            <a:srgbClr val="FF0000"/>
                          </a:solidFill>
                          <a:latin typeface="メイリオ" panose="020B0604030504040204" pitchFamily="50" charset="-128"/>
                          <a:ea typeface="メイリオ" panose="020B0604030504040204" pitchFamily="50" charset="-128"/>
                        </a:rPr>
                        <a:t>後方浅層</a:t>
                      </a:r>
                      <a:endParaRPr lang="en-US" altLang="ja-JP" sz="1000" b="0" dirty="0">
                        <a:solidFill>
                          <a:srgbClr val="FF0000"/>
                        </a:solidFill>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00" b="0" dirty="0">
                          <a:solidFill>
                            <a:srgbClr val="FF0000"/>
                          </a:solidFill>
                          <a:latin typeface="メイリオ" panose="020B0604030504040204" pitchFamily="50" charset="-128"/>
                          <a:ea typeface="メイリオ" panose="020B0604030504040204" pitchFamily="50" charset="-128"/>
                        </a:rPr>
                        <a:t>後方深層</a:t>
                      </a:r>
                      <a:endParaRPr lang="en-US" altLang="ja-JP" sz="1000" b="0" dirty="0">
                        <a:solidFill>
                          <a:srgbClr val="FF0000"/>
                        </a:solidFill>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3050180509"/>
                  </a:ext>
                </a:extLst>
              </a:tr>
            </a:tbl>
          </a:graphicData>
        </a:graphic>
      </p:graphicFrame>
      <p:sp>
        <p:nvSpPr>
          <p:cNvPr id="132" name="テキスト ボックス 131">
            <a:extLst>
              <a:ext uri="{FF2B5EF4-FFF2-40B4-BE49-F238E27FC236}">
                <a16:creationId xmlns:a16="http://schemas.microsoft.com/office/drawing/2014/main" id="{BD0A5A8D-919E-48CD-A556-0F05FB099473}"/>
              </a:ext>
            </a:extLst>
          </p:cNvPr>
          <p:cNvSpPr txBox="1"/>
          <p:nvPr/>
        </p:nvSpPr>
        <p:spPr>
          <a:xfrm>
            <a:off x="8587694" y="8119880"/>
            <a:ext cx="2585865" cy="253916"/>
          </a:xfrm>
          <a:prstGeom prst="rect">
            <a:avLst/>
          </a:prstGeom>
          <a:noFill/>
        </p:spPr>
        <p:txBody>
          <a:bodyPr wrap="square">
            <a:spAutoFit/>
          </a:bodyPr>
          <a:lstStyle/>
          <a:p>
            <a:r>
              <a:rPr lang="ja-JP" altLang="en-US" sz="1050" b="1" dirty="0">
                <a:latin typeface="メイリオ" panose="020B0604030504040204" pitchFamily="50" charset="-128"/>
                <a:ea typeface="メイリオ" panose="020B0604030504040204" pitchFamily="50" charset="-128"/>
              </a:rPr>
              <a:t>機能：</a:t>
            </a:r>
            <a:r>
              <a:rPr lang="zh-TW" altLang="en-US" sz="1050" b="1" dirty="0">
                <a:latin typeface="メイリオ" panose="020B0604030504040204" pitchFamily="50" charset="-128"/>
                <a:ea typeface="メイリオ" panose="020B0604030504040204" pitchFamily="50" charset="-128"/>
              </a:rPr>
              <a:t>足関節底屈、歩行推進、立位保持</a:t>
            </a:r>
          </a:p>
        </p:txBody>
      </p:sp>
      <p:sp>
        <p:nvSpPr>
          <p:cNvPr id="133" name="テキスト ボックス 132">
            <a:extLst>
              <a:ext uri="{FF2B5EF4-FFF2-40B4-BE49-F238E27FC236}">
                <a16:creationId xmlns:a16="http://schemas.microsoft.com/office/drawing/2014/main" id="{F84304FD-3742-469B-91CB-B8C9A62469ED}"/>
              </a:ext>
            </a:extLst>
          </p:cNvPr>
          <p:cNvSpPr txBox="1"/>
          <p:nvPr/>
        </p:nvSpPr>
        <p:spPr>
          <a:xfrm>
            <a:off x="8610749" y="8284156"/>
            <a:ext cx="1194799" cy="246221"/>
          </a:xfrm>
          <a:prstGeom prst="rect">
            <a:avLst/>
          </a:prstGeom>
          <a:noFill/>
        </p:spPr>
        <p:txBody>
          <a:bodyPr wrap="square">
            <a:spAutoFit/>
          </a:bodyPr>
          <a:lstStyle/>
          <a:p>
            <a:r>
              <a:rPr lang="ja-JP" altLang="en-US" sz="1000" dirty="0">
                <a:latin typeface="メイリオ" panose="020B0604030504040204" pitchFamily="50" charset="-128"/>
                <a:ea typeface="メイリオ" panose="020B0604030504040204" pitchFamily="50" charset="-128"/>
              </a:rPr>
              <a:t>〇転倒リスク</a:t>
            </a:r>
          </a:p>
        </p:txBody>
      </p:sp>
      <p:sp>
        <p:nvSpPr>
          <p:cNvPr id="134" name="テキスト ボックス 133">
            <a:extLst>
              <a:ext uri="{FF2B5EF4-FFF2-40B4-BE49-F238E27FC236}">
                <a16:creationId xmlns:a16="http://schemas.microsoft.com/office/drawing/2014/main" id="{EB16ADE7-F2B2-4C52-AF4E-6C049B96E929}"/>
              </a:ext>
            </a:extLst>
          </p:cNvPr>
          <p:cNvSpPr txBox="1"/>
          <p:nvPr/>
        </p:nvSpPr>
        <p:spPr>
          <a:xfrm>
            <a:off x="9589881" y="8284156"/>
            <a:ext cx="1317553" cy="246221"/>
          </a:xfrm>
          <a:prstGeom prst="rect">
            <a:avLst/>
          </a:prstGeom>
          <a:noFill/>
        </p:spPr>
        <p:txBody>
          <a:bodyPr wrap="square">
            <a:spAutoFit/>
          </a:bodyPr>
          <a:lstStyle/>
          <a:p>
            <a:r>
              <a:rPr lang="ja-JP" altLang="en-US" sz="1000" dirty="0">
                <a:latin typeface="メイリオ" panose="020B0604030504040204" pitchFamily="50" charset="-128"/>
                <a:ea typeface="メイリオ" panose="020B0604030504040204" pitchFamily="50" charset="-128"/>
              </a:rPr>
              <a:t>〇膝</a:t>
            </a:r>
            <a:r>
              <a:rPr lang="en-US" altLang="ja-JP" sz="1000" dirty="0">
                <a:latin typeface="メイリオ" panose="020B0604030504040204" pitchFamily="50" charset="-128"/>
                <a:ea typeface="メイリオ" panose="020B0604030504040204" pitchFamily="50" charset="-128"/>
              </a:rPr>
              <a:t>OA</a:t>
            </a:r>
            <a:r>
              <a:rPr lang="ja-JP" altLang="en-US" sz="1000" dirty="0">
                <a:latin typeface="メイリオ" panose="020B0604030504040204" pitchFamily="50" charset="-128"/>
                <a:ea typeface="メイリオ" panose="020B0604030504040204" pitchFamily="50" charset="-128"/>
              </a:rPr>
              <a:t>リスク</a:t>
            </a:r>
          </a:p>
        </p:txBody>
      </p:sp>
      <p:graphicFrame>
        <p:nvGraphicFramePr>
          <p:cNvPr id="135" name="表 134">
            <a:extLst>
              <a:ext uri="{FF2B5EF4-FFF2-40B4-BE49-F238E27FC236}">
                <a16:creationId xmlns:a16="http://schemas.microsoft.com/office/drawing/2014/main" id="{A703163F-93C7-468E-8AD8-3BB108BAB493}"/>
              </a:ext>
            </a:extLst>
          </p:cNvPr>
          <p:cNvGraphicFramePr>
            <a:graphicFrameLocks noGrp="1"/>
          </p:cNvGraphicFramePr>
          <p:nvPr>
            <p:extLst>
              <p:ext uri="{D42A27DB-BD31-4B8C-83A1-F6EECF244321}">
                <p14:modId xmlns:p14="http://schemas.microsoft.com/office/powerpoint/2010/main" val="4068967531"/>
              </p:ext>
            </p:extLst>
          </p:nvPr>
        </p:nvGraphicFramePr>
        <p:xfrm>
          <a:off x="4433877" y="7590509"/>
          <a:ext cx="1110797" cy="762000"/>
        </p:xfrm>
        <a:graphic>
          <a:graphicData uri="http://schemas.openxmlformats.org/drawingml/2006/table">
            <a:tbl>
              <a:tblPr firstRow="1" bandRow="1">
                <a:tableStyleId>{8799B23B-EC83-4686-B30A-512413B5E67A}</a:tableStyleId>
              </a:tblPr>
              <a:tblGrid>
                <a:gridCol w="277571">
                  <a:extLst>
                    <a:ext uri="{9D8B030D-6E8A-4147-A177-3AD203B41FA5}">
                      <a16:colId xmlns:a16="http://schemas.microsoft.com/office/drawing/2014/main" val="4158246356"/>
                    </a:ext>
                  </a:extLst>
                </a:gridCol>
                <a:gridCol w="833226">
                  <a:extLst>
                    <a:ext uri="{9D8B030D-6E8A-4147-A177-3AD203B41FA5}">
                      <a16:colId xmlns:a16="http://schemas.microsoft.com/office/drawing/2014/main" val="1856257267"/>
                    </a:ext>
                  </a:extLst>
                </a:gridCol>
              </a:tblGrid>
              <a:tr h="68580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1" lang="ja-JP" altLang="en-US" sz="1100" b="1" i="0" u="none" strike="noStrike" kern="1200" cap="none" spc="0" normalizeH="0" baseline="0" dirty="0">
                          <a:ln>
                            <a:noFill/>
                          </a:ln>
                          <a:solidFill>
                            <a:prstClr val="black"/>
                          </a:solidFill>
                          <a:effectLst/>
                          <a:uLnTx/>
                          <a:uFillTx/>
                          <a:latin typeface="メイリオ" panose="020B0604030504040204" pitchFamily="50" charset="-128"/>
                          <a:ea typeface="メイリオ" panose="020B0604030504040204" pitchFamily="50" charset="-128"/>
                          <a:cs typeface="+mn-cs"/>
                        </a:rPr>
                        <a:t>お尻の</a:t>
                      </a:r>
                      <a:endParaRPr kumimoji="1" lang="en-US" altLang="ja-JP" sz="1100" b="1" i="0" u="none" strike="noStrike" kern="1200" cap="none" spc="0" normalizeH="0" baseline="0" dirty="0">
                        <a:ln>
                          <a:noFill/>
                        </a:ln>
                        <a:solidFill>
                          <a:prstClr val="black"/>
                        </a:solidFill>
                        <a:effectLst/>
                        <a:uLnTx/>
                        <a:uFillTx/>
                        <a:latin typeface="メイリオ" panose="020B0604030504040204" pitchFamily="50" charset="-128"/>
                        <a:ea typeface="メイリオ" panose="020B0604030504040204" pitchFamily="50" charset="-128"/>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1" lang="ja-JP" altLang="en-US" sz="1100" b="1" i="0" u="none" strike="noStrike" kern="1200" cap="none" spc="0" normalizeH="0" baseline="0" dirty="0">
                          <a:ln>
                            <a:noFill/>
                          </a:ln>
                          <a:solidFill>
                            <a:prstClr val="black"/>
                          </a:solidFill>
                          <a:effectLst/>
                          <a:uLnTx/>
                          <a:uFillTx/>
                          <a:latin typeface="メイリオ" panose="020B0604030504040204" pitchFamily="50" charset="-128"/>
                          <a:ea typeface="メイリオ" panose="020B0604030504040204" pitchFamily="50" charset="-128"/>
                          <a:cs typeface="+mn-cs"/>
                        </a:rPr>
                        <a:t>奥</a:t>
                      </a:r>
                    </a:p>
                  </a:txBody>
                  <a:tcPr anchor="ctr"/>
                </a:tc>
                <a:tc>
                  <a:txBody>
                    <a:bodyPr/>
                    <a:lstStyle/>
                    <a:p>
                      <a:r>
                        <a:rPr lang="zh-TW" altLang="en-US" sz="1000" b="0" dirty="0">
                          <a:solidFill>
                            <a:srgbClr val="FF0000"/>
                          </a:solidFill>
                          <a:latin typeface="メイリオ" panose="020B0604030504040204" pitchFamily="50" charset="-128"/>
                          <a:ea typeface="メイリオ" panose="020B0604030504040204" pitchFamily="50" charset="-128"/>
                        </a:rPr>
                        <a:t>内</a:t>
                      </a:r>
                      <a:r>
                        <a:rPr lang="ja-JP" altLang="en-US" sz="1000" b="0" dirty="0">
                          <a:solidFill>
                            <a:srgbClr val="FF0000"/>
                          </a:solidFill>
                          <a:latin typeface="メイリオ" panose="020B0604030504040204" pitchFamily="50" charset="-128"/>
                          <a:ea typeface="メイリオ" panose="020B0604030504040204" pitchFamily="50" charset="-128"/>
                        </a:rPr>
                        <a:t>閉鎖筋</a:t>
                      </a:r>
                      <a:endParaRPr lang="en-US" altLang="ja-JP" sz="1000" b="0" dirty="0">
                        <a:solidFill>
                          <a:srgbClr val="FF0000"/>
                        </a:solidFill>
                        <a:latin typeface="メイリオ" panose="020B0604030504040204" pitchFamily="50" charset="-128"/>
                        <a:ea typeface="メイリオ" panose="020B0604030504040204" pitchFamily="50" charset="-128"/>
                      </a:endParaRPr>
                    </a:p>
                    <a:p>
                      <a:r>
                        <a:rPr lang="zh-TW" altLang="en-US" sz="1000" b="0" dirty="0">
                          <a:solidFill>
                            <a:srgbClr val="FF0000"/>
                          </a:solidFill>
                          <a:latin typeface="メイリオ" panose="020B0604030504040204" pitchFamily="50" charset="-128"/>
                          <a:ea typeface="メイリオ" panose="020B0604030504040204" pitchFamily="50" charset="-128"/>
                        </a:rPr>
                        <a:t>外閉鎖筋</a:t>
                      </a:r>
                      <a:endParaRPr lang="en-US" altLang="zh-TW" sz="1000" b="0" dirty="0">
                        <a:solidFill>
                          <a:srgbClr val="FF0000"/>
                        </a:solidFill>
                        <a:latin typeface="メイリオ" panose="020B0604030504040204" pitchFamily="50" charset="-128"/>
                        <a:ea typeface="メイリオ" panose="020B0604030504040204" pitchFamily="50" charset="-128"/>
                      </a:endParaRPr>
                    </a:p>
                    <a:p>
                      <a:r>
                        <a:rPr lang="zh-TW" altLang="en-US" sz="1000" b="0" dirty="0">
                          <a:solidFill>
                            <a:srgbClr val="FF0000"/>
                          </a:solidFill>
                          <a:latin typeface="メイリオ" panose="020B0604030504040204" pitchFamily="50" charset="-128"/>
                          <a:ea typeface="メイリオ" panose="020B0604030504040204" pitchFamily="50" charset="-128"/>
                        </a:rPr>
                        <a:t>梨状筋</a:t>
                      </a:r>
                      <a:endParaRPr lang="en-US" altLang="zh-TW" sz="1000" b="0" dirty="0">
                        <a:solidFill>
                          <a:srgbClr val="FF0000"/>
                        </a:solidFill>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1759646536"/>
                  </a:ext>
                </a:extLst>
              </a:tr>
            </a:tbl>
          </a:graphicData>
        </a:graphic>
      </p:graphicFrame>
      <p:sp>
        <p:nvSpPr>
          <p:cNvPr id="136" name="テキスト ボックス 135">
            <a:extLst>
              <a:ext uri="{FF2B5EF4-FFF2-40B4-BE49-F238E27FC236}">
                <a16:creationId xmlns:a16="http://schemas.microsoft.com/office/drawing/2014/main" id="{AC73C995-1123-4BD2-85C2-81166EA5E0A4}"/>
              </a:ext>
            </a:extLst>
          </p:cNvPr>
          <p:cNvSpPr txBox="1"/>
          <p:nvPr/>
        </p:nvSpPr>
        <p:spPr>
          <a:xfrm>
            <a:off x="4338124" y="8305097"/>
            <a:ext cx="3139027" cy="253916"/>
          </a:xfrm>
          <a:prstGeom prst="rect">
            <a:avLst/>
          </a:prstGeom>
          <a:noFill/>
        </p:spPr>
        <p:txBody>
          <a:bodyPr wrap="square">
            <a:spAutoFit/>
          </a:bodyPr>
          <a:lstStyle/>
          <a:p>
            <a:r>
              <a:rPr lang="ja-JP" altLang="en-US" sz="1050" b="1" dirty="0">
                <a:latin typeface="メイリオ" panose="020B0604030504040204" pitchFamily="50" charset="-128"/>
                <a:ea typeface="メイリオ" panose="020B0604030504040204" pitchFamily="50" charset="-128"/>
              </a:rPr>
              <a:t>機能：股関節深部安定、方向転換、転倒時の安定</a:t>
            </a:r>
          </a:p>
        </p:txBody>
      </p:sp>
      <p:sp>
        <p:nvSpPr>
          <p:cNvPr id="137" name="テキスト ボックス 136">
            <a:extLst>
              <a:ext uri="{FF2B5EF4-FFF2-40B4-BE49-F238E27FC236}">
                <a16:creationId xmlns:a16="http://schemas.microsoft.com/office/drawing/2014/main" id="{042978E4-7AD0-41D4-A790-C926DC226F18}"/>
              </a:ext>
            </a:extLst>
          </p:cNvPr>
          <p:cNvSpPr txBox="1"/>
          <p:nvPr/>
        </p:nvSpPr>
        <p:spPr>
          <a:xfrm>
            <a:off x="4347828" y="8490392"/>
            <a:ext cx="1194799" cy="246221"/>
          </a:xfrm>
          <a:prstGeom prst="rect">
            <a:avLst/>
          </a:prstGeom>
          <a:noFill/>
        </p:spPr>
        <p:txBody>
          <a:bodyPr wrap="square">
            <a:spAutoFit/>
          </a:bodyPr>
          <a:lstStyle/>
          <a:p>
            <a:r>
              <a:rPr lang="ja-JP" altLang="en-US" sz="1000" dirty="0">
                <a:latin typeface="メイリオ" panose="020B0604030504040204" pitchFamily="50" charset="-128"/>
                <a:ea typeface="メイリオ" panose="020B0604030504040204" pitchFamily="50" charset="-128"/>
              </a:rPr>
              <a:t>〇転倒リスク</a:t>
            </a:r>
          </a:p>
        </p:txBody>
      </p:sp>
      <p:sp>
        <p:nvSpPr>
          <p:cNvPr id="138" name="テキスト ボックス 137">
            <a:extLst>
              <a:ext uri="{FF2B5EF4-FFF2-40B4-BE49-F238E27FC236}">
                <a16:creationId xmlns:a16="http://schemas.microsoft.com/office/drawing/2014/main" id="{4EC064C6-3494-44B7-8780-3A5883FEFDE3}"/>
              </a:ext>
            </a:extLst>
          </p:cNvPr>
          <p:cNvSpPr txBox="1"/>
          <p:nvPr/>
        </p:nvSpPr>
        <p:spPr>
          <a:xfrm>
            <a:off x="5326558" y="8490392"/>
            <a:ext cx="1657331" cy="246221"/>
          </a:xfrm>
          <a:prstGeom prst="rect">
            <a:avLst/>
          </a:prstGeom>
          <a:noFill/>
        </p:spPr>
        <p:txBody>
          <a:bodyPr wrap="square">
            <a:spAutoFit/>
          </a:bodyPr>
          <a:lstStyle/>
          <a:p>
            <a:r>
              <a:rPr lang="ja-JP" altLang="en-US" sz="1000" dirty="0">
                <a:latin typeface="メイリオ" panose="020B0604030504040204" pitchFamily="50" charset="-128"/>
                <a:ea typeface="メイリオ" panose="020B0604030504040204" pitchFamily="50" charset="-128"/>
              </a:rPr>
              <a:t>〇大腿骨骨折リスク</a:t>
            </a:r>
          </a:p>
        </p:txBody>
      </p:sp>
      <p:graphicFrame>
        <p:nvGraphicFramePr>
          <p:cNvPr id="143" name="表 142">
            <a:extLst>
              <a:ext uri="{FF2B5EF4-FFF2-40B4-BE49-F238E27FC236}">
                <a16:creationId xmlns:a16="http://schemas.microsoft.com/office/drawing/2014/main" id="{31F4B866-EF81-4EAE-AC50-7E315E1ED44E}"/>
              </a:ext>
            </a:extLst>
          </p:cNvPr>
          <p:cNvGraphicFramePr>
            <a:graphicFrameLocks noGrp="1"/>
          </p:cNvGraphicFramePr>
          <p:nvPr/>
        </p:nvGraphicFramePr>
        <p:xfrm>
          <a:off x="4347828" y="2744884"/>
          <a:ext cx="1235417" cy="618389"/>
        </p:xfrm>
        <a:graphic>
          <a:graphicData uri="http://schemas.openxmlformats.org/drawingml/2006/table">
            <a:tbl>
              <a:tblPr firstRow="1" bandRow="1">
                <a:tableStyleId>{8799B23B-EC83-4686-B30A-512413B5E67A}</a:tableStyleId>
              </a:tblPr>
              <a:tblGrid>
                <a:gridCol w="372586">
                  <a:extLst>
                    <a:ext uri="{9D8B030D-6E8A-4147-A177-3AD203B41FA5}">
                      <a16:colId xmlns:a16="http://schemas.microsoft.com/office/drawing/2014/main" val="3601844147"/>
                    </a:ext>
                  </a:extLst>
                </a:gridCol>
                <a:gridCol w="862831">
                  <a:extLst>
                    <a:ext uri="{9D8B030D-6E8A-4147-A177-3AD203B41FA5}">
                      <a16:colId xmlns:a16="http://schemas.microsoft.com/office/drawing/2014/main" val="2066940135"/>
                    </a:ext>
                  </a:extLst>
                </a:gridCol>
              </a:tblGrid>
              <a:tr h="618389">
                <a:tc>
                  <a:txBody>
                    <a:bodyPr/>
                    <a:lstStyle/>
                    <a:p>
                      <a:r>
                        <a:rPr lang="ja-JP" altLang="en-US" sz="1100" dirty="0">
                          <a:latin typeface="メイリオ" panose="020B0604030504040204" pitchFamily="50" charset="-128"/>
                          <a:ea typeface="メイリオ" panose="020B0604030504040204" pitchFamily="50" charset="-128"/>
                        </a:rPr>
                        <a:t>腰</a:t>
                      </a:r>
                      <a:r>
                        <a:rPr lang="ja-JP" altLang="en-US" sz="900" dirty="0">
                          <a:latin typeface="メイリオ" panose="020B0604030504040204" pitchFamily="50" charset="-128"/>
                          <a:ea typeface="メイリオ" panose="020B0604030504040204" pitchFamily="50" charset="-128"/>
                        </a:rPr>
                        <a:t>の</a:t>
                      </a:r>
                      <a:endParaRPr lang="en-US" altLang="ja-JP" sz="900" dirty="0">
                        <a:latin typeface="メイリオ" panose="020B0604030504040204" pitchFamily="50" charset="-128"/>
                        <a:ea typeface="メイリオ" panose="020B0604030504040204" pitchFamily="50" charset="-128"/>
                      </a:endParaRPr>
                    </a:p>
                    <a:p>
                      <a:r>
                        <a:rPr lang="ja-JP" altLang="en-US" sz="1100" dirty="0">
                          <a:latin typeface="メイリオ" panose="020B0604030504040204" pitchFamily="50" charset="-128"/>
                          <a:ea typeface="メイリオ" panose="020B0604030504040204" pitchFamily="50" charset="-128"/>
                        </a:rPr>
                        <a:t>奥</a:t>
                      </a:r>
                      <a:endParaRPr lang="en-US" altLang="ja-JP" sz="1100" dirty="0">
                        <a:latin typeface="メイリオ" panose="020B0604030504040204" pitchFamily="50" charset="-128"/>
                        <a:ea typeface="メイリオ" panose="020B0604030504040204" pitchFamily="50" charset="-128"/>
                      </a:endParaRPr>
                    </a:p>
                  </a:txBody>
                  <a:tcPr anchor="ctr"/>
                </a:tc>
                <a:tc>
                  <a:txBody>
                    <a:bodyPr/>
                    <a:lstStyle/>
                    <a:p>
                      <a:r>
                        <a:rPr lang="ja-JP" altLang="en-US" sz="1000" b="0" dirty="0">
                          <a:solidFill>
                            <a:srgbClr val="FF0000"/>
                          </a:solidFill>
                          <a:latin typeface="メイリオ" panose="020B0604030504040204" pitchFamily="50" charset="-128"/>
                          <a:ea typeface="メイリオ" panose="020B0604030504040204" pitchFamily="50" charset="-128"/>
                        </a:rPr>
                        <a:t>大腰筋</a:t>
                      </a:r>
                      <a:endParaRPr lang="en-US" altLang="ja-JP" sz="1000" b="0" dirty="0">
                        <a:solidFill>
                          <a:srgbClr val="FF0000"/>
                        </a:solidFill>
                        <a:latin typeface="メイリオ" panose="020B0604030504040204" pitchFamily="50" charset="-128"/>
                        <a:ea typeface="メイリオ" panose="020B0604030504040204" pitchFamily="50" charset="-128"/>
                      </a:endParaRPr>
                    </a:p>
                    <a:p>
                      <a:r>
                        <a:rPr lang="ja-JP" altLang="en-US" sz="1000" b="0" dirty="0">
                          <a:solidFill>
                            <a:srgbClr val="FF0000"/>
                          </a:solidFill>
                          <a:latin typeface="メイリオ" panose="020B0604030504040204" pitchFamily="50" charset="-128"/>
                          <a:ea typeface="メイリオ" panose="020B0604030504040204" pitchFamily="50" charset="-128"/>
                        </a:rPr>
                        <a:t>腸骨筋</a:t>
                      </a:r>
                      <a:endParaRPr lang="en-US" altLang="ja-JP" sz="1000" b="0" dirty="0">
                        <a:solidFill>
                          <a:srgbClr val="FF0000"/>
                        </a:solidFill>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00" b="0" dirty="0">
                          <a:solidFill>
                            <a:srgbClr val="FF0000"/>
                          </a:solidFill>
                          <a:latin typeface="メイリオ" panose="020B0604030504040204" pitchFamily="50" charset="-128"/>
                          <a:ea typeface="メイリオ" panose="020B0604030504040204" pitchFamily="50" charset="-128"/>
                        </a:rPr>
                        <a:t>腰方形筋</a:t>
                      </a:r>
                    </a:p>
                  </a:txBody>
                  <a:tcPr anchor="ctr"/>
                </a:tc>
                <a:extLst>
                  <a:ext uri="{0D108BD9-81ED-4DB2-BD59-A6C34878D82A}">
                    <a16:rowId xmlns:a16="http://schemas.microsoft.com/office/drawing/2014/main" val="4135673603"/>
                  </a:ext>
                </a:extLst>
              </a:tr>
            </a:tbl>
          </a:graphicData>
        </a:graphic>
      </p:graphicFrame>
      <p:sp>
        <p:nvSpPr>
          <p:cNvPr id="144" name="テキスト ボックス 143">
            <a:extLst>
              <a:ext uri="{FF2B5EF4-FFF2-40B4-BE49-F238E27FC236}">
                <a16:creationId xmlns:a16="http://schemas.microsoft.com/office/drawing/2014/main" id="{2EB1AD42-1380-44A4-A43F-D2FE6B14FF1B}"/>
              </a:ext>
            </a:extLst>
          </p:cNvPr>
          <p:cNvSpPr txBox="1"/>
          <p:nvPr/>
        </p:nvSpPr>
        <p:spPr>
          <a:xfrm>
            <a:off x="4269575" y="3393253"/>
            <a:ext cx="3093118" cy="246221"/>
          </a:xfrm>
          <a:prstGeom prst="rect">
            <a:avLst/>
          </a:prstGeom>
          <a:noFill/>
        </p:spPr>
        <p:txBody>
          <a:bodyPr wrap="square">
            <a:spAutoFit/>
          </a:bodyPr>
          <a:lstStyle/>
          <a:p>
            <a:r>
              <a:rPr lang="ja-JP" altLang="en-US" sz="1000" b="1" dirty="0">
                <a:latin typeface="メイリオ" panose="020B0604030504040204" pitchFamily="50" charset="-128"/>
                <a:ea typeface="メイリオ" panose="020B0604030504040204" pitchFamily="50" charset="-128"/>
              </a:rPr>
              <a:t>機能：股関節屈曲、体幹と下肢の連動、歩行安定</a:t>
            </a:r>
          </a:p>
        </p:txBody>
      </p:sp>
      <p:sp>
        <p:nvSpPr>
          <p:cNvPr id="145" name="テキスト ボックス 144">
            <a:extLst>
              <a:ext uri="{FF2B5EF4-FFF2-40B4-BE49-F238E27FC236}">
                <a16:creationId xmlns:a16="http://schemas.microsoft.com/office/drawing/2014/main" id="{9C9AAE7C-F37D-4D55-892B-047FB5840798}"/>
              </a:ext>
            </a:extLst>
          </p:cNvPr>
          <p:cNvSpPr txBox="1"/>
          <p:nvPr/>
        </p:nvSpPr>
        <p:spPr>
          <a:xfrm>
            <a:off x="5414854" y="3565439"/>
            <a:ext cx="1194799" cy="246221"/>
          </a:xfrm>
          <a:prstGeom prst="rect">
            <a:avLst/>
          </a:prstGeom>
          <a:noFill/>
        </p:spPr>
        <p:txBody>
          <a:bodyPr wrap="square">
            <a:spAutoFit/>
          </a:bodyPr>
          <a:lstStyle/>
          <a:p>
            <a:r>
              <a:rPr lang="ja-JP" altLang="en-US" sz="1000" dirty="0">
                <a:latin typeface="メイリオ" panose="020B0604030504040204" pitchFamily="50" charset="-128"/>
                <a:ea typeface="メイリオ" panose="020B0604030504040204" pitchFamily="50" charset="-128"/>
              </a:rPr>
              <a:t>〇転倒リスク</a:t>
            </a:r>
          </a:p>
        </p:txBody>
      </p:sp>
      <p:sp>
        <p:nvSpPr>
          <p:cNvPr id="146" name="テキスト ボックス 145">
            <a:extLst>
              <a:ext uri="{FF2B5EF4-FFF2-40B4-BE49-F238E27FC236}">
                <a16:creationId xmlns:a16="http://schemas.microsoft.com/office/drawing/2014/main" id="{5ED6CBA6-A8DF-4A30-8AA8-CAE6319F4A6D}"/>
              </a:ext>
            </a:extLst>
          </p:cNvPr>
          <p:cNvSpPr txBox="1"/>
          <p:nvPr/>
        </p:nvSpPr>
        <p:spPr>
          <a:xfrm>
            <a:off x="4254294" y="3574384"/>
            <a:ext cx="1317553" cy="246221"/>
          </a:xfrm>
          <a:prstGeom prst="rect">
            <a:avLst/>
          </a:prstGeom>
          <a:noFill/>
        </p:spPr>
        <p:txBody>
          <a:bodyPr wrap="square">
            <a:spAutoFit/>
          </a:bodyPr>
          <a:lstStyle/>
          <a:p>
            <a:r>
              <a:rPr lang="ja-JP" altLang="en-US" sz="1000" dirty="0">
                <a:latin typeface="メイリオ" panose="020B0604030504040204" pitchFamily="50" charset="-128"/>
                <a:ea typeface="メイリオ" panose="020B0604030504040204" pitchFamily="50" charset="-128"/>
              </a:rPr>
              <a:t>〇膝</a:t>
            </a:r>
            <a:r>
              <a:rPr lang="en-US" altLang="ja-JP" sz="1000" dirty="0">
                <a:latin typeface="メイリオ" panose="020B0604030504040204" pitchFamily="50" charset="-128"/>
                <a:ea typeface="メイリオ" panose="020B0604030504040204" pitchFamily="50" charset="-128"/>
              </a:rPr>
              <a:t>OA</a:t>
            </a:r>
            <a:r>
              <a:rPr lang="ja-JP" altLang="en-US" sz="1000" dirty="0">
                <a:latin typeface="メイリオ" panose="020B0604030504040204" pitchFamily="50" charset="-128"/>
                <a:ea typeface="メイリオ" panose="020B0604030504040204" pitchFamily="50" charset="-128"/>
              </a:rPr>
              <a:t>リスク</a:t>
            </a:r>
          </a:p>
        </p:txBody>
      </p:sp>
      <p:sp>
        <p:nvSpPr>
          <p:cNvPr id="34" name="IMG: 24">
            <a:extLst>
              <a:ext uri="{FF2B5EF4-FFF2-40B4-BE49-F238E27FC236}">
                <a16:creationId xmlns:a16="http://schemas.microsoft.com/office/drawing/2014/main" id="{7AA28375-FEE1-92A0-8641-03EA3D873FEE}"/>
              </a:ext>
            </a:extLst>
          </p:cNvPr>
          <p:cNvSpPr/>
          <p:nvPr/>
        </p:nvSpPr>
        <p:spPr>
          <a:xfrm>
            <a:off x="11747803" y="7419131"/>
            <a:ext cx="982615" cy="107876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3" name="IMG: 23">
            <a:extLst>
              <a:ext uri="{FF2B5EF4-FFF2-40B4-BE49-F238E27FC236}">
                <a16:creationId xmlns:a16="http://schemas.microsoft.com/office/drawing/2014/main" id="{DC045E5E-4452-7247-DBC3-A63B5F97BC23}"/>
              </a:ext>
            </a:extLst>
          </p:cNvPr>
          <p:cNvSpPr/>
          <p:nvPr/>
        </p:nvSpPr>
        <p:spPr>
          <a:xfrm>
            <a:off x="11747804" y="6096274"/>
            <a:ext cx="977140" cy="114853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2" name="IMG: 22">
            <a:extLst>
              <a:ext uri="{FF2B5EF4-FFF2-40B4-BE49-F238E27FC236}">
                <a16:creationId xmlns:a16="http://schemas.microsoft.com/office/drawing/2014/main" id="{167E27DB-03D0-843E-5B47-439DEE5F4677}"/>
              </a:ext>
            </a:extLst>
          </p:cNvPr>
          <p:cNvSpPr/>
          <p:nvPr/>
        </p:nvSpPr>
        <p:spPr>
          <a:xfrm>
            <a:off x="11747803" y="4802901"/>
            <a:ext cx="982615" cy="113248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1" name="IMG: 21">
            <a:extLst>
              <a:ext uri="{FF2B5EF4-FFF2-40B4-BE49-F238E27FC236}">
                <a16:creationId xmlns:a16="http://schemas.microsoft.com/office/drawing/2014/main" id="{FB5F22D4-8D5D-2F1C-040D-A44B5469D4FC}"/>
              </a:ext>
            </a:extLst>
          </p:cNvPr>
          <p:cNvSpPr/>
          <p:nvPr/>
        </p:nvSpPr>
        <p:spPr>
          <a:xfrm>
            <a:off x="11747804" y="2869135"/>
            <a:ext cx="950976" cy="185617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4" name="IMG: 20">
            <a:extLst>
              <a:ext uri="{FF2B5EF4-FFF2-40B4-BE49-F238E27FC236}">
                <a16:creationId xmlns:a16="http://schemas.microsoft.com/office/drawing/2014/main" id="{D81EC418-11C8-5136-DFB9-EC1B7215D39F}"/>
              </a:ext>
            </a:extLst>
          </p:cNvPr>
          <p:cNvSpPr/>
          <p:nvPr/>
        </p:nvSpPr>
        <p:spPr>
          <a:xfrm>
            <a:off x="7330860" y="7569051"/>
            <a:ext cx="1162984" cy="112004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0" name="IMG: 19">
            <a:extLst>
              <a:ext uri="{FF2B5EF4-FFF2-40B4-BE49-F238E27FC236}">
                <a16:creationId xmlns:a16="http://schemas.microsoft.com/office/drawing/2014/main" id="{4F674E77-236D-C8E5-B59B-6493ADCFDC6E}"/>
              </a:ext>
            </a:extLst>
          </p:cNvPr>
          <p:cNvSpPr/>
          <p:nvPr/>
        </p:nvSpPr>
        <p:spPr>
          <a:xfrm>
            <a:off x="7330859" y="2702934"/>
            <a:ext cx="1150324" cy="10654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2" name="IMG: 18">
            <a:extLst>
              <a:ext uri="{FF2B5EF4-FFF2-40B4-BE49-F238E27FC236}">
                <a16:creationId xmlns:a16="http://schemas.microsoft.com/office/drawing/2014/main" id="{F6F272DD-F5F7-699E-E415-5BD5122E6C0A}"/>
              </a:ext>
            </a:extLst>
          </p:cNvPr>
          <p:cNvSpPr/>
          <p:nvPr/>
        </p:nvSpPr>
        <p:spPr>
          <a:xfrm>
            <a:off x="48771" y="7305899"/>
            <a:ext cx="950976" cy="107258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 name="IMG: 17">
            <a:extLst>
              <a:ext uri="{FF2B5EF4-FFF2-40B4-BE49-F238E27FC236}">
                <a16:creationId xmlns:a16="http://schemas.microsoft.com/office/drawing/2014/main" id="{785EFC8A-7C7A-8971-ECE6-BDD836096E1A}"/>
              </a:ext>
            </a:extLst>
          </p:cNvPr>
          <p:cNvSpPr/>
          <p:nvPr/>
        </p:nvSpPr>
        <p:spPr>
          <a:xfrm>
            <a:off x="58931" y="6116505"/>
            <a:ext cx="950976" cy="105463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5" name="IMG: 16">
            <a:extLst>
              <a:ext uri="{FF2B5EF4-FFF2-40B4-BE49-F238E27FC236}">
                <a16:creationId xmlns:a16="http://schemas.microsoft.com/office/drawing/2014/main" id="{3CA25213-202A-AF3D-3883-3E8A1F78B9DB}"/>
              </a:ext>
            </a:extLst>
          </p:cNvPr>
          <p:cNvSpPr/>
          <p:nvPr/>
        </p:nvSpPr>
        <p:spPr>
          <a:xfrm>
            <a:off x="58931" y="4716898"/>
            <a:ext cx="950976" cy="122352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5" name="IMG: 15">
            <a:extLst>
              <a:ext uri="{FF2B5EF4-FFF2-40B4-BE49-F238E27FC236}">
                <a16:creationId xmlns:a16="http://schemas.microsoft.com/office/drawing/2014/main" id="{93FA2853-EC99-2975-3AC1-A09ACBFE66F0}"/>
              </a:ext>
            </a:extLst>
          </p:cNvPr>
          <p:cNvSpPr/>
          <p:nvPr/>
        </p:nvSpPr>
        <p:spPr>
          <a:xfrm>
            <a:off x="58045" y="2858875"/>
            <a:ext cx="952749" cy="174456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9" name="IMG: 14">
            <a:extLst>
              <a:ext uri="{FF2B5EF4-FFF2-40B4-BE49-F238E27FC236}">
                <a16:creationId xmlns:a16="http://schemas.microsoft.com/office/drawing/2014/main" id="{D0030119-1A12-B68F-A77F-A49A6D00CD8B}"/>
              </a:ext>
            </a:extLst>
          </p:cNvPr>
          <p:cNvSpPr/>
          <p:nvPr/>
        </p:nvSpPr>
        <p:spPr>
          <a:xfrm>
            <a:off x="5999977" y="5806898"/>
            <a:ext cx="850392" cy="75063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ysClr val="windowText" lastClr="000000"/>
              </a:solidFill>
            </a:endParaRPr>
          </a:p>
        </p:txBody>
      </p:sp>
      <p:sp>
        <p:nvSpPr>
          <p:cNvPr id="28" name="IMG: 13">
            <a:extLst>
              <a:ext uri="{FF2B5EF4-FFF2-40B4-BE49-F238E27FC236}">
                <a16:creationId xmlns:a16="http://schemas.microsoft.com/office/drawing/2014/main" id="{55E4D7CF-5FA2-8ACE-5D70-009DA61ADEAD}"/>
              </a:ext>
            </a:extLst>
          </p:cNvPr>
          <p:cNvSpPr/>
          <p:nvPr/>
        </p:nvSpPr>
        <p:spPr>
          <a:xfrm>
            <a:off x="5999069" y="4799799"/>
            <a:ext cx="852209" cy="75063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ysClr val="windowText" lastClr="000000"/>
              </a:solidFill>
            </a:endParaRPr>
          </a:p>
        </p:txBody>
      </p:sp>
      <p:sp>
        <p:nvSpPr>
          <p:cNvPr id="23" name="IMG: 12">
            <a:extLst>
              <a:ext uri="{FF2B5EF4-FFF2-40B4-BE49-F238E27FC236}">
                <a16:creationId xmlns:a16="http://schemas.microsoft.com/office/drawing/2014/main" id="{F18EEE64-4594-7984-1023-DFC28D44D2DD}"/>
              </a:ext>
            </a:extLst>
          </p:cNvPr>
          <p:cNvSpPr/>
          <p:nvPr/>
        </p:nvSpPr>
        <p:spPr>
          <a:xfrm>
            <a:off x="6773443" y="4342919"/>
            <a:ext cx="1293570" cy="305842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ysClr val="windowText" lastClr="000000"/>
              </a:solidFill>
            </a:endParaRPr>
          </a:p>
        </p:txBody>
      </p:sp>
      <p:sp>
        <p:nvSpPr>
          <p:cNvPr id="20" name="IMG: 11">
            <a:extLst>
              <a:ext uri="{FF2B5EF4-FFF2-40B4-BE49-F238E27FC236}">
                <a16:creationId xmlns:a16="http://schemas.microsoft.com/office/drawing/2014/main" id="{59785D2E-C99F-F691-E8D5-B9B96DFACE05}"/>
              </a:ext>
            </a:extLst>
          </p:cNvPr>
          <p:cNvSpPr/>
          <p:nvPr/>
        </p:nvSpPr>
        <p:spPr>
          <a:xfrm>
            <a:off x="4790567" y="4342919"/>
            <a:ext cx="1293570" cy="305842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ysClr val="windowText" lastClr="000000"/>
              </a:solidFill>
            </a:endParaRPr>
          </a:p>
        </p:txBody>
      </p:sp>
      <p:sp>
        <p:nvSpPr>
          <p:cNvPr id="64" name="IMG: 10">
            <a:extLst>
              <a:ext uri="{FF2B5EF4-FFF2-40B4-BE49-F238E27FC236}">
                <a16:creationId xmlns:a16="http://schemas.microsoft.com/office/drawing/2014/main" id="{336B157A-0CE7-4803-CBEB-8F652813F3B2}"/>
              </a:ext>
            </a:extLst>
          </p:cNvPr>
          <p:cNvSpPr/>
          <p:nvPr/>
        </p:nvSpPr>
        <p:spPr>
          <a:xfrm>
            <a:off x="9910563" y="7435660"/>
            <a:ext cx="1812374" cy="70085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60" name="IMG: 09">
            <a:extLst>
              <a:ext uri="{FF2B5EF4-FFF2-40B4-BE49-F238E27FC236}">
                <a16:creationId xmlns:a16="http://schemas.microsoft.com/office/drawing/2014/main" id="{155405E9-F3A2-A921-40F6-630BCE17A905}"/>
              </a:ext>
            </a:extLst>
          </p:cNvPr>
          <p:cNvSpPr/>
          <p:nvPr/>
        </p:nvSpPr>
        <p:spPr>
          <a:xfrm>
            <a:off x="9965317" y="6105127"/>
            <a:ext cx="1768570" cy="76108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4" name="IMG: 08">
            <a:extLst>
              <a:ext uri="{FF2B5EF4-FFF2-40B4-BE49-F238E27FC236}">
                <a16:creationId xmlns:a16="http://schemas.microsoft.com/office/drawing/2014/main" id="{2EEA5675-679F-05C1-6BCC-0E028316BD77}"/>
              </a:ext>
            </a:extLst>
          </p:cNvPr>
          <p:cNvSpPr/>
          <p:nvPr/>
        </p:nvSpPr>
        <p:spPr>
          <a:xfrm>
            <a:off x="9955200" y="4802100"/>
            <a:ext cx="1794828" cy="75063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6" name="IMG: 07">
            <a:extLst>
              <a:ext uri="{FF2B5EF4-FFF2-40B4-BE49-F238E27FC236}">
                <a16:creationId xmlns:a16="http://schemas.microsoft.com/office/drawing/2014/main" id="{A86E6152-CF92-7625-6D56-B781F3C7966B}"/>
              </a:ext>
            </a:extLst>
          </p:cNvPr>
          <p:cNvSpPr/>
          <p:nvPr/>
        </p:nvSpPr>
        <p:spPr>
          <a:xfrm>
            <a:off x="9992361" y="2875670"/>
            <a:ext cx="1717972" cy="147385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1" name="IMG: 06">
            <a:extLst>
              <a:ext uri="{FF2B5EF4-FFF2-40B4-BE49-F238E27FC236}">
                <a16:creationId xmlns:a16="http://schemas.microsoft.com/office/drawing/2014/main" id="{1F37A81F-869A-A6FE-F658-D042633851B0}"/>
              </a:ext>
            </a:extLst>
          </p:cNvPr>
          <p:cNvSpPr/>
          <p:nvPr/>
        </p:nvSpPr>
        <p:spPr>
          <a:xfrm>
            <a:off x="5577840" y="7580300"/>
            <a:ext cx="1735759" cy="7340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0" name="IMG: 05">
            <a:extLst>
              <a:ext uri="{FF2B5EF4-FFF2-40B4-BE49-F238E27FC236}">
                <a16:creationId xmlns:a16="http://schemas.microsoft.com/office/drawing/2014/main" id="{D0B0C637-6126-2045-9E55-A033CFA61A74}"/>
              </a:ext>
            </a:extLst>
          </p:cNvPr>
          <p:cNvSpPr/>
          <p:nvPr/>
        </p:nvSpPr>
        <p:spPr>
          <a:xfrm>
            <a:off x="5599621" y="2719404"/>
            <a:ext cx="1718577" cy="66404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9" name="IMG: 04">
            <a:extLst>
              <a:ext uri="{FF2B5EF4-FFF2-40B4-BE49-F238E27FC236}">
                <a16:creationId xmlns:a16="http://schemas.microsoft.com/office/drawing/2014/main" id="{543C4D32-A27A-ED68-298A-D6594AFD7343}"/>
              </a:ext>
            </a:extLst>
          </p:cNvPr>
          <p:cNvSpPr/>
          <p:nvPr/>
        </p:nvSpPr>
        <p:spPr>
          <a:xfrm>
            <a:off x="2204288" y="7318572"/>
            <a:ext cx="2009396" cy="68242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8" name="IMG: 03">
            <a:extLst>
              <a:ext uri="{FF2B5EF4-FFF2-40B4-BE49-F238E27FC236}">
                <a16:creationId xmlns:a16="http://schemas.microsoft.com/office/drawing/2014/main" id="{0547BD25-A1C9-9086-D512-C254C9486DCB}"/>
              </a:ext>
            </a:extLst>
          </p:cNvPr>
          <p:cNvSpPr/>
          <p:nvPr/>
        </p:nvSpPr>
        <p:spPr>
          <a:xfrm>
            <a:off x="2279386" y="6110265"/>
            <a:ext cx="1915713" cy="72147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7" name="IMG: 02">
            <a:extLst>
              <a:ext uri="{FF2B5EF4-FFF2-40B4-BE49-F238E27FC236}">
                <a16:creationId xmlns:a16="http://schemas.microsoft.com/office/drawing/2014/main" id="{4E3364B3-86F4-6AF3-FA46-461F193A6D8C}"/>
              </a:ext>
            </a:extLst>
          </p:cNvPr>
          <p:cNvSpPr/>
          <p:nvPr/>
        </p:nvSpPr>
        <p:spPr>
          <a:xfrm>
            <a:off x="2273735" y="4766597"/>
            <a:ext cx="1928572" cy="8299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6" name="IMG: 01">
            <a:extLst>
              <a:ext uri="{FF2B5EF4-FFF2-40B4-BE49-F238E27FC236}">
                <a16:creationId xmlns:a16="http://schemas.microsoft.com/office/drawing/2014/main" id="{A3667166-6CA3-3BD9-77D4-D3344AF217D1}"/>
              </a:ext>
            </a:extLst>
          </p:cNvPr>
          <p:cNvSpPr/>
          <p:nvPr/>
        </p:nvSpPr>
        <p:spPr>
          <a:xfrm>
            <a:off x="2288696" y="2864784"/>
            <a:ext cx="1891911" cy="13872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Tree>
    <p:extLst>
      <p:ext uri="{BB962C8B-B14F-4D97-AF65-F5344CB8AC3E}">
        <p14:creationId xmlns:p14="http://schemas.microsoft.com/office/powerpoint/2010/main" val="29381313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テキスト ボックス 41">
            <a:extLst>
              <a:ext uri="{FF2B5EF4-FFF2-40B4-BE49-F238E27FC236}">
                <a16:creationId xmlns:a16="http://schemas.microsoft.com/office/drawing/2014/main" id="{6B58A8E9-6F04-48E1-B671-603C55DA9669}"/>
              </a:ext>
            </a:extLst>
          </p:cNvPr>
          <p:cNvSpPr txBox="1"/>
          <p:nvPr/>
        </p:nvSpPr>
        <p:spPr>
          <a:xfrm>
            <a:off x="654943" y="690428"/>
            <a:ext cx="11494402" cy="707886"/>
          </a:xfrm>
          <a:prstGeom prst="rect">
            <a:avLst/>
          </a:prstGeom>
          <a:noFill/>
          <a:ln>
            <a:solidFill>
              <a:srgbClr val="002060"/>
            </a:solidFill>
          </a:ln>
        </p:spPr>
        <p:txBody>
          <a:bodyPr wrap="square">
            <a:spAutoFit/>
          </a:bodyPr>
          <a:lstStyle/>
          <a:p>
            <a:r>
              <a:rPr lang="ja-JP" altLang="en-US" sz="1400" b="1" dirty="0">
                <a:latin typeface="メイリオ" panose="020B0604030504040204" pitchFamily="50" charset="-128"/>
                <a:ea typeface="メイリオ" panose="020B0604030504040204" pitchFamily="50" charset="-128"/>
              </a:rPr>
              <a:t>所見文</a:t>
            </a:r>
            <a:endParaRPr lang="en-US" altLang="ja-JP" sz="1400" b="1" dirty="0">
              <a:latin typeface="メイリオ" panose="020B0604030504040204" pitchFamily="50" charset="-128"/>
              <a:ea typeface="メイリオ" panose="020B0604030504040204" pitchFamily="50" charset="-128"/>
            </a:endParaRPr>
          </a:p>
          <a:p>
            <a:r>
              <a:rPr lang="en-US" altLang="ja-JP" sz="1400" b="1" dirty="0">
                <a:latin typeface="メイリオ" panose="020B0604030504040204" pitchFamily="50" charset="-128"/>
                <a:ea typeface="メイリオ" panose="020B0604030504040204" pitchFamily="50" charset="-128"/>
              </a:rPr>
              <a:t>	</a:t>
            </a:r>
            <a:r>
              <a:rPr lang="en-US" altLang="ja-JP" sz="1200" dirty="0">
                <a:latin typeface="メイリオ" panose="020B0604030504040204" pitchFamily="50" charset="-128"/>
                <a:ea typeface="メイリオ" panose="020B0604030504040204" pitchFamily="50" charset="-128"/>
              </a:rPr>
              <a:t>{{OBSERVATIONS}}</a:t>
            </a:r>
          </a:p>
          <a:p>
            <a:endParaRPr lang="en-US" altLang="ja-JP" sz="1200" dirty="0">
              <a:latin typeface="メイリオ" panose="020B0604030504040204" pitchFamily="50" charset="-128"/>
              <a:ea typeface="メイリオ" panose="020B0604030504040204" pitchFamily="50" charset="-128"/>
            </a:endParaRPr>
          </a:p>
        </p:txBody>
      </p:sp>
      <p:sp>
        <p:nvSpPr>
          <p:cNvPr id="43" name="テキスト ボックス 42">
            <a:extLst>
              <a:ext uri="{FF2B5EF4-FFF2-40B4-BE49-F238E27FC236}">
                <a16:creationId xmlns:a16="http://schemas.microsoft.com/office/drawing/2014/main" id="{E23FBE1F-1B96-4235-ABE5-DC87006575B8}"/>
              </a:ext>
            </a:extLst>
          </p:cNvPr>
          <p:cNvSpPr txBox="1"/>
          <p:nvPr/>
        </p:nvSpPr>
        <p:spPr>
          <a:xfrm>
            <a:off x="645524" y="197405"/>
            <a:ext cx="4210336" cy="400110"/>
          </a:xfrm>
          <a:prstGeom prst="rect">
            <a:avLst/>
          </a:prstGeom>
          <a:noFill/>
        </p:spPr>
        <p:txBody>
          <a:bodyPr wrap="square" rtlCol="0">
            <a:spAutoFit/>
          </a:bodyPr>
          <a:lstStyle/>
          <a:p>
            <a:r>
              <a:rPr kumimoji="1" lang="ja-JP" altLang="en-US" sz="2000" b="1" dirty="0">
                <a:solidFill>
                  <a:srgbClr val="C00000"/>
                </a:solidFill>
                <a:latin typeface="メイリオ" panose="020B0604030504040204" pitchFamily="50" charset="-128"/>
                <a:ea typeface="メイリオ" panose="020B0604030504040204" pitchFamily="50" charset="-128"/>
              </a:rPr>
              <a:t>筋質（筋肉の質）</a:t>
            </a:r>
            <a:r>
              <a:rPr kumimoji="1" lang="ja-JP" altLang="en-US" b="1" dirty="0">
                <a:latin typeface="メイリオ" panose="020B0604030504040204" pitchFamily="50" charset="-128"/>
                <a:ea typeface="メイリオ" panose="020B0604030504040204" pitchFamily="50" charset="-128"/>
              </a:rPr>
              <a:t>の測定結果シート</a:t>
            </a:r>
          </a:p>
        </p:txBody>
      </p:sp>
      <p:sp>
        <p:nvSpPr>
          <p:cNvPr id="45" name="テキスト ボックス 44">
            <a:extLst>
              <a:ext uri="{FF2B5EF4-FFF2-40B4-BE49-F238E27FC236}">
                <a16:creationId xmlns:a16="http://schemas.microsoft.com/office/drawing/2014/main" id="{30C1F6BC-DFC6-4383-A644-7703B82FB81D}"/>
              </a:ext>
            </a:extLst>
          </p:cNvPr>
          <p:cNvSpPr txBox="1"/>
          <p:nvPr/>
        </p:nvSpPr>
        <p:spPr>
          <a:xfrm>
            <a:off x="645524" y="1527280"/>
            <a:ext cx="11545078" cy="1015663"/>
          </a:xfrm>
          <a:prstGeom prst="rect">
            <a:avLst/>
          </a:prstGeom>
          <a:noFill/>
          <a:ln>
            <a:solidFill>
              <a:srgbClr val="002060"/>
            </a:solidFill>
          </a:ln>
        </p:spPr>
        <p:txBody>
          <a:bodyPr wrap="square">
            <a:spAutoFit/>
          </a:bodyPr>
          <a:lstStyle/>
          <a:p>
            <a:r>
              <a:rPr lang="ja-JP" altLang="en-US" sz="1400" b="1" dirty="0">
                <a:latin typeface="メイリオ" panose="020B0604030504040204" pitchFamily="50" charset="-128"/>
                <a:ea typeface="メイリオ" panose="020B0604030504040204" pitchFamily="50" charset="-128"/>
              </a:rPr>
              <a:t>測定結果シートの見方</a:t>
            </a:r>
            <a:endParaRPr lang="en-US" altLang="ja-JP" sz="1400" b="1" dirty="0">
              <a:latin typeface="メイリオ" panose="020B0604030504040204" pitchFamily="50" charset="-128"/>
              <a:ea typeface="メイリオ" panose="020B0604030504040204" pitchFamily="50" charset="-128"/>
            </a:endParaRPr>
          </a:p>
          <a:p>
            <a:pPr marL="596506" lvl="1" indent="-139306">
              <a:buFont typeface="Arial" panose="020B0604020202020204" pitchFamily="34" charset="0"/>
              <a:buChar char="•"/>
            </a:pPr>
            <a:r>
              <a:rPr lang="ja-JP" altLang="en-US" sz="1200" dirty="0">
                <a:latin typeface="メイリオ" panose="020B0604030504040204" pitchFamily="50" charset="-128"/>
                <a:ea typeface="メイリオ" panose="020B0604030504040204" pitchFamily="50" charset="-128"/>
              </a:rPr>
              <a:t>あなたの各筋肉の</a:t>
            </a:r>
            <a:r>
              <a:rPr lang="ja-JP" altLang="en-US" sz="1200" b="1" dirty="0">
                <a:latin typeface="メイリオ" panose="020B0604030504040204" pitchFamily="50" charset="-128"/>
                <a:ea typeface="メイリオ" panose="020B0604030504040204" pitchFamily="50" charset="-128"/>
              </a:rPr>
              <a:t>筋質スコア（健康状態の数値）</a:t>
            </a:r>
            <a:r>
              <a:rPr lang="ja-JP" altLang="en-US" sz="1200" dirty="0">
                <a:latin typeface="メイリオ" panose="020B0604030504040204" pitchFamily="50" charset="-128"/>
                <a:ea typeface="メイリオ" panose="020B0604030504040204" pitchFamily="50" charset="-128"/>
              </a:rPr>
              <a:t>を「★印」で示しています。</a:t>
            </a:r>
            <a:endParaRPr lang="en-US" altLang="ja-JP" sz="1200" dirty="0">
              <a:latin typeface="メイリオ" panose="020B0604030504040204" pitchFamily="50" charset="-128"/>
              <a:ea typeface="メイリオ" panose="020B0604030504040204" pitchFamily="50" charset="-128"/>
            </a:endParaRPr>
          </a:p>
          <a:p>
            <a:pPr marL="1053718" lvl="2" indent="-139306">
              <a:buFont typeface="Arial" panose="020B0604020202020204" pitchFamily="34" charset="0"/>
              <a:buChar char="•"/>
            </a:pPr>
            <a:r>
              <a:rPr lang="ja-JP" altLang="en-US" sz="1100" dirty="0">
                <a:latin typeface="メイリオ" panose="020B0604030504040204" pitchFamily="50" charset="-128"/>
                <a:ea typeface="メイリオ" panose="020B0604030504040204" pitchFamily="50" charset="-128"/>
              </a:rPr>
              <a:t>筋肉毎に、同性・同年齢の「普通の範囲」を色のついた帯で示しています。★印がその帯より左に出ている場合は、同年代と比べて筋質が低めです。</a:t>
            </a:r>
            <a:endParaRPr lang="en-US" altLang="ja-JP" sz="1100" dirty="0">
              <a:latin typeface="メイリオ" panose="020B0604030504040204" pitchFamily="50" charset="-128"/>
              <a:ea typeface="メイリオ" panose="020B0604030504040204" pitchFamily="50" charset="-128"/>
            </a:endParaRPr>
          </a:p>
          <a:p>
            <a:pPr marL="596506" lvl="1" indent="-139306">
              <a:buFont typeface="Arial" panose="020B0604020202020204" pitchFamily="34" charset="0"/>
              <a:buChar char="•"/>
            </a:pPr>
            <a:r>
              <a:rPr lang="ja-JP" altLang="en-US" sz="1200" b="1" dirty="0">
                <a:latin typeface="メイリオ" panose="020B0604030504040204" pitchFamily="50" charset="-128"/>
                <a:ea typeface="メイリオ" panose="020B0604030504040204" pitchFamily="50" charset="-128"/>
              </a:rPr>
              <a:t>筋質スコア</a:t>
            </a:r>
            <a:r>
              <a:rPr lang="ja-JP" altLang="en-US" sz="1200" dirty="0">
                <a:latin typeface="メイリオ" panose="020B0604030504040204" pitchFamily="50" charset="-128"/>
                <a:ea typeface="メイリオ" panose="020B0604030504040204" pitchFamily="50" charset="-128"/>
              </a:rPr>
              <a:t>とは、</a:t>
            </a:r>
            <a:r>
              <a:rPr lang="en-US" altLang="ja-JP" sz="1200" dirty="0">
                <a:latin typeface="メイリオ" panose="020B0604030504040204" pitchFamily="50" charset="-128"/>
                <a:ea typeface="メイリオ" panose="020B0604030504040204" pitchFamily="50" charset="-128"/>
              </a:rPr>
              <a:t>CT</a:t>
            </a:r>
            <a:r>
              <a:rPr lang="ja-JP" altLang="en-US" sz="1200" dirty="0">
                <a:latin typeface="メイリオ" panose="020B0604030504040204" pitchFamily="50" charset="-128"/>
                <a:ea typeface="メイリオ" panose="020B0604030504040204" pitchFamily="50" charset="-128"/>
              </a:rPr>
              <a:t>画像から計算した数字で、筋肉の中に脂肪がどれくらい混ざっているかを表しています。</a:t>
            </a:r>
            <a:endParaRPr lang="en-US" altLang="ja-JP" sz="1200" dirty="0">
              <a:latin typeface="メイリオ" panose="020B0604030504040204" pitchFamily="50" charset="-128"/>
              <a:ea typeface="メイリオ" panose="020B0604030504040204" pitchFamily="50" charset="-128"/>
            </a:endParaRPr>
          </a:p>
          <a:p>
            <a:pPr marL="1053718" lvl="2" indent="-139306">
              <a:buFont typeface="Arial" panose="020B0604020202020204" pitchFamily="34" charset="0"/>
              <a:buChar char="•"/>
            </a:pPr>
            <a:r>
              <a:rPr lang="ja-JP" altLang="en-US" sz="1100" dirty="0">
                <a:latin typeface="メイリオ" panose="020B0604030504040204" pitchFamily="50" charset="-128"/>
                <a:ea typeface="メイリオ" panose="020B0604030504040204" pitchFamily="50" charset="-128"/>
              </a:rPr>
              <a:t>数値が低いほど、筋肉に脂肪が多く入り込み（いわゆる「霜降り状態」）、筋力が弱くなり、転倒や骨折などのリスクが高くなる可能性があります。</a:t>
            </a:r>
            <a:endParaRPr lang="en-US" altLang="ja-JP" sz="1100" dirty="0">
              <a:latin typeface="メイリオ" panose="020B0604030504040204" pitchFamily="50" charset="-128"/>
              <a:ea typeface="メイリオ" panose="020B0604030504040204" pitchFamily="50" charset="-128"/>
            </a:endParaRPr>
          </a:p>
        </p:txBody>
      </p:sp>
      <p:sp>
        <p:nvSpPr>
          <p:cNvPr id="47" name="テキスト ボックス 46">
            <a:extLst>
              <a:ext uri="{FF2B5EF4-FFF2-40B4-BE49-F238E27FC236}">
                <a16:creationId xmlns:a16="http://schemas.microsoft.com/office/drawing/2014/main" id="{45FBF326-3E42-40C4-8E2A-483A9F689195}"/>
              </a:ext>
            </a:extLst>
          </p:cNvPr>
          <p:cNvSpPr txBox="1"/>
          <p:nvPr/>
        </p:nvSpPr>
        <p:spPr>
          <a:xfrm>
            <a:off x="5884194" y="5584183"/>
            <a:ext cx="973423" cy="276999"/>
          </a:xfrm>
          <a:prstGeom prst="rect">
            <a:avLst/>
          </a:prstGeom>
          <a:noFill/>
        </p:spPr>
        <p:txBody>
          <a:bodyPr wrap="square" rtlCol="0">
            <a:spAutoFit/>
          </a:bodyPr>
          <a:lstStyle/>
          <a:p>
            <a:pPr algn="ctr"/>
            <a:r>
              <a:rPr kumimoji="1" lang="ja-JP" altLang="en-US" sz="1200" b="1" dirty="0">
                <a:latin typeface="メイリオ" panose="020B0604030504040204" pitchFamily="50" charset="-128"/>
                <a:ea typeface="メイリオ" panose="020B0604030504040204" pitchFamily="50" charset="-128"/>
              </a:rPr>
              <a:t>深部の筋肉</a:t>
            </a:r>
          </a:p>
        </p:txBody>
      </p:sp>
      <p:sp>
        <p:nvSpPr>
          <p:cNvPr id="48" name="テキスト ボックス 47">
            <a:extLst>
              <a:ext uri="{FF2B5EF4-FFF2-40B4-BE49-F238E27FC236}">
                <a16:creationId xmlns:a16="http://schemas.microsoft.com/office/drawing/2014/main" id="{3D2032BD-8774-416E-AFEE-827E56F888CD}"/>
              </a:ext>
            </a:extLst>
          </p:cNvPr>
          <p:cNvSpPr txBox="1"/>
          <p:nvPr/>
        </p:nvSpPr>
        <p:spPr>
          <a:xfrm>
            <a:off x="6844180" y="4047016"/>
            <a:ext cx="974690" cy="276999"/>
          </a:xfrm>
          <a:prstGeom prst="rect">
            <a:avLst/>
          </a:prstGeom>
          <a:noFill/>
        </p:spPr>
        <p:txBody>
          <a:bodyPr wrap="square" rtlCol="0">
            <a:spAutoFit/>
          </a:bodyPr>
          <a:lstStyle/>
          <a:p>
            <a:pPr algn="ctr"/>
            <a:r>
              <a:rPr lang="ja-JP" altLang="en-US" sz="1200" b="1" dirty="0">
                <a:latin typeface="メイリオ" panose="020B0604030504040204" pitchFamily="50" charset="-128"/>
                <a:ea typeface="メイリオ" panose="020B0604030504040204" pitchFamily="50" charset="-128"/>
              </a:rPr>
              <a:t>後面の筋肉</a:t>
            </a:r>
            <a:endParaRPr kumimoji="1" lang="ja-JP" altLang="en-US" sz="1200" b="1" dirty="0">
              <a:latin typeface="メイリオ" panose="020B0604030504040204" pitchFamily="50" charset="-128"/>
              <a:ea typeface="メイリオ" panose="020B0604030504040204" pitchFamily="50" charset="-128"/>
            </a:endParaRPr>
          </a:p>
        </p:txBody>
      </p:sp>
      <p:sp>
        <p:nvSpPr>
          <p:cNvPr id="49" name="テキスト ボックス 48">
            <a:extLst>
              <a:ext uri="{FF2B5EF4-FFF2-40B4-BE49-F238E27FC236}">
                <a16:creationId xmlns:a16="http://schemas.microsoft.com/office/drawing/2014/main" id="{56C6CEDB-01BD-49B0-A007-78947852A564}"/>
              </a:ext>
            </a:extLst>
          </p:cNvPr>
          <p:cNvSpPr txBox="1"/>
          <p:nvPr/>
        </p:nvSpPr>
        <p:spPr>
          <a:xfrm>
            <a:off x="4949044" y="4047017"/>
            <a:ext cx="972072" cy="276999"/>
          </a:xfrm>
          <a:prstGeom prst="rect">
            <a:avLst/>
          </a:prstGeom>
          <a:noFill/>
        </p:spPr>
        <p:txBody>
          <a:bodyPr wrap="square" rtlCol="0">
            <a:spAutoFit/>
          </a:bodyPr>
          <a:lstStyle/>
          <a:p>
            <a:pPr algn="ctr"/>
            <a:r>
              <a:rPr lang="ja-JP" altLang="en-US" sz="1200" b="1" dirty="0">
                <a:latin typeface="メイリオ" panose="020B0604030504040204" pitchFamily="50" charset="-128"/>
                <a:ea typeface="メイリオ" panose="020B0604030504040204" pitchFamily="50" charset="-128"/>
              </a:rPr>
              <a:t>前面の筋肉</a:t>
            </a:r>
            <a:endParaRPr kumimoji="1" lang="ja-JP" altLang="en-US" sz="1200" b="1" dirty="0">
              <a:latin typeface="メイリオ" panose="020B0604030504040204" pitchFamily="50" charset="-128"/>
              <a:ea typeface="メイリオ" panose="020B0604030504040204" pitchFamily="50" charset="-128"/>
            </a:endParaRPr>
          </a:p>
        </p:txBody>
      </p:sp>
      <p:sp>
        <p:nvSpPr>
          <p:cNvPr id="50" name="楕円 49">
            <a:extLst>
              <a:ext uri="{FF2B5EF4-FFF2-40B4-BE49-F238E27FC236}">
                <a16:creationId xmlns:a16="http://schemas.microsoft.com/office/drawing/2014/main" id="{DAD5D763-463A-4A2C-BFD8-78B83F9A7EA0}"/>
              </a:ext>
            </a:extLst>
          </p:cNvPr>
          <p:cNvSpPr/>
          <p:nvPr/>
        </p:nvSpPr>
        <p:spPr>
          <a:xfrm>
            <a:off x="5448378" y="5066391"/>
            <a:ext cx="278741" cy="423579"/>
          </a:xfrm>
          <a:prstGeom prst="ellipse">
            <a:avLst/>
          </a:prstGeom>
          <a:noFill/>
          <a:ln w="9525">
            <a:solidFill>
              <a:srgbClr val="00206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51" name="矢印: 上 50">
            <a:extLst>
              <a:ext uri="{FF2B5EF4-FFF2-40B4-BE49-F238E27FC236}">
                <a16:creationId xmlns:a16="http://schemas.microsoft.com/office/drawing/2014/main" id="{3A703B42-0A66-4E76-A84F-9E5A88F42BA2}"/>
              </a:ext>
            </a:extLst>
          </p:cNvPr>
          <p:cNvSpPr/>
          <p:nvPr/>
        </p:nvSpPr>
        <p:spPr>
          <a:xfrm rot="18006218" flipH="1">
            <a:off x="4546789" y="3859236"/>
            <a:ext cx="173687" cy="978618"/>
          </a:xfrm>
          <a:prstGeom prst="upArrow">
            <a:avLst>
              <a:gd name="adj1" fmla="val 37275"/>
              <a:gd name="adj2" fmla="val 94537"/>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52" name="矢印: 上 51">
            <a:extLst>
              <a:ext uri="{FF2B5EF4-FFF2-40B4-BE49-F238E27FC236}">
                <a16:creationId xmlns:a16="http://schemas.microsoft.com/office/drawing/2014/main" id="{A2B87521-D875-4DB6-BAC0-1FA6F509025C}"/>
              </a:ext>
            </a:extLst>
          </p:cNvPr>
          <p:cNvSpPr/>
          <p:nvPr/>
        </p:nvSpPr>
        <p:spPr>
          <a:xfrm rot="14367962" flipH="1">
            <a:off x="4572259" y="5635691"/>
            <a:ext cx="189811" cy="1027343"/>
          </a:xfrm>
          <a:prstGeom prst="upArrow">
            <a:avLst>
              <a:gd name="adj1" fmla="val 31066"/>
              <a:gd name="adj2" fmla="val 83488"/>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53" name="矢印: 上 52">
            <a:extLst>
              <a:ext uri="{FF2B5EF4-FFF2-40B4-BE49-F238E27FC236}">
                <a16:creationId xmlns:a16="http://schemas.microsoft.com/office/drawing/2014/main" id="{4CFCD161-3D2F-40A6-9091-BBC1CB5416E1}"/>
              </a:ext>
            </a:extLst>
          </p:cNvPr>
          <p:cNvSpPr/>
          <p:nvPr/>
        </p:nvSpPr>
        <p:spPr>
          <a:xfrm rot="13793996" flipH="1">
            <a:off x="4587991" y="6492373"/>
            <a:ext cx="236494" cy="1157419"/>
          </a:xfrm>
          <a:prstGeom prst="upArrow">
            <a:avLst>
              <a:gd name="adj1" fmla="val 28572"/>
              <a:gd name="adj2" fmla="val 91392"/>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55" name="矢印: 上 54">
            <a:extLst>
              <a:ext uri="{FF2B5EF4-FFF2-40B4-BE49-F238E27FC236}">
                <a16:creationId xmlns:a16="http://schemas.microsoft.com/office/drawing/2014/main" id="{2AACCFE0-B00E-496A-A77F-B48A48D7B02E}"/>
              </a:ext>
            </a:extLst>
          </p:cNvPr>
          <p:cNvSpPr/>
          <p:nvPr/>
        </p:nvSpPr>
        <p:spPr>
          <a:xfrm rot="15931656" flipH="1">
            <a:off x="4731573" y="4726020"/>
            <a:ext cx="180570" cy="1180113"/>
          </a:xfrm>
          <a:prstGeom prst="upArrow">
            <a:avLst>
              <a:gd name="adj1" fmla="val 37996"/>
              <a:gd name="adj2" fmla="val 80009"/>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56" name="矢印: 上 55">
            <a:extLst>
              <a:ext uri="{FF2B5EF4-FFF2-40B4-BE49-F238E27FC236}">
                <a16:creationId xmlns:a16="http://schemas.microsoft.com/office/drawing/2014/main" id="{28E6489F-3293-4DAF-BB53-A59EF0219A0D}"/>
              </a:ext>
            </a:extLst>
          </p:cNvPr>
          <p:cNvSpPr/>
          <p:nvPr/>
        </p:nvSpPr>
        <p:spPr>
          <a:xfrm rot="3496225">
            <a:off x="8005060" y="3805047"/>
            <a:ext cx="205315" cy="1101344"/>
          </a:xfrm>
          <a:prstGeom prst="upArrow">
            <a:avLst>
              <a:gd name="adj1" fmla="val 32758"/>
              <a:gd name="adj2" fmla="val 96096"/>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57" name="矢印: 上 56">
            <a:extLst>
              <a:ext uri="{FF2B5EF4-FFF2-40B4-BE49-F238E27FC236}">
                <a16:creationId xmlns:a16="http://schemas.microsoft.com/office/drawing/2014/main" id="{809A1C8F-1CDB-42D7-8562-38E967FB4874}"/>
              </a:ext>
            </a:extLst>
          </p:cNvPr>
          <p:cNvSpPr/>
          <p:nvPr/>
        </p:nvSpPr>
        <p:spPr>
          <a:xfrm rot="5915836">
            <a:off x="7996432" y="4918652"/>
            <a:ext cx="216315" cy="1030208"/>
          </a:xfrm>
          <a:prstGeom prst="upArrow">
            <a:avLst>
              <a:gd name="adj1" fmla="val 31681"/>
              <a:gd name="adj2" fmla="val 101903"/>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solidFill>
                <a:schemeClr val="tx1"/>
              </a:solidFill>
            </a:endParaRPr>
          </a:p>
        </p:txBody>
      </p:sp>
      <p:sp>
        <p:nvSpPr>
          <p:cNvPr id="58" name="矢印: 上 57">
            <a:extLst>
              <a:ext uri="{FF2B5EF4-FFF2-40B4-BE49-F238E27FC236}">
                <a16:creationId xmlns:a16="http://schemas.microsoft.com/office/drawing/2014/main" id="{0042D3E8-791F-4C2D-B0A1-5C9474BF7ADF}"/>
              </a:ext>
            </a:extLst>
          </p:cNvPr>
          <p:cNvSpPr/>
          <p:nvPr/>
        </p:nvSpPr>
        <p:spPr>
          <a:xfrm rot="7671784">
            <a:off x="8007058" y="6427374"/>
            <a:ext cx="174184" cy="1286081"/>
          </a:xfrm>
          <a:prstGeom prst="upArrow">
            <a:avLst>
              <a:gd name="adj1" fmla="val 38500"/>
              <a:gd name="adj2" fmla="val 101834"/>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solidFill>
                <a:schemeClr val="tx1"/>
              </a:solidFill>
            </a:endParaRPr>
          </a:p>
        </p:txBody>
      </p:sp>
      <p:sp>
        <p:nvSpPr>
          <p:cNvPr id="59" name="矢印: 上 58">
            <a:extLst>
              <a:ext uri="{FF2B5EF4-FFF2-40B4-BE49-F238E27FC236}">
                <a16:creationId xmlns:a16="http://schemas.microsoft.com/office/drawing/2014/main" id="{D31160A7-32C5-4E43-8C4B-7A3D4B20B5E8}"/>
              </a:ext>
            </a:extLst>
          </p:cNvPr>
          <p:cNvSpPr/>
          <p:nvPr/>
        </p:nvSpPr>
        <p:spPr>
          <a:xfrm rot="6540629">
            <a:off x="8031413" y="5725794"/>
            <a:ext cx="202627" cy="1086912"/>
          </a:xfrm>
          <a:prstGeom prst="upArrow">
            <a:avLst>
              <a:gd name="adj1" fmla="val 32666"/>
              <a:gd name="adj2" fmla="val 104576"/>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solidFill>
                <a:schemeClr val="tx1"/>
              </a:solidFill>
            </a:endParaRPr>
          </a:p>
        </p:txBody>
      </p:sp>
      <p:sp>
        <p:nvSpPr>
          <p:cNvPr id="63" name="テキスト ボックス 62">
            <a:extLst>
              <a:ext uri="{FF2B5EF4-FFF2-40B4-BE49-F238E27FC236}">
                <a16:creationId xmlns:a16="http://schemas.microsoft.com/office/drawing/2014/main" id="{70557EF8-D01E-4E88-AD0E-9267E7A201C3}"/>
              </a:ext>
            </a:extLst>
          </p:cNvPr>
          <p:cNvSpPr txBox="1"/>
          <p:nvPr/>
        </p:nvSpPr>
        <p:spPr>
          <a:xfrm>
            <a:off x="816623" y="8930917"/>
            <a:ext cx="8816896" cy="707886"/>
          </a:xfrm>
          <a:prstGeom prst="rect">
            <a:avLst/>
          </a:prstGeom>
          <a:noFill/>
          <a:ln>
            <a:noFill/>
          </a:ln>
        </p:spPr>
        <p:txBody>
          <a:bodyPr wrap="square">
            <a:spAutoFit/>
          </a:bodyPr>
          <a:lstStyle/>
          <a:p>
            <a:r>
              <a:rPr lang="ja-JP" altLang="en-US" sz="1200" dirty="0">
                <a:latin typeface="メイリオ" panose="020B0604030504040204" pitchFamily="50" charset="-128"/>
                <a:ea typeface="メイリオ" panose="020B0604030504040204" pitchFamily="50" charset="-128"/>
              </a:rPr>
              <a:t>各筋肉の転倒や骨折のリスクとの関係を、</a:t>
            </a:r>
            <a:r>
              <a:rPr lang="ja-JP" altLang="en-US" sz="1600" dirty="0">
                <a:latin typeface="メイリオ" panose="020B0604030504040204" pitchFamily="50" charset="-128"/>
                <a:ea typeface="メイリオ" panose="020B0604030504040204" pitchFamily="50" charset="-128"/>
              </a:rPr>
              <a:t>◎</a:t>
            </a:r>
            <a:r>
              <a:rPr lang="ja-JP" altLang="en-US" sz="1200" dirty="0">
                <a:latin typeface="メイリオ" panose="020B0604030504040204" pitchFamily="50" charset="-128"/>
                <a:ea typeface="メイリオ" panose="020B0604030504040204" pitchFamily="50" charset="-128"/>
              </a:rPr>
              <a:t>：強く関係あり　○：関係あり　△：間接的に関係あり、として示しています。このリスクは独自調査によるもので参考程度の利用にとどめてください。なお、膝</a:t>
            </a:r>
            <a:r>
              <a:rPr lang="en-US" altLang="ja-JP" sz="1200" dirty="0">
                <a:latin typeface="メイリオ" panose="020B0604030504040204" pitchFamily="50" charset="-128"/>
                <a:ea typeface="メイリオ" panose="020B0604030504040204" pitchFamily="50" charset="-128"/>
              </a:rPr>
              <a:t>OA</a:t>
            </a:r>
            <a:r>
              <a:rPr lang="ja-JP" altLang="en-US" sz="1200" dirty="0">
                <a:latin typeface="メイリオ" panose="020B0604030504040204" pitchFamily="50" charset="-128"/>
                <a:ea typeface="メイリオ" panose="020B0604030504040204" pitchFamily="50" charset="-128"/>
              </a:rPr>
              <a:t>は「変形性ひざ関節症」（膝の軟骨がすり減って痛みや変形が出てくる病気で、筋質の低下が発症や進行に関連すると言われています）のことです。</a:t>
            </a:r>
          </a:p>
        </p:txBody>
      </p:sp>
      <p:sp>
        <p:nvSpPr>
          <p:cNvPr id="76" name="矢印: 上 75">
            <a:extLst>
              <a:ext uri="{FF2B5EF4-FFF2-40B4-BE49-F238E27FC236}">
                <a16:creationId xmlns:a16="http://schemas.microsoft.com/office/drawing/2014/main" id="{6446311F-E5CE-4308-9088-B2C2582B40E2}"/>
              </a:ext>
            </a:extLst>
          </p:cNvPr>
          <p:cNvSpPr/>
          <p:nvPr/>
        </p:nvSpPr>
        <p:spPr>
          <a:xfrm flipV="1">
            <a:off x="6288045" y="6397279"/>
            <a:ext cx="191964" cy="1130770"/>
          </a:xfrm>
          <a:prstGeom prst="upArrow">
            <a:avLst>
              <a:gd name="adj1" fmla="val 42782"/>
              <a:gd name="adj2" fmla="val 95673"/>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61" name="矢印: 上 60">
            <a:extLst>
              <a:ext uri="{FF2B5EF4-FFF2-40B4-BE49-F238E27FC236}">
                <a16:creationId xmlns:a16="http://schemas.microsoft.com/office/drawing/2014/main" id="{D7883AEC-383F-4A5C-B2C4-21FDFF2E9956}"/>
              </a:ext>
            </a:extLst>
          </p:cNvPr>
          <p:cNvSpPr/>
          <p:nvPr/>
        </p:nvSpPr>
        <p:spPr>
          <a:xfrm>
            <a:off x="6288046" y="3794483"/>
            <a:ext cx="191964" cy="994103"/>
          </a:xfrm>
          <a:prstGeom prst="upArrow">
            <a:avLst>
              <a:gd name="adj1" fmla="val 42782"/>
              <a:gd name="adj2" fmla="val 95673"/>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74" name="テキスト ボックス 73">
            <a:extLst>
              <a:ext uri="{FF2B5EF4-FFF2-40B4-BE49-F238E27FC236}">
                <a16:creationId xmlns:a16="http://schemas.microsoft.com/office/drawing/2014/main" id="{EF4B2233-5F99-4A1C-BB9C-DB247B415A19}"/>
              </a:ext>
            </a:extLst>
          </p:cNvPr>
          <p:cNvSpPr txBox="1"/>
          <p:nvPr/>
        </p:nvSpPr>
        <p:spPr>
          <a:xfrm>
            <a:off x="3564642" y="258189"/>
            <a:ext cx="9059015" cy="430887"/>
          </a:xfrm>
          <a:prstGeom prst="rect">
            <a:avLst/>
          </a:prstGeom>
          <a:noFill/>
        </p:spPr>
        <p:txBody>
          <a:bodyPr wrap="square" rtlCol="0">
            <a:spAutoFit/>
          </a:bodyPr>
          <a:lstStyle/>
          <a:p>
            <a:pPr algn="r"/>
            <a:r>
              <a:rPr kumimoji="1" lang="ja-JP" altLang="en-US" sz="1100" dirty="0">
                <a:latin typeface="メイリオ" panose="020B0604030504040204" pitchFamily="50" charset="-128"/>
                <a:ea typeface="メイリオ" panose="020B0604030504040204" pitchFamily="50" charset="-128"/>
              </a:rPr>
              <a:t>お名前</a:t>
            </a:r>
            <a:r>
              <a:rPr kumimoji="1" lang="en-US" altLang="ja-JP" sz="1100" dirty="0">
                <a:latin typeface="メイリオ" panose="020B0604030504040204" pitchFamily="50" charset="-128"/>
                <a:ea typeface="メイリオ" panose="020B0604030504040204" pitchFamily="50" charset="-128"/>
              </a:rPr>
              <a:t>: {{NAME}}</a:t>
            </a:r>
            <a:r>
              <a:rPr kumimoji="1" lang="ja-JP" altLang="en-US" sz="1100" dirty="0">
                <a:latin typeface="メイリオ" panose="020B0604030504040204" pitchFamily="50" charset="-128"/>
                <a:ea typeface="メイリオ" panose="020B0604030504040204" pitchFamily="50" charset="-128"/>
              </a:rPr>
              <a:t>様</a:t>
            </a:r>
            <a:r>
              <a:rPr kumimoji="1" lang="en-US" altLang="ja-JP" sz="1100" dirty="0">
                <a:latin typeface="メイリオ" panose="020B0604030504040204" pitchFamily="50" charset="-128"/>
                <a:ea typeface="メイリオ" panose="020B0604030504040204" pitchFamily="50" charset="-128"/>
              </a:rPr>
              <a:t>, {{SEX}}, {{BIRTH_YEAR}}</a:t>
            </a:r>
            <a:r>
              <a:rPr kumimoji="1" lang="ja-JP" altLang="en-US" sz="1100" dirty="0">
                <a:latin typeface="メイリオ" panose="020B0604030504040204" pitchFamily="50" charset="-128"/>
                <a:ea typeface="メイリオ" panose="020B0604030504040204" pitchFamily="50" charset="-128"/>
              </a:rPr>
              <a:t>年</a:t>
            </a:r>
            <a:r>
              <a:rPr kumimoji="1" lang="en-US" altLang="ja-JP" sz="1100" dirty="0">
                <a:latin typeface="メイリオ" panose="020B0604030504040204" pitchFamily="50" charset="-128"/>
                <a:ea typeface="メイリオ" panose="020B0604030504040204" pitchFamily="50" charset="-128"/>
              </a:rPr>
              <a:t>{{BIRTH_MONTH}}</a:t>
            </a:r>
            <a:r>
              <a:rPr kumimoji="1" lang="ja-JP" altLang="en-US" sz="1100" dirty="0">
                <a:latin typeface="メイリオ" panose="020B0604030504040204" pitchFamily="50" charset="-128"/>
                <a:ea typeface="メイリオ" panose="020B0604030504040204" pitchFamily="50" charset="-128"/>
              </a:rPr>
              <a:t>月</a:t>
            </a:r>
            <a:r>
              <a:rPr kumimoji="1" lang="en-US" altLang="ja-JP" sz="1100" dirty="0">
                <a:latin typeface="メイリオ" panose="020B0604030504040204" pitchFamily="50" charset="-128"/>
                <a:ea typeface="メイリオ" panose="020B0604030504040204" pitchFamily="50" charset="-128"/>
              </a:rPr>
              <a:t>{{BIRTH_DAY}}</a:t>
            </a:r>
            <a:r>
              <a:rPr kumimoji="1" lang="ja-JP" altLang="en-US" sz="1100" dirty="0">
                <a:latin typeface="メイリオ" panose="020B0604030504040204" pitchFamily="50" charset="-128"/>
                <a:ea typeface="メイリオ" panose="020B0604030504040204" pitchFamily="50" charset="-128"/>
              </a:rPr>
              <a:t>日生</a:t>
            </a:r>
            <a:r>
              <a:rPr kumimoji="1" lang="en-US" altLang="ja-JP" sz="1100" dirty="0">
                <a:latin typeface="メイリオ" panose="020B0604030504040204" pitchFamily="50" charset="-128"/>
                <a:ea typeface="メイリオ" panose="020B0604030504040204" pitchFamily="50" charset="-128"/>
              </a:rPr>
              <a:t>,  </a:t>
            </a:r>
            <a:r>
              <a:rPr kumimoji="1" lang="ja-JP" altLang="en-US" sz="1100" dirty="0">
                <a:latin typeface="メイリオ" panose="020B0604030504040204" pitchFamily="50" charset="-128"/>
                <a:ea typeface="メイリオ" panose="020B0604030504040204" pitchFamily="50" charset="-128"/>
              </a:rPr>
              <a:t>身長</a:t>
            </a:r>
            <a:r>
              <a:rPr kumimoji="1" lang="en-US" altLang="ja-JP" sz="1100" dirty="0">
                <a:latin typeface="メイリオ" panose="020B0604030504040204" pitchFamily="50" charset="-128"/>
                <a:ea typeface="メイリオ" panose="020B0604030504040204" pitchFamily="50" charset="-128"/>
              </a:rPr>
              <a:t>: {{HEIGHT}}cm, </a:t>
            </a:r>
            <a:r>
              <a:rPr kumimoji="1" lang="ja-JP" altLang="en-US" sz="1100" dirty="0">
                <a:latin typeface="メイリオ" panose="020B0604030504040204" pitchFamily="50" charset="-128"/>
                <a:ea typeface="メイリオ" panose="020B0604030504040204" pitchFamily="50" charset="-128"/>
              </a:rPr>
              <a:t>体重</a:t>
            </a:r>
            <a:r>
              <a:rPr kumimoji="1" lang="en-US" altLang="ja-JP" sz="1100" dirty="0">
                <a:latin typeface="メイリオ" panose="020B0604030504040204" pitchFamily="50" charset="-128"/>
                <a:ea typeface="メイリオ" panose="020B0604030504040204" pitchFamily="50" charset="-128"/>
              </a:rPr>
              <a:t>: {{WEIGHT}}kg, </a:t>
            </a:r>
            <a:r>
              <a:rPr kumimoji="1" lang="ja-JP" altLang="en-US" sz="1100" dirty="0">
                <a:latin typeface="メイリオ" panose="020B0604030504040204" pitchFamily="50" charset="-128"/>
                <a:ea typeface="メイリオ" panose="020B0604030504040204" pitchFamily="50" charset="-128"/>
              </a:rPr>
              <a:t>撮影時年齢 </a:t>
            </a:r>
            <a:r>
              <a:rPr kumimoji="1" lang="en-US" altLang="ja-JP" sz="1100" dirty="0">
                <a:latin typeface="メイリオ" panose="020B0604030504040204" pitchFamily="50" charset="-128"/>
                <a:ea typeface="メイリオ" panose="020B0604030504040204" pitchFamily="50" charset="-128"/>
              </a:rPr>
              <a:t>{{AGE}}</a:t>
            </a:r>
            <a:r>
              <a:rPr kumimoji="1" lang="ja-JP" altLang="en-US" sz="1100" dirty="0">
                <a:latin typeface="メイリオ" panose="020B0604030504040204" pitchFamily="50" charset="-128"/>
                <a:ea typeface="メイリオ" panose="020B0604030504040204" pitchFamily="50" charset="-128"/>
              </a:rPr>
              <a:t>歳 </a:t>
            </a:r>
            <a:r>
              <a:rPr kumimoji="1" lang="en-US" altLang="ja-JP" sz="1100" dirty="0">
                <a:latin typeface="メイリオ" panose="020B0604030504040204" pitchFamily="50" charset="-128"/>
                <a:ea typeface="メイリオ" panose="020B0604030504040204" pitchFamily="50" charset="-128"/>
              </a:rPr>
              <a:t>({{SHOOTING_YEAR}}</a:t>
            </a:r>
            <a:r>
              <a:rPr kumimoji="1" lang="ja-JP" altLang="en-US" sz="1100" dirty="0">
                <a:latin typeface="メイリオ" panose="020B0604030504040204" pitchFamily="50" charset="-128"/>
                <a:ea typeface="メイリオ" panose="020B0604030504040204" pitchFamily="50" charset="-128"/>
              </a:rPr>
              <a:t>年</a:t>
            </a:r>
            <a:r>
              <a:rPr kumimoji="1" lang="en-US" altLang="ja-JP" sz="1100" dirty="0">
                <a:latin typeface="メイリオ" panose="020B0604030504040204" pitchFamily="50" charset="-128"/>
                <a:ea typeface="メイリオ" panose="020B0604030504040204" pitchFamily="50" charset="-128"/>
              </a:rPr>
              <a:t>{{SHOOTING_MONTH}}</a:t>
            </a:r>
            <a:r>
              <a:rPr kumimoji="1" lang="ja-JP" altLang="en-US" sz="1100" dirty="0">
                <a:latin typeface="メイリオ" panose="020B0604030504040204" pitchFamily="50" charset="-128"/>
                <a:ea typeface="メイリオ" panose="020B0604030504040204" pitchFamily="50" charset="-128"/>
              </a:rPr>
              <a:t>月</a:t>
            </a:r>
            <a:r>
              <a:rPr kumimoji="1" lang="en-US" altLang="ja-JP" sz="1100" dirty="0">
                <a:latin typeface="メイリオ" panose="020B0604030504040204" pitchFamily="50" charset="-128"/>
                <a:ea typeface="メイリオ" panose="020B0604030504040204" pitchFamily="50" charset="-128"/>
              </a:rPr>
              <a:t>{{SHOOTING_DAY}}</a:t>
            </a:r>
            <a:r>
              <a:rPr kumimoji="1" lang="ja-JP" altLang="en-US" sz="1100" dirty="0">
                <a:latin typeface="メイリオ" panose="020B0604030504040204" pitchFamily="50" charset="-128"/>
                <a:ea typeface="メイリオ" panose="020B0604030504040204" pitchFamily="50" charset="-128"/>
              </a:rPr>
              <a:t>日撮影</a:t>
            </a:r>
            <a:r>
              <a:rPr kumimoji="1" lang="en-US" altLang="ja-JP" sz="1100" dirty="0">
                <a:latin typeface="メイリオ" panose="020B0604030504040204" pitchFamily="50" charset="-128"/>
                <a:ea typeface="メイリオ" panose="020B0604030504040204" pitchFamily="50" charset="-128"/>
              </a:rPr>
              <a:t>) </a:t>
            </a:r>
            <a:endParaRPr kumimoji="1" lang="ja-JP" altLang="en-US" sz="1100" dirty="0">
              <a:latin typeface="メイリオ" panose="020B0604030504040204" pitchFamily="50" charset="-128"/>
              <a:ea typeface="メイリオ" panose="020B0604030504040204" pitchFamily="50" charset="-128"/>
            </a:endParaRPr>
          </a:p>
        </p:txBody>
      </p:sp>
      <p:sp>
        <p:nvSpPr>
          <p:cNvPr id="2" name="スライド番号プレースホルダー 1">
            <a:extLst>
              <a:ext uri="{FF2B5EF4-FFF2-40B4-BE49-F238E27FC236}">
                <a16:creationId xmlns:a16="http://schemas.microsoft.com/office/drawing/2014/main" id="{9D89FA5C-D34E-41F5-B1A4-822D9417154D}"/>
              </a:ext>
            </a:extLst>
          </p:cNvPr>
          <p:cNvSpPr>
            <a:spLocks noGrp="1"/>
          </p:cNvSpPr>
          <p:nvPr>
            <p:ph type="sldNum" sz="quarter" idx="12"/>
          </p:nvPr>
        </p:nvSpPr>
        <p:spPr/>
        <p:txBody>
          <a:bodyPr/>
          <a:lstStyle/>
          <a:p>
            <a:fld id="{AD811822-4739-4079-91F6-9F51ED4B0761}" type="slidenum">
              <a:rPr kumimoji="1" lang="ja-JP" altLang="en-US" smtClean="0"/>
              <a:t>3</a:t>
            </a:fld>
            <a:endParaRPr kumimoji="1" lang="ja-JP" altLang="en-US"/>
          </a:p>
        </p:txBody>
      </p:sp>
      <p:graphicFrame>
        <p:nvGraphicFramePr>
          <p:cNvPr id="80" name="表 79">
            <a:extLst>
              <a:ext uri="{FF2B5EF4-FFF2-40B4-BE49-F238E27FC236}">
                <a16:creationId xmlns:a16="http://schemas.microsoft.com/office/drawing/2014/main" id="{12D6D250-0B30-41C3-BBF1-E1DA0284663E}"/>
              </a:ext>
            </a:extLst>
          </p:cNvPr>
          <p:cNvGraphicFramePr>
            <a:graphicFrameLocks noGrp="1"/>
          </p:cNvGraphicFramePr>
          <p:nvPr>
            <p:extLst>
              <p:ext uri="{D42A27DB-BD31-4B8C-83A1-F6EECF244321}">
                <p14:modId xmlns:p14="http://schemas.microsoft.com/office/powerpoint/2010/main" val="3607706020"/>
              </p:ext>
            </p:extLst>
          </p:nvPr>
        </p:nvGraphicFramePr>
        <p:xfrm>
          <a:off x="1037925" y="2890136"/>
          <a:ext cx="1231515" cy="1359549"/>
        </p:xfrm>
        <a:graphic>
          <a:graphicData uri="http://schemas.openxmlformats.org/drawingml/2006/table">
            <a:tbl>
              <a:tblPr firstRow="1" bandRow="1">
                <a:tableStyleId>{8799B23B-EC83-4686-B30A-512413B5E67A}</a:tableStyleId>
              </a:tblPr>
              <a:tblGrid>
                <a:gridCol w="321806">
                  <a:extLst>
                    <a:ext uri="{9D8B030D-6E8A-4147-A177-3AD203B41FA5}">
                      <a16:colId xmlns:a16="http://schemas.microsoft.com/office/drawing/2014/main" val="3169332520"/>
                    </a:ext>
                  </a:extLst>
                </a:gridCol>
                <a:gridCol w="909709">
                  <a:extLst>
                    <a:ext uri="{9D8B030D-6E8A-4147-A177-3AD203B41FA5}">
                      <a16:colId xmlns:a16="http://schemas.microsoft.com/office/drawing/2014/main" val="426943108"/>
                    </a:ext>
                  </a:extLst>
                </a:gridCol>
              </a:tblGrid>
              <a:tr h="1359549">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1" lang="ja-JP" altLang="en-US" sz="1100" b="1" i="0" u="none" strike="noStrike" kern="1200" cap="none" spc="0" normalizeH="0" baseline="0" dirty="0">
                          <a:ln>
                            <a:noFill/>
                          </a:ln>
                          <a:solidFill>
                            <a:prstClr val="black"/>
                          </a:solidFill>
                          <a:effectLst/>
                          <a:uLnTx/>
                          <a:uFillTx/>
                          <a:latin typeface="メイリオ" panose="020B0604030504040204" pitchFamily="50" charset="-128"/>
                          <a:ea typeface="メイリオ" panose="020B0604030504040204" pitchFamily="50" charset="-128"/>
                          <a:cs typeface="+mn-cs"/>
                        </a:rPr>
                        <a:t>胸・お腹</a:t>
                      </a:r>
                    </a:p>
                  </a:txBody>
                  <a:tcPr anchor="ctr"/>
                </a:tc>
                <a:tc>
                  <a:txBody>
                    <a:bodyPr/>
                    <a:lstStyle/>
                    <a:p>
                      <a:r>
                        <a:rPr lang="ja-JP" altLang="en-US" sz="1000" b="0" dirty="0">
                          <a:latin typeface="メイリオ" panose="020B0604030504040204" pitchFamily="50" charset="-128"/>
                          <a:ea typeface="メイリオ" panose="020B0604030504040204" pitchFamily="50" charset="-128"/>
                        </a:rPr>
                        <a:t>大胸筋</a:t>
                      </a:r>
                      <a:endParaRPr lang="en-US" altLang="ja-JP" sz="1000" b="0" dirty="0">
                        <a:latin typeface="メイリオ" panose="020B0604030504040204" pitchFamily="50" charset="-128"/>
                        <a:ea typeface="メイリオ" panose="020B0604030504040204" pitchFamily="50" charset="-128"/>
                      </a:endParaRPr>
                    </a:p>
                    <a:p>
                      <a:r>
                        <a:rPr lang="ja-JP" altLang="en-US" sz="1000" b="0" dirty="0">
                          <a:latin typeface="メイリオ" panose="020B0604030504040204" pitchFamily="50" charset="-128"/>
                          <a:ea typeface="メイリオ" panose="020B0604030504040204" pitchFamily="50" charset="-128"/>
                        </a:rPr>
                        <a:t>小胸筋</a:t>
                      </a:r>
                      <a:endParaRPr lang="en-US" altLang="ja-JP" sz="1000" b="0" dirty="0">
                        <a:latin typeface="メイリオ" panose="020B0604030504040204" pitchFamily="50" charset="-128"/>
                        <a:ea typeface="メイリオ" panose="020B0604030504040204" pitchFamily="50" charset="-128"/>
                      </a:endParaRPr>
                    </a:p>
                    <a:p>
                      <a:r>
                        <a:rPr lang="ja-JP" altLang="en-US" sz="1000" b="0" dirty="0">
                          <a:latin typeface="メイリオ" panose="020B0604030504040204" pitchFamily="50" charset="-128"/>
                          <a:ea typeface="メイリオ" panose="020B0604030504040204" pitchFamily="50" charset="-128"/>
                        </a:rPr>
                        <a:t>前鋸筋</a:t>
                      </a:r>
                      <a:endParaRPr lang="en-US" altLang="ja-JP" sz="1000" b="0" dirty="0">
                        <a:latin typeface="メイリオ" panose="020B0604030504040204" pitchFamily="50" charset="-128"/>
                        <a:ea typeface="メイリオ" panose="020B0604030504040204" pitchFamily="50" charset="-128"/>
                      </a:endParaRPr>
                    </a:p>
                    <a:p>
                      <a:r>
                        <a:rPr lang="ja-JP" altLang="en-US" sz="1000" b="0" dirty="0">
                          <a:solidFill>
                            <a:srgbClr val="FF0000"/>
                          </a:solidFill>
                          <a:latin typeface="メイリオ" panose="020B0604030504040204" pitchFamily="50" charset="-128"/>
                          <a:ea typeface="メイリオ" panose="020B0604030504040204" pitchFamily="50" charset="-128"/>
                        </a:rPr>
                        <a:t>肋間筋</a:t>
                      </a:r>
                      <a:endParaRPr lang="en-US" altLang="ja-JP" sz="1000" b="0" dirty="0">
                        <a:solidFill>
                          <a:srgbClr val="FF0000"/>
                        </a:solidFill>
                        <a:latin typeface="メイリオ" panose="020B0604030504040204" pitchFamily="50" charset="-128"/>
                        <a:ea typeface="メイリオ" panose="020B0604030504040204" pitchFamily="50" charset="-128"/>
                      </a:endParaRPr>
                    </a:p>
                    <a:p>
                      <a:r>
                        <a:rPr lang="ja-JP" altLang="en-US" sz="1000" b="0" dirty="0">
                          <a:solidFill>
                            <a:srgbClr val="FF0000"/>
                          </a:solidFill>
                          <a:latin typeface="メイリオ" panose="020B0604030504040204" pitchFamily="50" charset="-128"/>
                          <a:ea typeface="メイリオ" panose="020B0604030504040204" pitchFamily="50" charset="-128"/>
                        </a:rPr>
                        <a:t>腹直筋</a:t>
                      </a:r>
                      <a:endParaRPr lang="en-US" altLang="ja-JP" sz="1000" b="0" dirty="0">
                        <a:solidFill>
                          <a:srgbClr val="FF0000"/>
                        </a:solidFill>
                        <a:latin typeface="メイリオ" panose="020B0604030504040204" pitchFamily="50" charset="-128"/>
                        <a:ea typeface="メイリオ" panose="020B0604030504040204" pitchFamily="50" charset="-128"/>
                      </a:endParaRPr>
                    </a:p>
                    <a:p>
                      <a:r>
                        <a:rPr lang="ja-JP" altLang="en-US" sz="1000" b="0" dirty="0">
                          <a:solidFill>
                            <a:srgbClr val="FF0000"/>
                          </a:solidFill>
                          <a:latin typeface="メイリオ" panose="020B0604030504040204" pitchFamily="50" charset="-128"/>
                          <a:ea typeface="メイリオ" panose="020B0604030504040204" pitchFamily="50" charset="-128"/>
                        </a:rPr>
                        <a:t>内腹斜筋</a:t>
                      </a:r>
                      <a:endParaRPr lang="en-US" altLang="ja-JP" sz="1000" b="0" dirty="0">
                        <a:solidFill>
                          <a:srgbClr val="FF0000"/>
                        </a:solidFill>
                        <a:latin typeface="メイリオ" panose="020B0604030504040204" pitchFamily="50" charset="-128"/>
                        <a:ea typeface="メイリオ" panose="020B0604030504040204" pitchFamily="50" charset="-128"/>
                      </a:endParaRPr>
                    </a:p>
                    <a:p>
                      <a:r>
                        <a:rPr lang="ja-JP" altLang="en-US" sz="1000" b="0" dirty="0">
                          <a:solidFill>
                            <a:srgbClr val="FF0000"/>
                          </a:solidFill>
                          <a:latin typeface="メイリオ" panose="020B0604030504040204" pitchFamily="50" charset="-128"/>
                          <a:ea typeface="メイリオ" panose="020B0604030504040204" pitchFamily="50" charset="-128"/>
                        </a:rPr>
                        <a:t>外腹斜筋</a:t>
                      </a:r>
                      <a:endParaRPr lang="en-US" altLang="ja-JP" sz="1000" b="0" dirty="0">
                        <a:solidFill>
                          <a:srgbClr val="FF0000"/>
                        </a:solidFill>
                        <a:latin typeface="メイリオ" panose="020B0604030504040204" pitchFamily="50" charset="-128"/>
                        <a:ea typeface="メイリオ" panose="020B0604030504040204" pitchFamily="50" charset="-128"/>
                      </a:endParaRPr>
                    </a:p>
                    <a:p>
                      <a:r>
                        <a:rPr lang="ja-JP" altLang="en-US" sz="1000" b="0" dirty="0">
                          <a:solidFill>
                            <a:srgbClr val="FF0000"/>
                          </a:solidFill>
                          <a:latin typeface="メイリオ" panose="020B0604030504040204" pitchFamily="50" charset="-128"/>
                          <a:ea typeface="メイリオ" panose="020B0604030504040204" pitchFamily="50" charset="-128"/>
                        </a:rPr>
                        <a:t>腹横筋</a:t>
                      </a:r>
                      <a:endParaRPr lang="en-US" altLang="ja-JP" sz="1000" b="0" dirty="0">
                        <a:solidFill>
                          <a:srgbClr val="FF0000"/>
                        </a:solidFill>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1173203978"/>
                  </a:ext>
                </a:extLst>
              </a:tr>
            </a:tbl>
          </a:graphicData>
        </a:graphic>
      </p:graphicFrame>
      <p:sp>
        <p:nvSpPr>
          <p:cNvPr id="81" name="テキスト ボックス 80">
            <a:extLst>
              <a:ext uri="{FF2B5EF4-FFF2-40B4-BE49-F238E27FC236}">
                <a16:creationId xmlns:a16="http://schemas.microsoft.com/office/drawing/2014/main" id="{E8DF3E2E-B29A-4C64-A5E4-05AA85368B3D}"/>
              </a:ext>
            </a:extLst>
          </p:cNvPr>
          <p:cNvSpPr txBox="1"/>
          <p:nvPr/>
        </p:nvSpPr>
        <p:spPr>
          <a:xfrm>
            <a:off x="968690" y="4246772"/>
            <a:ext cx="2764128" cy="253916"/>
          </a:xfrm>
          <a:prstGeom prst="rect">
            <a:avLst/>
          </a:prstGeom>
          <a:noFill/>
        </p:spPr>
        <p:txBody>
          <a:bodyPr wrap="square">
            <a:spAutoFit/>
          </a:bodyPr>
          <a:lstStyle/>
          <a:p>
            <a:r>
              <a:rPr lang="ja-JP" altLang="en-US" sz="1050" b="1" dirty="0">
                <a:latin typeface="メイリオ" panose="020B0604030504040204" pitchFamily="50" charset="-128"/>
                <a:ea typeface="メイリオ" panose="020B0604030504040204" pitchFamily="50" charset="-128"/>
              </a:rPr>
              <a:t>機能：体幹の安定、姿勢保持、呼吸補助</a:t>
            </a:r>
            <a:endParaRPr lang="en-US" altLang="ja-JP" sz="1050" b="1" dirty="0">
              <a:latin typeface="メイリオ" panose="020B0604030504040204" pitchFamily="50" charset="-128"/>
              <a:ea typeface="メイリオ" panose="020B0604030504040204" pitchFamily="50" charset="-128"/>
            </a:endParaRPr>
          </a:p>
        </p:txBody>
      </p:sp>
      <p:sp>
        <p:nvSpPr>
          <p:cNvPr id="82" name="テキスト ボックス 81">
            <a:extLst>
              <a:ext uri="{FF2B5EF4-FFF2-40B4-BE49-F238E27FC236}">
                <a16:creationId xmlns:a16="http://schemas.microsoft.com/office/drawing/2014/main" id="{EAD579E4-8038-4E5E-B5B1-8F613634BF5E}"/>
              </a:ext>
            </a:extLst>
          </p:cNvPr>
          <p:cNvSpPr txBox="1"/>
          <p:nvPr/>
        </p:nvSpPr>
        <p:spPr>
          <a:xfrm>
            <a:off x="968427" y="4414948"/>
            <a:ext cx="1194799" cy="246221"/>
          </a:xfrm>
          <a:prstGeom prst="rect">
            <a:avLst/>
          </a:prstGeom>
          <a:noFill/>
        </p:spPr>
        <p:txBody>
          <a:bodyPr wrap="square">
            <a:spAutoFit/>
          </a:bodyPr>
          <a:lstStyle/>
          <a:p>
            <a:r>
              <a:rPr lang="ja-JP" altLang="en-US" sz="1000" dirty="0">
                <a:latin typeface="メイリオ" panose="020B0604030504040204" pitchFamily="50" charset="-128"/>
                <a:ea typeface="メイリオ" panose="020B0604030504040204" pitchFamily="50" charset="-128"/>
              </a:rPr>
              <a:t>△転倒リスク</a:t>
            </a:r>
          </a:p>
        </p:txBody>
      </p:sp>
      <p:sp>
        <p:nvSpPr>
          <p:cNvPr id="83" name="テキスト ボックス 82">
            <a:extLst>
              <a:ext uri="{FF2B5EF4-FFF2-40B4-BE49-F238E27FC236}">
                <a16:creationId xmlns:a16="http://schemas.microsoft.com/office/drawing/2014/main" id="{86E68F16-9ADB-4E4D-BFF9-780147ED4FD6}"/>
              </a:ext>
            </a:extLst>
          </p:cNvPr>
          <p:cNvSpPr txBox="1"/>
          <p:nvPr/>
        </p:nvSpPr>
        <p:spPr>
          <a:xfrm>
            <a:off x="1846945" y="4422943"/>
            <a:ext cx="1975165" cy="246221"/>
          </a:xfrm>
          <a:prstGeom prst="rect">
            <a:avLst/>
          </a:prstGeom>
          <a:noFill/>
        </p:spPr>
        <p:txBody>
          <a:bodyPr wrap="square">
            <a:spAutoFit/>
          </a:bodyPr>
          <a:lstStyle/>
          <a:p>
            <a:r>
              <a:rPr lang="ja-JP" altLang="en-US" sz="1000" dirty="0">
                <a:latin typeface="メイリオ" panose="020B0604030504040204" pitchFamily="50" charset="-128"/>
                <a:ea typeface="メイリオ" panose="020B0604030504040204" pitchFamily="50" charset="-128"/>
              </a:rPr>
              <a:t>△背骨疾患リスク</a:t>
            </a:r>
            <a:r>
              <a:rPr lang="ja-JP" altLang="en-US" sz="900" dirty="0">
                <a:latin typeface="メイリオ" panose="020B0604030504040204" pitchFamily="50" charset="-128"/>
                <a:ea typeface="メイリオ" panose="020B0604030504040204" pitchFamily="50" charset="-128"/>
              </a:rPr>
              <a:t>（骨折</a:t>
            </a:r>
            <a:r>
              <a:rPr lang="en-US" altLang="ja-JP" sz="900" dirty="0">
                <a:latin typeface="メイリオ" panose="020B0604030504040204" pitchFamily="50" charset="-128"/>
                <a:ea typeface="メイリオ" panose="020B0604030504040204" pitchFamily="50" charset="-128"/>
              </a:rPr>
              <a:t>/</a:t>
            </a:r>
            <a:r>
              <a:rPr lang="ja-JP" altLang="en-US" sz="900" dirty="0">
                <a:latin typeface="メイリオ" panose="020B0604030504040204" pitchFamily="50" charset="-128"/>
                <a:ea typeface="メイリオ" panose="020B0604030504040204" pitchFamily="50" charset="-128"/>
              </a:rPr>
              <a:t>狭窄）</a:t>
            </a:r>
            <a:endParaRPr lang="ja-JP" altLang="en-US" sz="1000" dirty="0">
              <a:latin typeface="メイリオ" panose="020B0604030504040204" pitchFamily="50" charset="-128"/>
              <a:ea typeface="メイリオ" panose="020B0604030504040204" pitchFamily="50" charset="-128"/>
            </a:endParaRPr>
          </a:p>
        </p:txBody>
      </p:sp>
      <p:sp>
        <p:nvSpPr>
          <p:cNvPr id="84" name="四角形: 角を丸くする 83">
            <a:extLst>
              <a:ext uri="{FF2B5EF4-FFF2-40B4-BE49-F238E27FC236}">
                <a16:creationId xmlns:a16="http://schemas.microsoft.com/office/drawing/2014/main" id="{8D3DA354-1FC7-471E-818B-22D6F67EFA92}"/>
              </a:ext>
            </a:extLst>
          </p:cNvPr>
          <p:cNvSpPr/>
          <p:nvPr/>
        </p:nvSpPr>
        <p:spPr>
          <a:xfrm>
            <a:off x="29200" y="2834154"/>
            <a:ext cx="4193298" cy="1801400"/>
          </a:xfrm>
          <a:prstGeom prst="roundRect">
            <a:avLst>
              <a:gd name="adj" fmla="val 4247"/>
            </a:avLst>
          </a:prstGeom>
          <a:no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85" name="四角形: 角を丸くする 84">
            <a:extLst>
              <a:ext uri="{FF2B5EF4-FFF2-40B4-BE49-F238E27FC236}">
                <a16:creationId xmlns:a16="http://schemas.microsoft.com/office/drawing/2014/main" id="{187A03B4-4808-4AA2-8D8B-E1602DB2EAA4}"/>
              </a:ext>
            </a:extLst>
          </p:cNvPr>
          <p:cNvSpPr/>
          <p:nvPr/>
        </p:nvSpPr>
        <p:spPr>
          <a:xfrm>
            <a:off x="36195" y="4708216"/>
            <a:ext cx="4195356" cy="1253539"/>
          </a:xfrm>
          <a:prstGeom prst="roundRect">
            <a:avLst>
              <a:gd name="adj" fmla="val 4247"/>
            </a:avLst>
          </a:prstGeom>
          <a:no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86" name="四角形: 角を丸くする 85">
            <a:extLst>
              <a:ext uri="{FF2B5EF4-FFF2-40B4-BE49-F238E27FC236}">
                <a16:creationId xmlns:a16="http://schemas.microsoft.com/office/drawing/2014/main" id="{41308B29-8033-4D42-BCBF-DC5C5F690311}"/>
              </a:ext>
            </a:extLst>
          </p:cNvPr>
          <p:cNvSpPr/>
          <p:nvPr/>
        </p:nvSpPr>
        <p:spPr>
          <a:xfrm>
            <a:off x="36811" y="7287093"/>
            <a:ext cx="4200708" cy="1116611"/>
          </a:xfrm>
          <a:prstGeom prst="roundRect">
            <a:avLst>
              <a:gd name="adj" fmla="val 4247"/>
            </a:avLst>
          </a:prstGeom>
          <a:no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87" name="四角形: 角を丸くする 86">
            <a:extLst>
              <a:ext uri="{FF2B5EF4-FFF2-40B4-BE49-F238E27FC236}">
                <a16:creationId xmlns:a16="http://schemas.microsoft.com/office/drawing/2014/main" id="{71ED878D-D3F1-4B03-901A-98CE084390EF}"/>
              </a:ext>
            </a:extLst>
          </p:cNvPr>
          <p:cNvSpPr/>
          <p:nvPr/>
        </p:nvSpPr>
        <p:spPr>
          <a:xfrm>
            <a:off x="36195" y="6084863"/>
            <a:ext cx="4186303" cy="1117916"/>
          </a:xfrm>
          <a:prstGeom prst="roundRect">
            <a:avLst>
              <a:gd name="adj" fmla="val 4247"/>
            </a:avLst>
          </a:prstGeom>
          <a:no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88" name="四角形: 角を丸くする 87">
            <a:extLst>
              <a:ext uri="{FF2B5EF4-FFF2-40B4-BE49-F238E27FC236}">
                <a16:creationId xmlns:a16="http://schemas.microsoft.com/office/drawing/2014/main" id="{49157FAF-7FB5-4FED-9D94-AF192BBFA9F4}"/>
              </a:ext>
            </a:extLst>
          </p:cNvPr>
          <p:cNvSpPr/>
          <p:nvPr/>
        </p:nvSpPr>
        <p:spPr>
          <a:xfrm>
            <a:off x="4301207" y="2687109"/>
            <a:ext cx="4212678" cy="1123417"/>
          </a:xfrm>
          <a:prstGeom prst="roundRect">
            <a:avLst>
              <a:gd name="adj" fmla="val 4247"/>
            </a:avLst>
          </a:prstGeom>
          <a:no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89" name="四角形: 角を丸くする 88">
            <a:extLst>
              <a:ext uri="{FF2B5EF4-FFF2-40B4-BE49-F238E27FC236}">
                <a16:creationId xmlns:a16="http://schemas.microsoft.com/office/drawing/2014/main" id="{8A6489E3-26FB-440D-9213-3F1746CC9CCA}"/>
              </a:ext>
            </a:extLst>
          </p:cNvPr>
          <p:cNvSpPr/>
          <p:nvPr/>
        </p:nvSpPr>
        <p:spPr>
          <a:xfrm>
            <a:off x="4358497" y="7547842"/>
            <a:ext cx="4186919" cy="1181133"/>
          </a:xfrm>
          <a:prstGeom prst="roundRect">
            <a:avLst>
              <a:gd name="adj" fmla="val 4247"/>
            </a:avLst>
          </a:prstGeom>
          <a:no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90" name="四角形: 角を丸くする 89">
            <a:extLst>
              <a:ext uri="{FF2B5EF4-FFF2-40B4-BE49-F238E27FC236}">
                <a16:creationId xmlns:a16="http://schemas.microsoft.com/office/drawing/2014/main" id="{1C994994-C374-4051-95EB-14DBC8502F44}"/>
              </a:ext>
            </a:extLst>
          </p:cNvPr>
          <p:cNvSpPr/>
          <p:nvPr/>
        </p:nvSpPr>
        <p:spPr>
          <a:xfrm>
            <a:off x="8589161" y="2828377"/>
            <a:ext cx="4136975" cy="1915849"/>
          </a:xfrm>
          <a:prstGeom prst="roundRect">
            <a:avLst>
              <a:gd name="adj" fmla="val 4247"/>
            </a:avLst>
          </a:prstGeom>
          <a:no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91" name="四角形: 角を丸くする 90">
            <a:extLst>
              <a:ext uri="{FF2B5EF4-FFF2-40B4-BE49-F238E27FC236}">
                <a16:creationId xmlns:a16="http://schemas.microsoft.com/office/drawing/2014/main" id="{A46ED2A9-6DE3-4B8B-BEF7-F10FDD8A89E0}"/>
              </a:ext>
            </a:extLst>
          </p:cNvPr>
          <p:cNvSpPr/>
          <p:nvPr/>
        </p:nvSpPr>
        <p:spPr>
          <a:xfrm>
            <a:off x="8622837" y="4776235"/>
            <a:ext cx="4129336" cy="1176111"/>
          </a:xfrm>
          <a:prstGeom prst="roundRect">
            <a:avLst>
              <a:gd name="adj" fmla="val 4247"/>
            </a:avLst>
          </a:prstGeom>
          <a:no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92" name="四角形: 角を丸くする 91">
            <a:extLst>
              <a:ext uri="{FF2B5EF4-FFF2-40B4-BE49-F238E27FC236}">
                <a16:creationId xmlns:a16="http://schemas.microsoft.com/office/drawing/2014/main" id="{FA7C595A-3F6A-4D29-8F37-D9EA66CB4853}"/>
              </a:ext>
            </a:extLst>
          </p:cNvPr>
          <p:cNvSpPr/>
          <p:nvPr/>
        </p:nvSpPr>
        <p:spPr>
          <a:xfrm>
            <a:off x="8643896" y="6071616"/>
            <a:ext cx="4108277" cy="1201649"/>
          </a:xfrm>
          <a:prstGeom prst="roundRect">
            <a:avLst>
              <a:gd name="adj" fmla="val 4247"/>
            </a:avLst>
          </a:prstGeom>
          <a:no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93" name="四角形: 角を丸くする 92">
            <a:extLst>
              <a:ext uri="{FF2B5EF4-FFF2-40B4-BE49-F238E27FC236}">
                <a16:creationId xmlns:a16="http://schemas.microsoft.com/office/drawing/2014/main" id="{8E3E7552-915E-48AF-AD83-4F2846A15610}"/>
              </a:ext>
            </a:extLst>
          </p:cNvPr>
          <p:cNvSpPr/>
          <p:nvPr/>
        </p:nvSpPr>
        <p:spPr>
          <a:xfrm>
            <a:off x="8584926" y="7404343"/>
            <a:ext cx="4167247" cy="1116825"/>
          </a:xfrm>
          <a:prstGeom prst="roundRect">
            <a:avLst>
              <a:gd name="adj" fmla="val 4247"/>
            </a:avLst>
          </a:prstGeom>
          <a:no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cxnSp>
        <p:nvCxnSpPr>
          <p:cNvPr id="94" name="直線コネクタ 93">
            <a:extLst>
              <a:ext uri="{FF2B5EF4-FFF2-40B4-BE49-F238E27FC236}">
                <a16:creationId xmlns:a16="http://schemas.microsoft.com/office/drawing/2014/main" id="{141AD58C-CC36-4A95-98E6-8BCEC311D5A5}"/>
              </a:ext>
            </a:extLst>
          </p:cNvPr>
          <p:cNvCxnSpPr>
            <a:cxnSpLocks/>
          </p:cNvCxnSpPr>
          <p:nvPr/>
        </p:nvCxnSpPr>
        <p:spPr>
          <a:xfrm>
            <a:off x="2410777" y="2713650"/>
            <a:ext cx="1541600" cy="4710"/>
          </a:xfrm>
          <a:prstGeom prst="line">
            <a:avLst/>
          </a:prstGeom>
          <a:ln w="31750">
            <a:solidFill>
              <a:schemeClr val="tx1"/>
            </a:solidFill>
            <a:headEnd w="lg" len="lg"/>
            <a:tailEnd type="triangle"/>
          </a:ln>
        </p:spPr>
        <p:style>
          <a:lnRef idx="1">
            <a:schemeClr val="accent1"/>
          </a:lnRef>
          <a:fillRef idx="0">
            <a:schemeClr val="accent1"/>
          </a:fillRef>
          <a:effectRef idx="0">
            <a:schemeClr val="accent1"/>
          </a:effectRef>
          <a:fontRef idx="minor">
            <a:schemeClr val="tx1"/>
          </a:fontRef>
        </p:style>
      </p:cxnSp>
      <p:sp>
        <p:nvSpPr>
          <p:cNvPr id="95" name="テキスト ボックス 94">
            <a:extLst>
              <a:ext uri="{FF2B5EF4-FFF2-40B4-BE49-F238E27FC236}">
                <a16:creationId xmlns:a16="http://schemas.microsoft.com/office/drawing/2014/main" id="{F7A187D3-57C8-4C23-B459-9865B842D5D4}"/>
              </a:ext>
            </a:extLst>
          </p:cNvPr>
          <p:cNvSpPr txBox="1"/>
          <p:nvPr/>
        </p:nvSpPr>
        <p:spPr>
          <a:xfrm>
            <a:off x="2081606" y="2569264"/>
            <a:ext cx="364202" cy="307777"/>
          </a:xfrm>
          <a:prstGeom prst="rect">
            <a:avLst/>
          </a:prstGeom>
          <a:noFill/>
        </p:spPr>
        <p:txBody>
          <a:bodyPr wrap="none" rtlCol="0">
            <a:spAutoFit/>
          </a:bodyPr>
          <a:lstStyle/>
          <a:p>
            <a:r>
              <a:rPr kumimoji="1" lang="ja-JP" altLang="en-US" sz="1400" b="1" dirty="0">
                <a:latin typeface="メイリオ" panose="020B0604030504040204" pitchFamily="50" charset="-128"/>
                <a:ea typeface="メイリオ" panose="020B0604030504040204" pitchFamily="50" charset="-128"/>
              </a:rPr>
              <a:t>低</a:t>
            </a:r>
          </a:p>
        </p:txBody>
      </p:sp>
      <p:sp>
        <p:nvSpPr>
          <p:cNvPr id="96" name="テキスト ボックス 95">
            <a:extLst>
              <a:ext uri="{FF2B5EF4-FFF2-40B4-BE49-F238E27FC236}">
                <a16:creationId xmlns:a16="http://schemas.microsoft.com/office/drawing/2014/main" id="{EDEB194E-7862-462C-83EB-56CB0DBD327B}"/>
              </a:ext>
            </a:extLst>
          </p:cNvPr>
          <p:cNvSpPr txBox="1"/>
          <p:nvPr/>
        </p:nvSpPr>
        <p:spPr>
          <a:xfrm>
            <a:off x="3936724" y="2582740"/>
            <a:ext cx="364202" cy="307777"/>
          </a:xfrm>
          <a:prstGeom prst="rect">
            <a:avLst/>
          </a:prstGeom>
          <a:noFill/>
        </p:spPr>
        <p:txBody>
          <a:bodyPr wrap="none" rtlCol="0">
            <a:spAutoFit/>
          </a:bodyPr>
          <a:lstStyle/>
          <a:p>
            <a:r>
              <a:rPr kumimoji="1" lang="ja-JP" altLang="en-US" sz="1400" b="1" dirty="0">
                <a:latin typeface="メイリオ" panose="020B0604030504040204" pitchFamily="50" charset="-128"/>
                <a:ea typeface="メイリオ" panose="020B0604030504040204" pitchFamily="50" charset="-128"/>
              </a:rPr>
              <a:t>高</a:t>
            </a:r>
          </a:p>
        </p:txBody>
      </p:sp>
      <p:cxnSp>
        <p:nvCxnSpPr>
          <p:cNvPr id="103" name="直線コネクタ 102">
            <a:extLst>
              <a:ext uri="{FF2B5EF4-FFF2-40B4-BE49-F238E27FC236}">
                <a16:creationId xmlns:a16="http://schemas.microsoft.com/office/drawing/2014/main" id="{F882DF77-375C-4568-AD85-49096EDD685A}"/>
              </a:ext>
            </a:extLst>
          </p:cNvPr>
          <p:cNvCxnSpPr>
            <a:cxnSpLocks/>
          </p:cNvCxnSpPr>
          <p:nvPr/>
        </p:nvCxnSpPr>
        <p:spPr>
          <a:xfrm>
            <a:off x="10067550" y="2714749"/>
            <a:ext cx="1541600" cy="4710"/>
          </a:xfrm>
          <a:prstGeom prst="line">
            <a:avLst/>
          </a:prstGeom>
          <a:ln w="31750">
            <a:solidFill>
              <a:schemeClr val="tx1"/>
            </a:solidFill>
            <a:headEnd w="lg" len="lg"/>
            <a:tailEnd type="triangle"/>
          </a:ln>
        </p:spPr>
        <p:style>
          <a:lnRef idx="1">
            <a:schemeClr val="accent1"/>
          </a:lnRef>
          <a:fillRef idx="0">
            <a:schemeClr val="accent1"/>
          </a:fillRef>
          <a:effectRef idx="0">
            <a:schemeClr val="accent1"/>
          </a:effectRef>
          <a:fontRef idx="minor">
            <a:schemeClr val="tx1"/>
          </a:fontRef>
        </p:style>
      </p:cxnSp>
      <p:sp>
        <p:nvSpPr>
          <p:cNvPr id="104" name="テキスト ボックス 103">
            <a:extLst>
              <a:ext uri="{FF2B5EF4-FFF2-40B4-BE49-F238E27FC236}">
                <a16:creationId xmlns:a16="http://schemas.microsoft.com/office/drawing/2014/main" id="{5C8BD205-D03E-4E00-9425-D688B6DDBF1D}"/>
              </a:ext>
            </a:extLst>
          </p:cNvPr>
          <p:cNvSpPr txBox="1"/>
          <p:nvPr/>
        </p:nvSpPr>
        <p:spPr>
          <a:xfrm>
            <a:off x="9738379" y="2570363"/>
            <a:ext cx="364202" cy="307777"/>
          </a:xfrm>
          <a:prstGeom prst="rect">
            <a:avLst/>
          </a:prstGeom>
          <a:noFill/>
        </p:spPr>
        <p:txBody>
          <a:bodyPr wrap="none" rtlCol="0">
            <a:spAutoFit/>
          </a:bodyPr>
          <a:lstStyle/>
          <a:p>
            <a:r>
              <a:rPr kumimoji="1" lang="ja-JP" altLang="en-US" sz="1400" b="1" dirty="0">
                <a:latin typeface="メイリオ" panose="020B0604030504040204" pitchFamily="50" charset="-128"/>
                <a:ea typeface="メイリオ" panose="020B0604030504040204" pitchFamily="50" charset="-128"/>
              </a:rPr>
              <a:t>低</a:t>
            </a:r>
          </a:p>
        </p:txBody>
      </p:sp>
      <p:sp>
        <p:nvSpPr>
          <p:cNvPr id="105" name="テキスト ボックス 104">
            <a:extLst>
              <a:ext uri="{FF2B5EF4-FFF2-40B4-BE49-F238E27FC236}">
                <a16:creationId xmlns:a16="http://schemas.microsoft.com/office/drawing/2014/main" id="{B9359093-6938-453C-B923-DE93BA9E8773}"/>
              </a:ext>
            </a:extLst>
          </p:cNvPr>
          <p:cNvSpPr txBox="1"/>
          <p:nvPr/>
        </p:nvSpPr>
        <p:spPr>
          <a:xfrm>
            <a:off x="11593497" y="2583839"/>
            <a:ext cx="364202" cy="307777"/>
          </a:xfrm>
          <a:prstGeom prst="rect">
            <a:avLst/>
          </a:prstGeom>
          <a:noFill/>
        </p:spPr>
        <p:txBody>
          <a:bodyPr wrap="none" rtlCol="0">
            <a:spAutoFit/>
          </a:bodyPr>
          <a:lstStyle/>
          <a:p>
            <a:r>
              <a:rPr kumimoji="1" lang="ja-JP" altLang="en-US" sz="1400" b="1" dirty="0">
                <a:latin typeface="メイリオ" panose="020B0604030504040204" pitchFamily="50" charset="-128"/>
                <a:ea typeface="メイリオ" panose="020B0604030504040204" pitchFamily="50" charset="-128"/>
              </a:rPr>
              <a:t>高</a:t>
            </a:r>
          </a:p>
        </p:txBody>
      </p:sp>
      <p:graphicFrame>
        <p:nvGraphicFramePr>
          <p:cNvPr id="106" name="表 105">
            <a:extLst>
              <a:ext uri="{FF2B5EF4-FFF2-40B4-BE49-F238E27FC236}">
                <a16:creationId xmlns:a16="http://schemas.microsoft.com/office/drawing/2014/main" id="{642802A6-2CA0-4D0F-BA0D-AA11DCAFF67A}"/>
              </a:ext>
            </a:extLst>
          </p:cNvPr>
          <p:cNvGraphicFramePr>
            <a:graphicFrameLocks noGrp="1"/>
          </p:cNvGraphicFramePr>
          <p:nvPr>
            <p:extLst>
              <p:ext uri="{D42A27DB-BD31-4B8C-83A1-F6EECF244321}">
                <p14:modId xmlns:p14="http://schemas.microsoft.com/office/powerpoint/2010/main" val="3062727978"/>
              </p:ext>
            </p:extLst>
          </p:nvPr>
        </p:nvGraphicFramePr>
        <p:xfrm>
          <a:off x="1048473" y="4770483"/>
          <a:ext cx="1217807" cy="762646"/>
        </p:xfrm>
        <a:graphic>
          <a:graphicData uri="http://schemas.openxmlformats.org/drawingml/2006/table">
            <a:tbl>
              <a:tblPr firstRow="1" bandRow="1">
                <a:tableStyleId>{8799B23B-EC83-4686-B30A-512413B5E67A}</a:tableStyleId>
              </a:tblPr>
              <a:tblGrid>
                <a:gridCol w="332540">
                  <a:extLst>
                    <a:ext uri="{9D8B030D-6E8A-4147-A177-3AD203B41FA5}">
                      <a16:colId xmlns:a16="http://schemas.microsoft.com/office/drawing/2014/main" val="3544890682"/>
                    </a:ext>
                  </a:extLst>
                </a:gridCol>
                <a:gridCol w="885267">
                  <a:extLst>
                    <a:ext uri="{9D8B030D-6E8A-4147-A177-3AD203B41FA5}">
                      <a16:colId xmlns:a16="http://schemas.microsoft.com/office/drawing/2014/main" val="4250031406"/>
                    </a:ext>
                  </a:extLst>
                </a:gridCol>
              </a:tblGrid>
              <a:tr h="762646">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1" lang="ja-JP" altLang="en-US" sz="1100" b="1" i="0" u="none" strike="noStrike" kern="1200" cap="none" spc="0" normalizeH="0" baseline="0" dirty="0">
                          <a:ln>
                            <a:noFill/>
                          </a:ln>
                          <a:solidFill>
                            <a:prstClr val="black"/>
                          </a:solidFill>
                          <a:effectLst/>
                          <a:uLnTx/>
                          <a:uFillTx/>
                          <a:latin typeface="メイリオ" panose="020B0604030504040204" pitchFamily="50" charset="-128"/>
                          <a:ea typeface="メイリオ" panose="020B0604030504040204" pitchFamily="50" charset="-128"/>
                          <a:cs typeface="+mn-cs"/>
                        </a:rPr>
                        <a:t>内もも</a:t>
                      </a:r>
                    </a:p>
                  </a:txBody>
                  <a:tcPr anchor="ctr"/>
                </a:tc>
                <a:tc>
                  <a:txBody>
                    <a:bodyPr/>
                    <a:lstStyle/>
                    <a:p>
                      <a:r>
                        <a:rPr lang="ja-JP" altLang="en-US" sz="1000" b="0" dirty="0">
                          <a:solidFill>
                            <a:srgbClr val="FF0000"/>
                          </a:solidFill>
                          <a:latin typeface="メイリオ" panose="020B0604030504040204" pitchFamily="50" charset="-128"/>
                          <a:ea typeface="メイリオ" panose="020B0604030504040204" pitchFamily="50" charset="-128"/>
                        </a:rPr>
                        <a:t>内転筋群</a:t>
                      </a:r>
                      <a:endParaRPr lang="en-US" altLang="ja-JP" sz="1000" b="0" dirty="0">
                        <a:solidFill>
                          <a:srgbClr val="FF0000"/>
                        </a:solidFill>
                        <a:latin typeface="メイリオ" panose="020B0604030504040204" pitchFamily="50" charset="-128"/>
                        <a:ea typeface="メイリオ" panose="020B0604030504040204" pitchFamily="50" charset="-128"/>
                      </a:endParaRPr>
                    </a:p>
                    <a:p>
                      <a:r>
                        <a:rPr lang="zh-TW" altLang="en-US" sz="1000" b="0" dirty="0">
                          <a:solidFill>
                            <a:srgbClr val="FF0000"/>
                          </a:solidFill>
                          <a:latin typeface="メイリオ" panose="020B0604030504040204" pitchFamily="50" charset="-128"/>
                          <a:ea typeface="メイリオ" panose="020B0604030504040204" pitchFamily="50" charset="-128"/>
                        </a:rPr>
                        <a:t>恥骨筋</a:t>
                      </a:r>
                      <a:endParaRPr lang="en-US" altLang="zh-TW" sz="1000" b="0" dirty="0">
                        <a:solidFill>
                          <a:srgbClr val="FF0000"/>
                        </a:solidFill>
                        <a:latin typeface="メイリオ" panose="020B0604030504040204" pitchFamily="50" charset="-128"/>
                        <a:ea typeface="メイリオ" panose="020B0604030504040204" pitchFamily="50" charset="-128"/>
                      </a:endParaRPr>
                    </a:p>
                    <a:p>
                      <a:r>
                        <a:rPr lang="ja-JP" altLang="en-US" sz="1000" b="0" dirty="0">
                          <a:solidFill>
                            <a:srgbClr val="FF0000"/>
                          </a:solidFill>
                          <a:latin typeface="メイリオ" panose="020B0604030504040204" pitchFamily="50" charset="-128"/>
                          <a:ea typeface="メイリオ" panose="020B0604030504040204" pitchFamily="50" charset="-128"/>
                        </a:rPr>
                        <a:t>薄筋</a:t>
                      </a:r>
                      <a:endParaRPr lang="en-US" altLang="ja-JP" sz="1000" b="0" dirty="0">
                        <a:solidFill>
                          <a:srgbClr val="FF0000"/>
                        </a:solidFill>
                        <a:latin typeface="メイリオ" panose="020B0604030504040204" pitchFamily="50" charset="-128"/>
                        <a:ea typeface="メイリオ" panose="020B0604030504040204" pitchFamily="50" charset="-128"/>
                      </a:endParaRPr>
                    </a:p>
                    <a:p>
                      <a:r>
                        <a:rPr lang="ja-JP" altLang="en-US" sz="1000" b="0" dirty="0">
                          <a:solidFill>
                            <a:srgbClr val="FF0000"/>
                          </a:solidFill>
                          <a:latin typeface="メイリオ" panose="020B0604030504040204" pitchFamily="50" charset="-128"/>
                          <a:ea typeface="メイリオ" panose="020B0604030504040204" pitchFamily="50" charset="-128"/>
                        </a:rPr>
                        <a:t>縫工筋</a:t>
                      </a:r>
                    </a:p>
                  </a:txBody>
                  <a:tcPr anchor="ctr"/>
                </a:tc>
                <a:extLst>
                  <a:ext uri="{0D108BD9-81ED-4DB2-BD59-A6C34878D82A}">
                    <a16:rowId xmlns:a16="http://schemas.microsoft.com/office/drawing/2014/main" val="4066695419"/>
                  </a:ext>
                </a:extLst>
              </a:tr>
            </a:tbl>
          </a:graphicData>
        </a:graphic>
      </p:graphicFrame>
      <p:sp>
        <p:nvSpPr>
          <p:cNvPr id="107" name="テキスト ボックス 106">
            <a:extLst>
              <a:ext uri="{FF2B5EF4-FFF2-40B4-BE49-F238E27FC236}">
                <a16:creationId xmlns:a16="http://schemas.microsoft.com/office/drawing/2014/main" id="{7FB3262C-BD70-4E0E-9AB1-634F1282A07A}"/>
              </a:ext>
            </a:extLst>
          </p:cNvPr>
          <p:cNvSpPr txBox="1"/>
          <p:nvPr/>
        </p:nvSpPr>
        <p:spPr>
          <a:xfrm>
            <a:off x="932110" y="5568305"/>
            <a:ext cx="2200535" cy="253916"/>
          </a:xfrm>
          <a:prstGeom prst="rect">
            <a:avLst/>
          </a:prstGeom>
          <a:noFill/>
        </p:spPr>
        <p:txBody>
          <a:bodyPr wrap="square">
            <a:spAutoFit/>
          </a:bodyPr>
          <a:lstStyle/>
          <a:p>
            <a:r>
              <a:rPr lang="ja-JP" altLang="en-US" sz="1050" b="1" dirty="0">
                <a:latin typeface="メイリオ" panose="020B0604030504040204" pitchFamily="50" charset="-128"/>
                <a:ea typeface="メイリオ" panose="020B0604030504040204" pitchFamily="50" charset="-128"/>
              </a:rPr>
              <a:t>機能：股関節内転、立位の安定</a:t>
            </a:r>
          </a:p>
        </p:txBody>
      </p:sp>
      <p:sp>
        <p:nvSpPr>
          <p:cNvPr id="108" name="テキスト ボックス 107">
            <a:extLst>
              <a:ext uri="{FF2B5EF4-FFF2-40B4-BE49-F238E27FC236}">
                <a16:creationId xmlns:a16="http://schemas.microsoft.com/office/drawing/2014/main" id="{0AAD8A2C-082C-49F7-B5C2-E25302CF75DB}"/>
              </a:ext>
            </a:extLst>
          </p:cNvPr>
          <p:cNvSpPr txBox="1"/>
          <p:nvPr/>
        </p:nvSpPr>
        <p:spPr>
          <a:xfrm>
            <a:off x="950251" y="5746688"/>
            <a:ext cx="1194799" cy="246221"/>
          </a:xfrm>
          <a:prstGeom prst="rect">
            <a:avLst/>
          </a:prstGeom>
          <a:noFill/>
        </p:spPr>
        <p:txBody>
          <a:bodyPr wrap="square">
            <a:spAutoFit/>
          </a:bodyPr>
          <a:lstStyle/>
          <a:p>
            <a:r>
              <a:rPr lang="ja-JP" altLang="en-US" sz="1000" dirty="0">
                <a:latin typeface="メイリオ" panose="020B0604030504040204" pitchFamily="50" charset="-128"/>
                <a:ea typeface="メイリオ" panose="020B0604030504040204" pitchFamily="50" charset="-128"/>
              </a:rPr>
              <a:t>〇転倒リスク</a:t>
            </a:r>
          </a:p>
        </p:txBody>
      </p:sp>
      <p:sp>
        <p:nvSpPr>
          <p:cNvPr id="109" name="テキスト ボックス 108">
            <a:extLst>
              <a:ext uri="{FF2B5EF4-FFF2-40B4-BE49-F238E27FC236}">
                <a16:creationId xmlns:a16="http://schemas.microsoft.com/office/drawing/2014/main" id="{6E185B3A-C7D2-48A1-93E9-BD628765C53C}"/>
              </a:ext>
            </a:extLst>
          </p:cNvPr>
          <p:cNvSpPr txBox="1"/>
          <p:nvPr/>
        </p:nvSpPr>
        <p:spPr>
          <a:xfrm>
            <a:off x="1941394" y="5740936"/>
            <a:ext cx="1317553" cy="246221"/>
          </a:xfrm>
          <a:prstGeom prst="rect">
            <a:avLst/>
          </a:prstGeom>
          <a:noFill/>
        </p:spPr>
        <p:txBody>
          <a:bodyPr wrap="square">
            <a:spAutoFit/>
          </a:bodyPr>
          <a:lstStyle/>
          <a:p>
            <a:r>
              <a:rPr lang="ja-JP" altLang="en-US" sz="1000" dirty="0">
                <a:latin typeface="メイリオ" panose="020B0604030504040204" pitchFamily="50" charset="-128"/>
                <a:ea typeface="メイリオ" panose="020B0604030504040204" pitchFamily="50" charset="-128"/>
              </a:rPr>
              <a:t>〇膝</a:t>
            </a:r>
            <a:r>
              <a:rPr lang="en-US" altLang="ja-JP" sz="1000" dirty="0">
                <a:latin typeface="メイリオ" panose="020B0604030504040204" pitchFamily="50" charset="-128"/>
                <a:ea typeface="メイリオ" panose="020B0604030504040204" pitchFamily="50" charset="-128"/>
              </a:rPr>
              <a:t>OA</a:t>
            </a:r>
            <a:r>
              <a:rPr lang="ja-JP" altLang="en-US" sz="1000" dirty="0">
                <a:latin typeface="メイリオ" panose="020B0604030504040204" pitchFamily="50" charset="-128"/>
                <a:ea typeface="メイリオ" panose="020B0604030504040204" pitchFamily="50" charset="-128"/>
              </a:rPr>
              <a:t>リスク</a:t>
            </a:r>
          </a:p>
        </p:txBody>
      </p:sp>
      <p:graphicFrame>
        <p:nvGraphicFramePr>
          <p:cNvPr id="110" name="表 109">
            <a:extLst>
              <a:ext uri="{FF2B5EF4-FFF2-40B4-BE49-F238E27FC236}">
                <a16:creationId xmlns:a16="http://schemas.microsoft.com/office/drawing/2014/main" id="{24DF609B-8737-41DD-AC8D-FBB6629F904D}"/>
              </a:ext>
            </a:extLst>
          </p:cNvPr>
          <p:cNvGraphicFramePr>
            <a:graphicFrameLocks noGrp="1"/>
          </p:cNvGraphicFramePr>
          <p:nvPr>
            <p:extLst>
              <p:ext uri="{D42A27DB-BD31-4B8C-83A1-F6EECF244321}">
                <p14:modId xmlns:p14="http://schemas.microsoft.com/office/powerpoint/2010/main" val="3410317527"/>
              </p:ext>
            </p:extLst>
          </p:nvPr>
        </p:nvGraphicFramePr>
        <p:xfrm>
          <a:off x="1035929" y="6142982"/>
          <a:ext cx="1230352" cy="637833"/>
        </p:xfrm>
        <a:graphic>
          <a:graphicData uri="http://schemas.openxmlformats.org/drawingml/2006/table">
            <a:tbl>
              <a:tblPr firstRow="1" bandRow="1">
                <a:tableStyleId>{8799B23B-EC83-4686-B30A-512413B5E67A}</a:tableStyleId>
              </a:tblPr>
              <a:tblGrid>
                <a:gridCol w="269374">
                  <a:extLst>
                    <a:ext uri="{9D8B030D-6E8A-4147-A177-3AD203B41FA5}">
                      <a16:colId xmlns:a16="http://schemas.microsoft.com/office/drawing/2014/main" val="4009949933"/>
                    </a:ext>
                  </a:extLst>
                </a:gridCol>
                <a:gridCol w="960978">
                  <a:extLst>
                    <a:ext uri="{9D8B030D-6E8A-4147-A177-3AD203B41FA5}">
                      <a16:colId xmlns:a16="http://schemas.microsoft.com/office/drawing/2014/main" val="194728516"/>
                    </a:ext>
                  </a:extLst>
                </a:gridCol>
              </a:tblGrid>
              <a:tr h="637833">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1" lang="ja-JP" altLang="en-US" sz="1100" b="1" i="0" u="none" strike="noStrike" kern="1200" cap="none" spc="0" normalizeH="0" baseline="0" dirty="0">
                          <a:ln>
                            <a:noFill/>
                          </a:ln>
                          <a:solidFill>
                            <a:prstClr val="black"/>
                          </a:solidFill>
                          <a:effectLst/>
                          <a:uLnTx/>
                          <a:uFillTx/>
                          <a:latin typeface="メイリオ" panose="020B0604030504040204" pitchFamily="50" charset="-128"/>
                          <a:ea typeface="メイリオ" panose="020B0604030504040204" pitchFamily="50" charset="-128"/>
                          <a:cs typeface="+mn-cs"/>
                        </a:rPr>
                        <a:t>もも前</a:t>
                      </a:r>
                      <a:endParaRPr kumimoji="1" lang="en-US" altLang="ja-JP" sz="1100" b="1" i="0" u="none" strike="noStrike" kern="1200" cap="none" spc="0" normalizeH="0" baseline="0" dirty="0">
                        <a:ln>
                          <a:noFill/>
                        </a:ln>
                        <a:solidFill>
                          <a:prstClr val="black"/>
                        </a:solidFill>
                        <a:effectLst/>
                        <a:uLnTx/>
                        <a:uFillTx/>
                        <a:latin typeface="メイリオ" panose="020B0604030504040204" pitchFamily="50" charset="-128"/>
                        <a:ea typeface="メイリオ" panose="020B0604030504040204" pitchFamily="50" charset="-128"/>
                        <a:cs typeface="+mn-cs"/>
                      </a:endParaRPr>
                    </a:p>
                  </a:txBody>
                  <a:tcPr anchor="ctr"/>
                </a:tc>
                <a:tc>
                  <a:txBody>
                    <a:bodyPr/>
                    <a:lstStyle/>
                    <a:p>
                      <a:r>
                        <a:rPr lang="ja-JP" altLang="en-US" sz="1000" b="0" dirty="0">
                          <a:solidFill>
                            <a:srgbClr val="FF0000"/>
                          </a:solidFill>
                          <a:latin typeface="メイリオ" panose="020B0604030504040204" pitchFamily="50" charset="-128"/>
                          <a:ea typeface="メイリオ" panose="020B0604030504040204" pitchFamily="50" charset="-128"/>
                        </a:rPr>
                        <a:t>大腿直筋</a:t>
                      </a:r>
                      <a:endParaRPr lang="en-US" altLang="ja-JP" sz="1000" b="0" dirty="0">
                        <a:solidFill>
                          <a:srgbClr val="FF0000"/>
                        </a:solidFill>
                        <a:latin typeface="メイリオ" panose="020B0604030504040204" pitchFamily="50" charset="-128"/>
                        <a:ea typeface="メイリオ" panose="020B0604030504040204" pitchFamily="50" charset="-128"/>
                      </a:endParaRPr>
                    </a:p>
                    <a:p>
                      <a:r>
                        <a:rPr lang="ja-JP" altLang="en-US" sz="1000" b="0" dirty="0">
                          <a:solidFill>
                            <a:srgbClr val="FF0000"/>
                          </a:solidFill>
                          <a:latin typeface="メイリオ" panose="020B0604030504040204" pitchFamily="50" charset="-128"/>
                          <a:ea typeface="メイリオ" panose="020B0604030504040204" pitchFamily="50" charset="-128"/>
                        </a:rPr>
                        <a:t>外側中間広筋</a:t>
                      </a:r>
                      <a:endParaRPr lang="en-US" altLang="ja-JP" sz="1000" b="0" dirty="0">
                        <a:solidFill>
                          <a:srgbClr val="FF0000"/>
                        </a:solidFill>
                        <a:latin typeface="メイリオ" panose="020B0604030504040204" pitchFamily="50" charset="-128"/>
                        <a:ea typeface="メイリオ" panose="020B0604030504040204" pitchFamily="50" charset="-128"/>
                      </a:endParaRPr>
                    </a:p>
                    <a:p>
                      <a:r>
                        <a:rPr lang="ja-JP" altLang="en-US" sz="1000" b="0" dirty="0">
                          <a:solidFill>
                            <a:srgbClr val="FF0000"/>
                          </a:solidFill>
                          <a:latin typeface="メイリオ" panose="020B0604030504040204" pitchFamily="50" charset="-128"/>
                          <a:ea typeface="メイリオ" panose="020B0604030504040204" pitchFamily="50" charset="-128"/>
                        </a:rPr>
                        <a:t>内側広筋</a:t>
                      </a:r>
                    </a:p>
                  </a:txBody>
                  <a:tcPr anchor="ctr"/>
                </a:tc>
                <a:extLst>
                  <a:ext uri="{0D108BD9-81ED-4DB2-BD59-A6C34878D82A}">
                    <a16:rowId xmlns:a16="http://schemas.microsoft.com/office/drawing/2014/main" val="3809921758"/>
                  </a:ext>
                </a:extLst>
              </a:tr>
            </a:tbl>
          </a:graphicData>
        </a:graphic>
      </p:graphicFrame>
      <p:sp>
        <p:nvSpPr>
          <p:cNvPr id="111" name="テキスト ボックス 110">
            <a:extLst>
              <a:ext uri="{FF2B5EF4-FFF2-40B4-BE49-F238E27FC236}">
                <a16:creationId xmlns:a16="http://schemas.microsoft.com/office/drawing/2014/main" id="{30A23E7A-7035-48F7-B215-118809973DBC}"/>
              </a:ext>
            </a:extLst>
          </p:cNvPr>
          <p:cNvSpPr txBox="1"/>
          <p:nvPr/>
        </p:nvSpPr>
        <p:spPr>
          <a:xfrm>
            <a:off x="947595" y="6980690"/>
            <a:ext cx="1194799" cy="246221"/>
          </a:xfrm>
          <a:prstGeom prst="rect">
            <a:avLst/>
          </a:prstGeom>
          <a:noFill/>
        </p:spPr>
        <p:txBody>
          <a:bodyPr wrap="square">
            <a:spAutoFit/>
          </a:bodyPr>
          <a:lstStyle/>
          <a:p>
            <a:r>
              <a:rPr lang="ja-JP" altLang="en-US" sz="1000" dirty="0">
                <a:latin typeface="メイリオ" panose="020B0604030504040204" pitchFamily="50" charset="-128"/>
                <a:ea typeface="メイリオ" panose="020B0604030504040204" pitchFamily="50" charset="-128"/>
              </a:rPr>
              <a:t>〇転倒リスク</a:t>
            </a:r>
          </a:p>
        </p:txBody>
      </p:sp>
      <p:sp>
        <p:nvSpPr>
          <p:cNvPr id="112" name="テキスト ボックス 111">
            <a:extLst>
              <a:ext uri="{FF2B5EF4-FFF2-40B4-BE49-F238E27FC236}">
                <a16:creationId xmlns:a16="http://schemas.microsoft.com/office/drawing/2014/main" id="{D652395B-D693-47B7-B412-31F753449FDF}"/>
              </a:ext>
            </a:extLst>
          </p:cNvPr>
          <p:cNvSpPr txBox="1"/>
          <p:nvPr/>
        </p:nvSpPr>
        <p:spPr>
          <a:xfrm>
            <a:off x="1850167" y="6993109"/>
            <a:ext cx="1317553" cy="246221"/>
          </a:xfrm>
          <a:prstGeom prst="rect">
            <a:avLst/>
          </a:prstGeom>
          <a:noFill/>
        </p:spPr>
        <p:txBody>
          <a:bodyPr wrap="square">
            <a:spAutoFit/>
          </a:bodyPr>
          <a:lstStyle/>
          <a:p>
            <a:r>
              <a:rPr lang="ja-JP" altLang="en-US" sz="1000" dirty="0">
                <a:latin typeface="メイリオ" panose="020B0604030504040204" pitchFamily="50" charset="-128"/>
                <a:ea typeface="メイリオ" panose="020B0604030504040204" pitchFamily="50" charset="-128"/>
              </a:rPr>
              <a:t>〇膝</a:t>
            </a:r>
            <a:r>
              <a:rPr lang="en-US" altLang="ja-JP" sz="1000" dirty="0">
                <a:latin typeface="メイリオ" panose="020B0604030504040204" pitchFamily="50" charset="-128"/>
                <a:ea typeface="メイリオ" panose="020B0604030504040204" pitchFamily="50" charset="-128"/>
              </a:rPr>
              <a:t>OA</a:t>
            </a:r>
            <a:r>
              <a:rPr lang="ja-JP" altLang="en-US" sz="1000" dirty="0">
                <a:latin typeface="メイリオ" panose="020B0604030504040204" pitchFamily="50" charset="-128"/>
                <a:ea typeface="メイリオ" panose="020B0604030504040204" pitchFamily="50" charset="-128"/>
              </a:rPr>
              <a:t>リスク</a:t>
            </a:r>
          </a:p>
        </p:txBody>
      </p:sp>
      <p:sp>
        <p:nvSpPr>
          <p:cNvPr id="113" name="テキスト ボックス 112">
            <a:extLst>
              <a:ext uri="{FF2B5EF4-FFF2-40B4-BE49-F238E27FC236}">
                <a16:creationId xmlns:a16="http://schemas.microsoft.com/office/drawing/2014/main" id="{619E819E-8141-4B1C-A757-DC6B0E38F0D6}"/>
              </a:ext>
            </a:extLst>
          </p:cNvPr>
          <p:cNvSpPr txBox="1"/>
          <p:nvPr/>
        </p:nvSpPr>
        <p:spPr>
          <a:xfrm>
            <a:off x="2886339" y="6977867"/>
            <a:ext cx="1365258" cy="246221"/>
          </a:xfrm>
          <a:prstGeom prst="rect">
            <a:avLst/>
          </a:prstGeom>
          <a:noFill/>
        </p:spPr>
        <p:txBody>
          <a:bodyPr wrap="square">
            <a:spAutoFit/>
          </a:bodyPr>
          <a:lstStyle/>
          <a:p>
            <a:r>
              <a:rPr lang="ja-JP" altLang="en-US" sz="1000" dirty="0">
                <a:latin typeface="メイリオ" panose="020B0604030504040204" pitchFamily="50" charset="-128"/>
                <a:ea typeface="メイリオ" panose="020B0604030504040204" pitchFamily="50" charset="-128"/>
              </a:rPr>
              <a:t>〇大腿骨骨折リスク</a:t>
            </a:r>
          </a:p>
        </p:txBody>
      </p:sp>
      <p:sp>
        <p:nvSpPr>
          <p:cNvPr id="114" name="テキスト ボックス 113">
            <a:extLst>
              <a:ext uri="{FF2B5EF4-FFF2-40B4-BE49-F238E27FC236}">
                <a16:creationId xmlns:a16="http://schemas.microsoft.com/office/drawing/2014/main" id="{C471DFCB-A574-4860-986E-1FD1CE2F7049}"/>
              </a:ext>
            </a:extLst>
          </p:cNvPr>
          <p:cNvSpPr txBox="1"/>
          <p:nvPr/>
        </p:nvSpPr>
        <p:spPr>
          <a:xfrm>
            <a:off x="941443" y="6802125"/>
            <a:ext cx="2285199" cy="253916"/>
          </a:xfrm>
          <a:prstGeom prst="rect">
            <a:avLst/>
          </a:prstGeom>
          <a:noFill/>
        </p:spPr>
        <p:txBody>
          <a:bodyPr wrap="square">
            <a:spAutoFit/>
          </a:bodyPr>
          <a:lstStyle/>
          <a:p>
            <a:r>
              <a:rPr lang="ja-JP" altLang="en-US" sz="1050" b="1" dirty="0">
                <a:latin typeface="メイリオ" panose="020B0604030504040204" pitchFamily="50" charset="-128"/>
                <a:ea typeface="メイリオ" panose="020B0604030504040204" pitchFamily="50" charset="-128"/>
              </a:rPr>
              <a:t>機能：膝伸展、歩行、立ち上がり</a:t>
            </a:r>
            <a:endParaRPr lang="en-US" altLang="ja-JP" sz="1050" b="1" dirty="0">
              <a:latin typeface="メイリオ" panose="020B0604030504040204" pitchFamily="50" charset="-128"/>
              <a:ea typeface="メイリオ" panose="020B0604030504040204" pitchFamily="50" charset="-128"/>
            </a:endParaRPr>
          </a:p>
        </p:txBody>
      </p:sp>
      <p:graphicFrame>
        <p:nvGraphicFramePr>
          <p:cNvPr id="115" name="表 114">
            <a:extLst>
              <a:ext uri="{FF2B5EF4-FFF2-40B4-BE49-F238E27FC236}">
                <a16:creationId xmlns:a16="http://schemas.microsoft.com/office/drawing/2014/main" id="{9720B4FE-95F6-48EA-804C-5EA06AD1FB92}"/>
              </a:ext>
            </a:extLst>
          </p:cNvPr>
          <p:cNvGraphicFramePr>
            <a:graphicFrameLocks noGrp="1"/>
          </p:cNvGraphicFramePr>
          <p:nvPr>
            <p:extLst>
              <p:ext uri="{D42A27DB-BD31-4B8C-83A1-F6EECF244321}">
                <p14:modId xmlns:p14="http://schemas.microsoft.com/office/powerpoint/2010/main" val="2304205259"/>
              </p:ext>
            </p:extLst>
          </p:nvPr>
        </p:nvGraphicFramePr>
        <p:xfrm>
          <a:off x="1012400" y="7325887"/>
          <a:ext cx="1172419" cy="655338"/>
        </p:xfrm>
        <a:graphic>
          <a:graphicData uri="http://schemas.openxmlformats.org/drawingml/2006/table">
            <a:tbl>
              <a:tblPr firstRow="1" bandRow="1">
                <a:tableStyleId>{8799B23B-EC83-4686-B30A-512413B5E67A}</a:tableStyleId>
              </a:tblPr>
              <a:tblGrid>
                <a:gridCol w="316249">
                  <a:extLst>
                    <a:ext uri="{9D8B030D-6E8A-4147-A177-3AD203B41FA5}">
                      <a16:colId xmlns:a16="http://schemas.microsoft.com/office/drawing/2014/main" val="2069685764"/>
                    </a:ext>
                  </a:extLst>
                </a:gridCol>
                <a:gridCol w="856170">
                  <a:extLst>
                    <a:ext uri="{9D8B030D-6E8A-4147-A177-3AD203B41FA5}">
                      <a16:colId xmlns:a16="http://schemas.microsoft.com/office/drawing/2014/main" val="3304209401"/>
                    </a:ext>
                  </a:extLst>
                </a:gridCol>
              </a:tblGrid>
              <a:tr h="655338">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1" lang="ja-JP" altLang="en-US" sz="1100" b="1" i="0" u="none" strike="noStrike" kern="1200" cap="none" spc="0" normalizeH="0" baseline="0" dirty="0">
                          <a:ln>
                            <a:noFill/>
                          </a:ln>
                          <a:solidFill>
                            <a:prstClr val="black"/>
                          </a:solidFill>
                          <a:effectLst/>
                          <a:uLnTx/>
                          <a:uFillTx/>
                          <a:latin typeface="メイリオ" panose="020B0604030504040204" pitchFamily="50" charset="-128"/>
                          <a:ea typeface="メイリオ" panose="020B0604030504040204" pitchFamily="50" charset="-128"/>
                          <a:cs typeface="+mn-cs"/>
                        </a:rPr>
                        <a:t>すね前</a:t>
                      </a:r>
                    </a:p>
                  </a:txBody>
                  <a:tcPr anchor="ctr"/>
                </a:tc>
                <a:tc>
                  <a:txBody>
                    <a:bodyPr/>
                    <a:lstStyle/>
                    <a:p>
                      <a:r>
                        <a:rPr lang="ja-JP" altLang="en-US" sz="1000" b="0" dirty="0">
                          <a:solidFill>
                            <a:srgbClr val="FF0000"/>
                          </a:solidFill>
                          <a:latin typeface="メイリオ" panose="020B0604030504040204" pitchFamily="50" charset="-128"/>
                          <a:ea typeface="メイリオ" panose="020B0604030504040204" pitchFamily="50" charset="-128"/>
                        </a:rPr>
                        <a:t>前方区画</a:t>
                      </a:r>
                      <a:endParaRPr lang="en-US" altLang="ja-JP" sz="1000" b="0" dirty="0">
                        <a:solidFill>
                          <a:srgbClr val="FF0000"/>
                        </a:solidFill>
                        <a:latin typeface="メイリオ" panose="020B0604030504040204" pitchFamily="50" charset="-128"/>
                        <a:ea typeface="メイリオ" panose="020B0604030504040204" pitchFamily="50" charset="-128"/>
                      </a:endParaRPr>
                    </a:p>
                    <a:p>
                      <a:r>
                        <a:rPr lang="ja-JP" altLang="en-US" sz="1000" b="0" dirty="0">
                          <a:solidFill>
                            <a:srgbClr val="FF0000"/>
                          </a:solidFill>
                          <a:latin typeface="メイリオ" panose="020B0604030504040204" pitchFamily="50" charset="-128"/>
                          <a:ea typeface="メイリオ" panose="020B0604030504040204" pitchFamily="50" charset="-128"/>
                        </a:rPr>
                        <a:t>外側区画</a:t>
                      </a:r>
                      <a:endParaRPr lang="en-US" altLang="ja-JP" sz="1000" b="0" dirty="0">
                        <a:solidFill>
                          <a:srgbClr val="FF0000"/>
                        </a:solidFill>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1058651088"/>
                  </a:ext>
                </a:extLst>
              </a:tr>
            </a:tbl>
          </a:graphicData>
        </a:graphic>
      </p:graphicFrame>
      <p:sp>
        <p:nvSpPr>
          <p:cNvPr id="116" name="テキスト ボックス 115">
            <a:extLst>
              <a:ext uri="{FF2B5EF4-FFF2-40B4-BE49-F238E27FC236}">
                <a16:creationId xmlns:a16="http://schemas.microsoft.com/office/drawing/2014/main" id="{1629187F-9CB4-45A1-AE3B-0F0E6F5C02A9}"/>
              </a:ext>
            </a:extLst>
          </p:cNvPr>
          <p:cNvSpPr txBox="1"/>
          <p:nvPr/>
        </p:nvSpPr>
        <p:spPr>
          <a:xfrm>
            <a:off x="971247" y="7986116"/>
            <a:ext cx="3066838" cy="253916"/>
          </a:xfrm>
          <a:prstGeom prst="rect">
            <a:avLst/>
          </a:prstGeom>
          <a:noFill/>
        </p:spPr>
        <p:txBody>
          <a:bodyPr wrap="square">
            <a:spAutoFit/>
          </a:bodyPr>
          <a:lstStyle/>
          <a:p>
            <a:r>
              <a:rPr lang="ja-JP" altLang="en-US" sz="1050" b="1" dirty="0">
                <a:latin typeface="メイリオ" panose="020B0604030504040204" pitchFamily="50" charset="-128"/>
                <a:ea typeface="メイリオ" panose="020B0604030504040204" pitchFamily="50" charset="-128"/>
              </a:rPr>
              <a:t>機能：足関節背屈、足部安定、土踏まず保持</a:t>
            </a:r>
          </a:p>
        </p:txBody>
      </p:sp>
      <p:sp>
        <p:nvSpPr>
          <p:cNvPr id="117" name="テキスト ボックス 116">
            <a:extLst>
              <a:ext uri="{FF2B5EF4-FFF2-40B4-BE49-F238E27FC236}">
                <a16:creationId xmlns:a16="http://schemas.microsoft.com/office/drawing/2014/main" id="{5205AF04-DAC1-4B58-8777-BEC620EA0155}"/>
              </a:ext>
            </a:extLst>
          </p:cNvPr>
          <p:cNvSpPr txBox="1"/>
          <p:nvPr/>
        </p:nvSpPr>
        <p:spPr>
          <a:xfrm>
            <a:off x="933584" y="8145657"/>
            <a:ext cx="1214072" cy="276999"/>
          </a:xfrm>
          <a:prstGeom prst="rect">
            <a:avLst/>
          </a:prstGeom>
          <a:noFill/>
        </p:spPr>
        <p:txBody>
          <a:bodyPr wrap="square">
            <a:spAutoFit/>
          </a:bodyPr>
          <a:lstStyle/>
          <a:p>
            <a:r>
              <a:rPr lang="ja-JP" altLang="en-US" sz="1200" dirty="0">
                <a:latin typeface="メイリオ" panose="020B0604030504040204" pitchFamily="50" charset="-128"/>
                <a:ea typeface="メイリオ" panose="020B0604030504040204" pitchFamily="50" charset="-128"/>
              </a:rPr>
              <a:t>◎</a:t>
            </a:r>
            <a:r>
              <a:rPr lang="ja-JP" altLang="en-US" sz="1000" dirty="0">
                <a:latin typeface="メイリオ" panose="020B0604030504040204" pitchFamily="50" charset="-128"/>
                <a:ea typeface="メイリオ" panose="020B0604030504040204" pitchFamily="50" charset="-128"/>
              </a:rPr>
              <a:t>転倒リスク</a:t>
            </a:r>
          </a:p>
        </p:txBody>
      </p:sp>
      <p:graphicFrame>
        <p:nvGraphicFramePr>
          <p:cNvPr id="118" name="表 117">
            <a:extLst>
              <a:ext uri="{FF2B5EF4-FFF2-40B4-BE49-F238E27FC236}">
                <a16:creationId xmlns:a16="http://schemas.microsoft.com/office/drawing/2014/main" id="{541717D3-75A1-4460-8A1C-54B03E7BF39A}"/>
              </a:ext>
            </a:extLst>
          </p:cNvPr>
          <p:cNvGraphicFramePr>
            <a:graphicFrameLocks noGrp="1"/>
          </p:cNvGraphicFramePr>
          <p:nvPr>
            <p:extLst>
              <p:ext uri="{D42A27DB-BD31-4B8C-83A1-F6EECF244321}">
                <p14:modId xmlns:p14="http://schemas.microsoft.com/office/powerpoint/2010/main" val="2155267957"/>
              </p:ext>
            </p:extLst>
          </p:nvPr>
        </p:nvGraphicFramePr>
        <p:xfrm>
          <a:off x="8669372" y="2863566"/>
          <a:ext cx="1305869" cy="1463040"/>
        </p:xfrm>
        <a:graphic>
          <a:graphicData uri="http://schemas.openxmlformats.org/drawingml/2006/table">
            <a:tbl>
              <a:tblPr firstRow="1" bandRow="1">
                <a:tableStyleId>{8799B23B-EC83-4686-B30A-512413B5E67A}</a:tableStyleId>
              </a:tblPr>
              <a:tblGrid>
                <a:gridCol w="315297">
                  <a:extLst>
                    <a:ext uri="{9D8B030D-6E8A-4147-A177-3AD203B41FA5}">
                      <a16:colId xmlns:a16="http://schemas.microsoft.com/office/drawing/2014/main" val="258627500"/>
                    </a:ext>
                  </a:extLst>
                </a:gridCol>
                <a:gridCol w="990572">
                  <a:extLst>
                    <a:ext uri="{9D8B030D-6E8A-4147-A177-3AD203B41FA5}">
                      <a16:colId xmlns:a16="http://schemas.microsoft.com/office/drawing/2014/main" val="2293094048"/>
                    </a:ext>
                  </a:extLst>
                </a:gridCol>
              </a:tblGrid>
              <a:tr h="1380913">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1" lang="ja-JP" altLang="en-US" sz="1100" b="1" i="0" u="none" strike="noStrike" kern="1200" cap="none" spc="0" normalizeH="0" baseline="0" dirty="0">
                          <a:ln>
                            <a:noFill/>
                          </a:ln>
                          <a:solidFill>
                            <a:prstClr val="black"/>
                          </a:solidFill>
                          <a:effectLst/>
                          <a:uLnTx/>
                          <a:uFillTx/>
                          <a:latin typeface="メイリオ" panose="020B0604030504040204" pitchFamily="50" charset="-128"/>
                          <a:ea typeface="メイリオ" panose="020B0604030504040204" pitchFamily="50" charset="-128"/>
                          <a:cs typeface="+mn-cs"/>
                        </a:rPr>
                        <a:t>背中・肩</a:t>
                      </a:r>
                    </a:p>
                  </a:txBody>
                  <a:tcPr anchor="ctr"/>
                </a:tc>
                <a:tc>
                  <a:txBody>
                    <a:bodyPr/>
                    <a:lstStyle/>
                    <a:p>
                      <a:r>
                        <a:rPr lang="ja-JP" altLang="en-US" sz="1000" b="0" dirty="0">
                          <a:solidFill>
                            <a:srgbClr val="FF0000"/>
                          </a:solidFill>
                          <a:latin typeface="メイリオ" panose="020B0604030504040204" pitchFamily="50" charset="-128"/>
                          <a:ea typeface="メイリオ" panose="020B0604030504040204" pitchFamily="50" charset="-128"/>
                        </a:rPr>
                        <a:t>脊柱起立筋</a:t>
                      </a:r>
                      <a:endParaRPr lang="en-US" altLang="ja-JP" sz="1000" b="0" dirty="0">
                        <a:solidFill>
                          <a:srgbClr val="FF0000"/>
                        </a:solidFill>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00" b="0" dirty="0">
                          <a:solidFill>
                            <a:srgbClr val="FF0000"/>
                          </a:solidFill>
                          <a:latin typeface="メイリオ" panose="020B0604030504040204" pitchFamily="50" charset="-128"/>
                          <a:ea typeface="メイリオ" panose="020B0604030504040204" pitchFamily="50" charset="-128"/>
                        </a:rPr>
                        <a:t>広背筋</a:t>
                      </a:r>
                      <a:endParaRPr lang="en-US" altLang="ja-JP" sz="1000" b="0" dirty="0">
                        <a:solidFill>
                          <a:srgbClr val="FF0000"/>
                        </a:solidFill>
                        <a:latin typeface="メイリオ" panose="020B0604030504040204" pitchFamily="50" charset="-128"/>
                        <a:ea typeface="メイリオ" panose="020B0604030504040204" pitchFamily="50" charset="-128"/>
                      </a:endParaRPr>
                    </a:p>
                    <a:p>
                      <a:r>
                        <a:rPr lang="ja-JP" altLang="en-US" sz="1000" b="0" dirty="0">
                          <a:latin typeface="メイリオ" panose="020B0604030504040204" pitchFamily="50" charset="-128"/>
                          <a:ea typeface="メイリオ" panose="020B0604030504040204" pitchFamily="50" charset="-128"/>
                        </a:rPr>
                        <a:t>僧帽筋</a:t>
                      </a:r>
                      <a:endParaRPr lang="en-US" altLang="ja-JP" sz="1000" b="0" dirty="0">
                        <a:latin typeface="メイリオ" panose="020B0604030504040204" pitchFamily="50" charset="-128"/>
                        <a:ea typeface="メイリオ" panose="020B0604030504040204" pitchFamily="50" charset="-128"/>
                      </a:endParaRPr>
                    </a:p>
                    <a:p>
                      <a:r>
                        <a:rPr lang="ja-JP" altLang="en-US" sz="1000" b="0" dirty="0">
                          <a:latin typeface="メイリオ" panose="020B0604030504040204" pitchFamily="50" charset="-128"/>
                          <a:ea typeface="メイリオ" panose="020B0604030504040204" pitchFamily="50" charset="-128"/>
                        </a:rPr>
                        <a:t>棘上筋</a:t>
                      </a:r>
                      <a:endParaRPr lang="en-US" altLang="ja-JP" sz="1000" b="0" dirty="0">
                        <a:latin typeface="メイリオ" panose="020B0604030504040204" pitchFamily="50" charset="-128"/>
                        <a:ea typeface="メイリオ" panose="020B0604030504040204" pitchFamily="50" charset="-128"/>
                      </a:endParaRPr>
                    </a:p>
                    <a:p>
                      <a:r>
                        <a:rPr lang="ja-JP" altLang="en-US" sz="1000" b="0" dirty="0">
                          <a:latin typeface="メイリオ" panose="020B0604030504040204" pitchFamily="50" charset="-128"/>
                          <a:ea typeface="メイリオ" panose="020B0604030504040204" pitchFamily="50" charset="-128"/>
                        </a:rPr>
                        <a:t>棘下筋</a:t>
                      </a:r>
                      <a:endParaRPr lang="en-US" altLang="ja-JP" sz="1000" b="0" dirty="0">
                        <a:latin typeface="メイリオ" panose="020B0604030504040204" pitchFamily="50" charset="-128"/>
                        <a:ea typeface="メイリオ" panose="020B0604030504040204" pitchFamily="50" charset="-128"/>
                      </a:endParaRPr>
                    </a:p>
                    <a:p>
                      <a:r>
                        <a:rPr lang="ja-JP" altLang="en-US" sz="1000" b="0" dirty="0">
                          <a:latin typeface="メイリオ" panose="020B0604030504040204" pitchFamily="50" charset="-128"/>
                          <a:ea typeface="メイリオ" panose="020B0604030504040204" pitchFamily="50" charset="-128"/>
                        </a:rPr>
                        <a:t>前鋸筋</a:t>
                      </a:r>
                      <a:endParaRPr lang="en-US" altLang="ja-JP" sz="1000" b="0" dirty="0">
                        <a:latin typeface="メイリオ" panose="020B0604030504040204" pitchFamily="50" charset="-128"/>
                        <a:ea typeface="メイリオ" panose="020B0604030504040204" pitchFamily="50" charset="-128"/>
                      </a:endParaRPr>
                    </a:p>
                    <a:p>
                      <a:r>
                        <a:rPr lang="ja-JP" altLang="en-US" sz="1000" b="0" dirty="0">
                          <a:latin typeface="メイリオ" panose="020B0604030504040204" pitchFamily="50" charset="-128"/>
                          <a:ea typeface="メイリオ" panose="020B0604030504040204" pitchFamily="50" charset="-128"/>
                        </a:rPr>
                        <a:t>肩甲下筋</a:t>
                      </a:r>
                      <a:endParaRPr lang="en-US" altLang="ja-JP" sz="1000" b="0" dirty="0">
                        <a:latin typeface="メイリオ" panose="020B0604030504040204" pitchFamily="50" charset="-128"/>
                        <a:ea typeface="メイリオ" panose="020B0604030504040204" pitchFamily="50" charset="-128"/>
                      </a:endParaRPr>
                    </a:p>
                    <a:p>
                      <a:r>
                        <a:rPr lang="ja-JP" altLang="en-US" sz="1000" b="0" dirty="0">
                          <a:latin typeface="メイリオ" panose="020B0604030504040204" pitchFamily="50" charset="-128"/>
                          <a:ea typeface="メイリオ" panose="020B0604030504040204" pitchFamily="50" charset="-128"/>
                        </a:rPr>
                        <a:t>大円筋</a:t>
                      </a:r>
                      <a:endParaRPr lang="en-US" altLang="ja-JP" sz="1000" b="0" dirty="0">
                        <a:latin typeface="メイリオ" panose="020B0604030504040204" pitchFamily="50" charset="-128"/>
                        <a:ea typeface="メイリオ" panose="020B0604030504040204" pitchFamily="50" charset="-128"/>
                      </a:endParaRPr>
                    </a:p>
                    <a:p>
                      <a:r>
                        <a:rPr lang="ja-JP" altLang="en-US" sz="1000" b="0" dirty="0">
                          <a:latin typeface="メイリオ" panose="020B0604030504040204" pitchFamily="50" charset="-128"/>
                          <a:ea typeface="メイリオ" panose="020B0604030504040204" pitchFamily="50" charset="-128"/>
                        </a:rPr>
                        <a:t>小円筋</a:t>
                      </a:r>
                      <a:endParaRPr lang="en-US" altLang="ja-JP" sz="1000" b="0" dirty="0">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1882783772"/>
                  </a:ext>
                </a:extLst>
              </a:tr>
            </a:tbl>
          </a:graphicData>
        </a:graphic>
      </p:graphicFrame>
      <p:sp>
        <p:nvSpPr>
          <p:cNvPr id="119" name="テキスト ボックス 118">
            <a:extLst>
              <a:ext uri="{FF2B5EF4-FFF2-40B4-BE49-F238E27FC236}">
                <a16:creationId xmlns:a16="http://schemas.microsoft.com/office/drawing/2014/main" id="{55CD6E55-14BD-436D-A1A2-AD6828DFBC14}"/>
              </a:ext>
            </a:extLst>
          </p:cNvPr>
          <p:cNvSpPr txBox="1"/>
          <p:nvPr/>
        </p:nvSpPr>
        <p:spPr>
          <a:xfrm>
            <a:off x="8630074" y="4347222"/>
            <a:ext cx="3004982" cy="253916"/>
          </a:xfrm>
          <a:prstGeom prst="rect">
            <a:avLst/>
          </a:prstGeom>
          <a:noFill/>
        </p:spPr>
        <p:txBody>
          <a:bodyPr wrap="square">
            <a:spAutoFit/>
          </a:bodyPr>
          <a:lstStyle/>
          <a:p>
            <a:r>
              <a:rPr lang="ja-JP" altLang="en-US" sz="1050" b="1" dirty="0">
                <a:latin typeface="メイリオ" panose="020B0604030504040204" pitchFamily="50" charset="-128"/>
                <a:ea typeface="メイリオ" panose="020B0604030504040204" pitchFamily="50" charset="-128"/>
              </a:rPr>
              <a:t>機能：姿勢保持、肩・腕の運動、肩関節安定</a:t>
            </a:r>
          </a:p>
        </p:txBody>
      </p:sp>
      <p:sp>
        <p:nvSpPr>
          <p:cNvPr id="120" name="テキスト ボックス 119">
            <a:extLst>
              <a:ext uri="{FF2B5EF4-FFF2-40B4-BE49-F238E27FC236}">
                <a16:creationId xmlns:a16="http://schemas.microsoft.com/office/drawing/2014/main" id="{D70632B0-5D9D-4F62-8DD7-E4B9081DDD10}"/>
              </a:ext>
            </a:extLst>
          </p:cNvPr>
          <p:cNvSpPr txBox="1"/>
          <p:nvPr/>
        </p:nvSpPr>
        <p:spPr>
          <a:xfrm>
            <a:off x="8622625" y="4504325"/>
            <a:ext cx="1194799" cy="246221"/>
          </a:xfrm>
          <a:prstGeom prst="rect">
            <a:avLst/>
          </a:prstGeom>
          <a:noFill/>
        </p:spPr>
        <p:txBody>
          <a:bodyPr wrap="square">
            <a:spAutoFit/>
          </a:bodyPr>
          <a:lstStyle/>
          <a:p>
            <a:r>
              <a:rPr lang="ja-JP" altLang="en-US" sz="1000" dirty="0">
                <a:latin typeface="メイリオ" panose="020B0604030504040204" pitchFamily="50" charset="-128"/>
                <a:ea typeface="メイリオ" panose="020B0604030504040204" pitchFamily="50" charset="-128"/>
              </a:rPr>
              <a:t>〇転倒リスク</a:t>
            </a:r>
          </a:p>
        </p:txBody>
      </p:sp>
      <p:sp>
        <p:nvSpPr>
          <p:cNvPr id="123" name="テキスト ボックス 122">
            <a:extLst>
              <a:ext uri="{FF2B5EF4-FFF2-40B4-BE49-F238E27FC236}">
                <a16:creationId xmlns:a16="http://schemas.microsoft.com/office/drawing/2014/main" id="{C3131E5D-D300-4C7F-A8F5-FD17ED166BCF}"/>
              </a:ext>
            </a:extLst>
          </p:cNvPr>
          <p:cNvSpPr txBox="1"/>
          <p:nvPr/>
        </p:nvSpPr>
        <p:spPr>
          <a:xfrm>
            <a:off x="8617472" y="5540927"/>
            <a:ext cx="2750900" cy="253916"/>
          </a:xfrm>
          <a:prstGeom prst="rect">
            <a:avLst/>
          </a:prstGeom>
          <a:noFill/>
        </p:spPr>
        <p:txBody>
          <a:bodyPr wrap="square">
            <a:spAutoFit/>
          </a:bodyPr>
          <a:lstStyle/>
          <a:p>
            <a:r>
              <a:rPr lang="ja-JP" altLang="en-US" sz="1050" b="1" dirty="0">
                <a:latin typeface="メイリオ" panose="020B0604030504040204" pitchFamily="50" charset="-128"/>
                <a:ea typeface="メイリオ" panose="020B0604030504040204" pitchFamily="50" charset="-128"/>
              </a:rPr>
              <a:t>機能：股関節伸展・外転、片脚立ちの安定</a:t>
            </a:r>
          </a:p>
        </p:txBody>
      </p:sp>
      <p:sp>
        <p:nvSpPr>
          <p:cNvPr id="124" name="テキスト ボックス 123">
            <a:extLst>
              <a:ext uri="{FF2B5EF4-FFF2-40B4-BE49-F238E27FC236}">
                <a16:creationId xmlns:a16="http://schemas.microsoft.com/office/drawing/2014/main" id="{2652295C-4350-4B47-B1DE-04E46665ECC0}"/>
              </a:ext>
            </a:extLst>
          </p:cNvPr>
          <p:cNvSpPr txBox="1"/>
          <p:nvPr/>
        </p:nvSpPr>
        <p:spPr>
          <a:xfrm>
            <a:off x="8625222" y="5727089"/>
            <a:ext cx="1194799" cy="246221"/>
          </a:xfrm>
          <a:prstGeom prst="rect">
            <a:avLst/>
          </a:prstGeom>
          <a:noFill/>
        </p:spPr>
        <p:txBody>
          <a:bodyPr wrap="square">
            <a:spAutoFit/>
          </a:bodyPr>
          <a:lstStyle/>
          <a:p>
            <a:r>
              <a:rPr lang="ja-JP" altLang="en-US" sz="1000" dirty="0">
                <a:latin typeface="メイリオ" panose="020B0604030504040204" pitchFamily="50" charset="-128"/>
                <a:ea typeface="メイリオ" panose="020B0604030504040204" pitchFamily="50" charset="-128"/>
              </a:rPr>
              <a:t>〇転倒リスク</a:t>
            </a:r>
          </a:p>
        </p:txBody>
      </p:sp>
      <p:sp>
        <p:nvSpPr>
          <p:cNvPr id="125" name="テキスト ボックス 124">
            <a:extLst>
              <a:ext uri="{FF2B5EF4-FFF2-40B4-BE49-F238E27FC236}">
                <a16:creationId xmlns:a16="http://schemas.microsoft.com/office/drawing/2014/main" id="{ABD3DD20-D61E-4DF2-8C81-2B028DD8FCEB}"/>
              </a:ext>
            </a:extLst>
          </p:cNvPr>
          <p:cNvSpPr txBox="1"/>
          <p:nvPr/>
        </p:nvSpPr>
        <p:spPr>
          <a:xfrm>
            <a:off x="9484589" y="5722682"/>
            <a:ext cx="1016665" cy="253916"/>
          </a:xfrm>
          <a:prstGeom prst="rect">
            <a:avLst/>
          </a:prstGeom>
          <a:noFill/>
        </p:spPr>
        <p:txBody>
          <a:bodyPr wrap="square">
            <a:spAutoFit/>
          </a:bodyPr>
          <a:lstStyle/>
          <a:p>
            <a:r>
              <a:rPr lang="ja-JP" altLang="en-US" sz="1000" dirty="0">
                <a:latin typeface="メイリオ" panose="020B0604030504040204" pitchFamily="50" charset="-128"/>
                <a:ea typeface="メイリオ" panose="020B0604030504040204" pitchFamily="50" charset="-128"/>
              </a:rPr>
              <a:t>〇膝</a:t>
            </a:r>
            <a:r>
              <a:rPr lang="en-US" altLang="ja-JP" sz="1000" dirty="0">
                <a:latin typeface="メイリオ" panose="020B0604030504040204" pitchFamily="50" charset="-128"/>
                <a:ea typeface="メイリオ" panose="020B0604030504040204" pitchFamily="50" charset="-128"/>
              </a:rPr>
              <a:t>OA</a:t>
            </a:r>
            <a:r>
              <a:rPr lang="ja-JP" altLang="en-US" sz="1000" dirty="0">
                <a:latin typeface="メイリオ" panose="020B0604030504040204" pitchFamily="50" charset="-128"/>
                <a:ea typeface="メイリオ" panose="020B0604030504040204" pitchFamily="50" charset="-128"/>
              </a:rPr>
              <a:t>リスク</a:t>
            </a:r>
          </a:p>
        </p:txBody>
      </p:sp>
      <p:sp>
        <p:nvSpPr>
          <p:cNvPr id="127" name="テキスト ボックス 126">
            <a:extLst>
              <a:ext uri="{FF2B5EF4-FFF2-40B4-BE49-F238E27FC236}">
                <a16:creationId xmlns:a16="http://schemas.microsoft.com/office/drawing/2014/main" id="{AEE0A6EF-B964-4841-817C-78F1185577FC}"/>
              </a:ext>
            </a:extLst>
          </p:cNvPr>
          <p:cNvSpPr txBox="1"/>
          <p:nvPr/>
        </p:nvSpPr>
        <p:spPr>
          <a:xfrm>
            <a:off x="8610750" y="6837610"/>
            <a:ext cx="2817349" cy="253916"/>
          </a:xfrm>
          <a:prstGeom prst="rect">
            <a:avLst/>
          </a:prstGeom>
          <a:noFill/>
        </p:spPr>
        <p:txBody>
          <a:bodyPr wrap="square">
            <a:spAutoFit/>
          </a:bodyPr>
          <a:lstStyle/>
          <a:p>
            <a:r>
              <a:rPr lang="ja-JP" altLang="en-US" sz="1050" b="1" dirty="0">
                <a:latin typeface="メイリオ" panose="020B0604030504040204" pitchFamily="50" charset="-128"/>
                <a:ea typeface="メイリオ" panose="020B0604030504040204" pitchFamily="50" charset="-128"/>
              </a:rPr>
              <a:t>機能：股関節伸展・外転、片脚立ちの安定</a:t>
            </a:r>
          </a:p>
        </p:txBody>
      </p:sp>
      <p:graphicFrame>
        <p:nvGraphicFramePr>
          <p:cNvPr id="128" name="表 127">
            <a:extLst>
              <a:ext uri="{FF2B5EF4-FFF2-40B4-BE49-F238E27FC236}">
                <a16:creationId xmlns:a16="http://schemas.microsoft.com/office/drawing/2014/main" id="{5F50E49A-3B13-4BD7-8A1D-A8CF925E913F}"/>
              </a:ext>
            </a:extLst>
          </p:cNvPr>
          <p:cNvGraphicFramePr>
            <a:graphicFrameLocks noGrp="1"/>
          </p:cNvGraphicFramePr>
          <p:nvPr>
            <p:extLst>
              <p:ext uri="{D42A27DB-BD31-4B8C-83A1-F6EECF244321}">
                <p14:modId xmlns:p14="http://schemas.microsoft.com/office/powerpoint/2010/main" val="473421947"/>
              </p:ext>
            </p:extLst>
          </p:nvPr>
        </p:nvGraphicFramePr>
        <p:xfrm>
          <a:off x="8713040" y="6106929"/>
          <a:ext cx="1231941" cy="704116"/>
        </p:xfrm>
        <a:graphic>
          <a:graphicData uri="http://schemas.openxmlformats.org/drawingml/2006/table">
            <a:tbl>
              <a:tblPr firstRow="1" bandRow="1">
                <a:tableStyleId>{8799B23B-EC83-4686-B30A-512413B5E67A}</a:tableStyleId>
              </a:tblPr>
              <a:tblGrid>
                <a:gridCol w="290478">
                  <a:extLst>
                    <a:ext uri="{9D8B030D-6E8A-4147-A177-3AD203B41FA5}">
                      <a16:colId xmlns:a16="http://schemas.microsoft.com/office/drawing/2014/main" val="1039484250"/>
                    </a:ext>
                  </a:extLst>
                </a:gridCol>
                <a:gridCol w="941463">
                  <a:extLst>
                    <a:ext uri="{9D8B030D-6E8A-4147-A177-3AD203B41FA5}">
                      <a16:colId xmlns:a16="http://schemas.microsoft.com/office/drawing/2014/main" val="2116401510"/>
                    </a:ext>
                  </a:extLst>
                </a:gridCol>
              </a:tblGrid>
              <a:tr h="704116">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1" lang="ja-JP" altLang="en-US" sz="1100" b="1" i="0" u="none" strike="noStrike" kern="1200" cap="none" spc="0" normalizeH="0" baseline="0" dirty="0">
                          <a:ln>
                            <a:noFill/>
                          </a:ln>
                          <a:solidFill>
                            <a:prstClr val="black"/>
                          </a:solidFill>
                          <a:effectLst/>
                          <a:uLnTx/>
                          <a:uFillTx/>
                          <a:latin typeface="メイリオ" panose="020B0604030504040204" pitchFamily="50" charset="-128"/>
                          <a:ea typeface="メイリオ" panose="020B0604030504040204" pitchFamily="50" charset="-128"/>
                          <a:cs typeface="+mn-cs"/>
                        </a:rPr>
                        <a:t>もも裏</a:t>
                      </a:r>
                    </a:p>
                  </a:txBody>
                  <a:tcPr anchor="ctr"/>
                </a:tc>
                <a:tc>
                  <a:txBody>
                    <a:bodyPr/>
                    <a:lstStyle/>
                    <a:p>
                      <a:r>
                        <a:rPr lang="ja-JP" altLang="en-US" sz="1000" b="0" dirty="0">
                          <a:solidFill>
                            <a:srgbClr val="FF0000"/>
                          </a:solidFill>
                          <a:latin typeface="メイリオ" panose="020B0604030504040204" pitchFamily="50" charset="-128"/>
                          <a:ea typeface="メイリオ" panose="020B0604030504040204" pitchFamily="50" charset="-128"/>
                        </a:rPr>
                        <a:t>大腿二頭筋</a:t>
                      </a:r>
                      <a:endParaRPr lang="en-US" altLang="ja-JP" sz="1000" b="0" dirty="0">
                        <a:solidFill>
                          <a:srgbClr val="FF0000"/>
                        </a:solidFill>
                        <a:latin typeface="メイリオ" panose="020B0604030504040204" pitchFamily="50" charset="-128"/>
                        <a:ea typeface="メイリオ" panose="020B0604030504040204" pitchFamily="50" charset="-128"/>
                      </a:endParaRPr>
                    </a:p>
                    <a:p>
                      <a:r>
                        <a:rPr lang="ja-JP" altLang="en-US" sz="1000" b="0" dirty="0">
                          <a:solidFill>
                            <a:srgbClr val="FF0000"/>
                          </a:solidFill>
                          <a:latin typeface="メイリオ" panose="020B0604030504040204" pitchFamily="50" charset="-128"/>
                          <a:ea typeface="メイリオ" panose="020B0604030504040204" pitchFamily="50" charset="-128"/>
                        </a:rPr>
                        <a:t>半腱様筋</a:t>
                      </a:r>
                      <a:endParaRPr lang="en-US" altLang="ja-JP" sz="1000" b="0" dirty="0">
                        <a:solidFill>
                          <a:srgbClr val="FF0000"/>
                        </a:solidFill>
                        <a:latin typeface="メイリオ" panose="020B0604030504040204" pitchFamily="50" charset="-128"/>
                        <a:ea typeface="メイリオ" panose="020B0604030504040204" pitchFamily="50" charset="-128"/>
                      </a:endParaRPr>
                    </a:p>
                    <a:p>
                      <a:r>
                        <a:rPr lang="ja-JP" altLang="en-US" sz="1000" b="0" dirty="0">
                          <a:solidFill>
                            <a:srgbClr val="FF0000"/>
                          </a:solidFill>
                          <a:latin typeface="メイリオ" panose="020B0604030504040204" pitchFamily="50" charset="-128"/>
                          <a:ea typeface="メイリオ" panose="020B0604030504040204" pitchFamily="50" charset="-128"/>
                        </a:rPr>
                        <a:t>半膜様筋</a:t>
                      </a:r>
                    </a:p>
                  </a:txBody>
                  <a:tcPr anchor="ctr"/>
                </a:tc>
                <a:extLst>
                  <a:ext uri="{0D108BD9-81ED-4DB2-BD59-A6C34878D82A}">
                    <a16:rowId xmlns:a16="http://schemas.microsoft.com/office/drawing/2014/main" val="2785691566"/>
                  </a:ext>
                </a:extLst>
              </a:tr>
            </a:tbl>
          </a:graphicData>
        </a:graphic>
      </p:graphicFrame>
      <p:sp>
        <p:nvSpPr>
          <p:cNvPr id="129" name="テキスト ボックス 128">
            <a:extLst>
              <a:ext uri="{FF2B5EF4-FFF2-40B4-BE49-F238E27FC236}">
                <a16:creationId xmlns:a16="http://schemas.microsoft.com/office/drawing/2014/main" id="{5BECC6F9-6D5F-4894-9802-74A0BEC0C999}"/>
              </a:ext>
            </a:extLst>
          </p:cNvPr>
          <p:cNvSpPr txBox="1"/>
          <p:nvPr/>
        </p:nvSpPr>
        <p:spPr>
          <a:xfrm>
            <a:off x="8610750" y="7040509"/>
            <a:ext cx="1194799" cy="246221"/>
          </a:xfrm>
          <a:prstGeom prst="rect">
            <a:avLst/>
          </a:prstGeom>
          <a:noFill/>
        </p:spPr>
        <p:txBody>
          <a:bodyPr wrap="square">
            <a:spAutoFit/>
          </a:bodyPr>
          <a:lstStyle/>
          <a:p>
            <a:r>
              <a:rPr lang="ja-JP" altLang="en-US" sz="1000" dirty="0">
                <a:latin typeface="メイリオ" panose="020B0604030504040204" pitchFamily="50" charset="-128"/>
                <a:ea typeface="メイリオ" panose="020B0604030504040204" pitchFamily="50" charset="-128"/>
              </a:rPr>
              <a:t>〇転倒リスク</a:t>
            </a:r>
          </a:p>
        </p:txBody>
      </p:sp>
      <p:sp>
        <p:nvSpPr>
          <p:cNvPr id="130" name="テキスト ボックス 129">
            <a:extLst>
              <a:ext uri="{FF2B5EF4-FFF2-40B4-BE49-F238E27FC236}">
                <a16:creationId xmlns:a16="http://schemas.microsoft.com/office/drawing/2014/main" id="{17118606-909F-4BF6-835B-FBE4086FD6CD}"/>
              </a:ext>
            </a:extLst>
          </p:cNvPr>
          <p:cNvSpPr txBox="1"/>
          <p:nvPr/>
        </p:nvSpPr>
        <p:spPr>
          <a:xfrm>
            <a:off x="9458407" y="7030359"/>
            <a:ext cx="1391017" cy="253916"/>
          </a:xfrm>
          <a:prstGeom prst="rect">
            <a:avLst/>
          </a:prstGeom>
          <a:noFill/>
        </p:spPr>
        <p:txBody>
          <a:bodyPr wrap="square">
            <a:spAutoFit/>
          </a:bodyPr>
          <a:lstStyle/>
          <a:p>
            <a:r>
              <a:rPr lang="ja-JP" altLang="en-US" sz="1000" dirty="0">
                <a:latin typeface="メイリオ" panose="020B0604030504040204" pitchFamily="50" charset="-128"/>
                <a:ea typeface="メイリオ" panose="020B0604030504040204" pitchFamily="50" charset="-128"/>
              </a:rPr>
              <a:t>〇大腿骨骨折リスク</a:t>
            </a:r>
          </a:p>
        </p:txBody>
      </p:sp>
      <p:graphicFrame>
        <p:nvGraphicFramePr>
          <p:cNvPr id="131" name="表 130">
            <a:extLst>
              <a:ext uri="{FF2B5EF4-FFF2-40B4-BE49-F238E27FC236}">
                <a16:creationId xmlns:a16="http://schemas.microsoft.com/office/drawing/2014/main" id="{1F8AD5EE-AF40-449B-A81A-71DB6A8F69B0}"/>
              </a:ext>
            </a:extLst>
          </p:cNvPr>
          <p:cNvGraphicFramePr>
            <a:graphicFrameLocks noGrp="1"/>
          </p:cNvGraphicFramePr>
          <p:nvPr>
            <p:extLst>
              <p:ext uri="{D42A27DB-BD31-4B8C-83A1-F6EECF244321}">
                <p14:modId xmlns:p14="http://schemas.microsoft.com/office/powerpoint/2010/main" val="863255647"/>
              </p:ext>
            </p:extLst>
          </p:nvPr>
        </p:nvGraphicFramePr>
        <p:xfrm>
          <a:off x="8677655" y="7515088"/>
          <a:ext cx="1222938" cy="594360"/>
        </p:xfrm>
        <a:graphic>
          <a:graphicData uri="http://schemas.openxmlformats.org/drawingml/2006/table">
            <a:tbl>
              <a:tblPr firstRow="1" bandRow="1">
                <a:tableStyleId>{8799B23B-EC83-4686-B30A-512413B5E67A}</a:tableStyleId>
              </a:tblPr>
              <a:tblGrid>
                <a:gridCol w="340601">
                  <a:extLst>
                    <a:ext uri="{9D8B030D-6E8A-4147-A177-3AD203B41FA5}">
                      <a16:colId xmlns:a16="http://schemas.microsoft.com/office/drawing/2014/main" val="4203512896"/>
                    </a:ext>
                  </a:extLst>
                </a:gridCol>
                <a:gridCol w="882337">
                  <a:extLst>
                    <a:ext uri="{9D8B030D-6E8A-4147-A177-3AD203B41FA5}">
                      <a16:colId xmlns:a16="http://schemas.microsoft.com/office/drawing/2014/main" val="3556321484"/>
                    </a:ext>
                  </a:extLst>
                </a:gridCol>
              </a:tblGrid>
              <a:tr h="574358">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1" lang="ja-JP" altLang="en-US" sz="1100" b="1" i="0" u="none" strike="noStrike" kern="120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cs typeface="+mn-cs"/>
                        </a:rPr>
                        <a:t>すね裏</a:t>
                      </a:r>
                    </a:p>
                  </a:txBody>
                  <a:tcPr anchor="ctr"/>
                </a:tc>
                <a:tc>
                  <a:txBody>
                    <a:bodyPr/>
                    <a:lstStyle/>
                    <a:p>
                      <a:r>
                        <a:rPr lang="ja-JP" altLang="en-US" sz="1000" b="0" dirty="0">
                          <a:solidFill>
                            <a:srgbClr val="FF0000"/>
                          </a:solidFill>
                          <a:latin typeface="メイリオ" panose="020B0604030504040204" pitchFamily="50" charset="-128"/>
                          <a:ea typeface="メイリオ" panose="020B0604030504040204" pitchFamily="50" charset="-128"/>
                        </a:rPr>
                        <a:t>後方浅層</a:t>
                      </a:r>
                      <a:endParaRPr lang="en-US" altLang="ja-JP" sz="1000" b="0" dirty="0">
                        <a:solidFill>
                          <a:srgbClr val="FF0000"/>
                        </a:solidFill>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00" b="0" dirty="0">
                          <a:solidFill>
                            <a:srgbClr val="FF0000"/>
                          </a:solidFill>
                          <a:latin typeface="メイリオ" panose="020B0604030504040204" pitchFamily="50" charset="-128"/>
                          <a:ea typeface="メイリオ" panose="020B0604030504040204" pitchFamily="50" charset="-128"/>
                        </a:rPr>
                        <a:t>後方深層</a:t>
                      </a:r>
                      <a:endParaRPr lang="en-US" altLang="ja-JP" sz="1000" b="0" dirty="0">
                        <a:solidFill>
                          <a:srgbClr val="FF0000"/>
                        </a:solidFill>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3050180509"/>
                  </a:ext>
                </a:extLst>
              </a:tr>
            </a:tbl>
          </a:graphicData>
        </a:graphic>
      </p:graphicFrame>
      <p:sp>
        <p:nvSpPr>
          <p:cNvPr id="132" name="テキスト ボックス 131">
            <a:extLst>
              <a:ext uri="{FF2B5EF4-FFF2-40B4-BE49-F238E27FC236}">
                <a16:creationId xmlns:a16="http://schemas.microsoft.com/office/drawing/2014/main" id="{BD0A5A8D-919E-48CD-A556-0F05FB099473}"/>
              </a:ext>
            </a:extLst>
          </p:cNvPr>
          <p:cNvSpPr txBox="1"/>
          <p:nvPr/>
        </p:nvSpPr>
        <p:spPr>
          <a:xfrm>
            <a:off x="8587694" y="8119880"/>
            <a:ext cx="2585865" cy="253916"/>
          </a:xfrm>
          <a:prstGeom prst="rect">
            <a:avLst/>
          </a:prstGeom>
          <a:noFill/>
        </p:spPr>
        <p:txBody>
          <a:bodyPr wrap="square">
            <a:spAutoFit/>
          </a:bodyPr>
          <a:lstStyle/>
          <a:p>
            <a:r>
              <a:rPr lang="ja-JP" altLang="en-US" sz="1050" b="1" dirty="0">
                <a:latin typeface="メイリオ" panose="020B0604030504040204" pitchFamily="50" charset="-128"/>
                <a:ea typeface="メイリオ" panose="020B0604030504040204" pitchFamily="50" charset="-128"/>
              </a:rPr>
              <a:t>機能：</a:t>
            </a:r>
            <a:r>
              <a:rPr lang="zh-TW" altLang="en-US" sz="1050" b="1" dirty="0">
                <a:latin typeface="メイリオ" panose="020B0604030504040204" pitchFamily="50" charset="-128"/>
                <a:ea typeface="メイリオ" panose="020B0604030504040204" pitchFamily="50" charset="-128"/>
              </a:rPr>
              <a:t>足関節底屈、歩行推進、立位保持</a:t>
            </a:r>
          </a:p>
        </p:txBody>
      </p:sp>
      <p:sp>
        <p:nvSpPr>
          <p:cNvPr id="133" name="テキスト ボックス 132">
            <a:extLst>
              <a:ext uri="{FF2B5EF4-FFF2-40B4-BE49-F238E27FC236}">
                <a16:creationId xmlns:a16="http://schemas.microsoft.com/office/drawing/2014/main" id="{F84304FD-3742-469B-91CB-B8C9A62469ED}"/>
              </a:ext>
            </a:extLst>
          </p:cNvPr>
          <p:cNvSpPr txBox="1"/>
          <p:nvPr/>
        </p:nvSpPr>
        <p:spPr>
          <a:xfrm>
            <a:off x="8610749" y="8284156"/>
            <a:ext cx="1194799" cy="246221"/>
          </a:xfrm>
          <a:prstGeom prst="rect">
            <a:avLst/>
          </a:prstGeom>
          <a:noFill/>
        </p:spPr>
        <p:txBody>
          <a:bodyPr wrap="square">
            <a:spAutoFit/>
          </a:bodyPr>
          <a:lstStyle/>
          <a:p>
            <a:r>
              <a:rPr lang="ja-JP" altLang="en-US" sz="1000" dirty="0">
                <a:latin typeface="メイリオ" panose="020B0604030504040204" pitchFamily="50" charset="-128"/>
                <a:ea typeface="メイリオ" panose="020B0604030504040204" pitchFamily="50" charset="-128"/>
              </a:rPr>
              <a:t>〇転倒リスク</a:t>
            </a:r>
          </a:p>
        </p:txBody>
      </p:sp>
      <p:sp>
        <p:nvSpPr>
          <p:cNvPr id="134" name="テキスト ボックス 133">
            <a:extLst>
              <a:ext uri="{FF2B5EF4-FFF2-40B4-BE49-F238E27FC236}">
                <a16:creationId xmlns:a16="http://schemas.microsoft.com/office/drawing/2014/main" id="{EB16ADE7-F2B2-4C52-AF4E-6C049B96E929}"/>
              </a:ext>
            </a:extLst>
          </p:cNvPr>
          <p:cNvSpPr txBox="1"/>
          <p:nvPr/>
        </p:nvSpPr>
        <p:spPr>
          <a:xfrm>
            <a:off x="9589881" y="8284156"/>
            <a:ext cx="1317553" cy="246221"/>
          </a:xfrm>
          <a:prstGeom prst="rect">
            <a:avLst/>
          </a:prstGeom>
          <a:noFill/>
        </p:spPr>
        <p:txBody>
          <a:bodyPr wrap="square">
            <a:spAutoFit/>
          </a:bodyPr>
          <a:lstStyle/>
          <a:p>
            <a:r>
              <a:rPr lang="ja-JP" altLang="en-US" sz="1000" dirty="0">
                <a:latin typeface="メイリオ" panose="020B0604030504040204" pitchFamily="50" charset="-128"/>
                <a:ea typeface="メイリオ" panose="020B0604030504040204" pitchFamily="50" charset="-128"/>
              </a:rPr>
              <a:t>〇膝</a:t>
            </a:r>
            <a:r>
              <a:rPr lang="en-US" altLang="ja-JP" sz="1000" dirty="0">
                <a:latin typeface="メイリオ" panose="020B0604030504040204" pitchFamily="50" charset="-128"/>
                <a:ea typeface="メイリオ" panose="020B0604030504040204" pitchFamily="50" charset="-128"/>
              </a:rPr>
              <a:t>OA</a:t>
            </a:r>
            <a:r>
              <a:rPr lang="ja-JP" altLang="en-US" sz="1000" dirty="0">
                <a:latin typeface="メイリオ" panose="020B0604030504040204" pitchFamily="50" charset="-128"/>
                <a:ea typeface="メイリオ" panose="020B0604030504040204" pitchFamily="50" charset="-128"/>
              </a:rPr>
              <a:t>リスク</a:t>
            </a:r>
          </a:p>
        </p:txBody>
      </p:sp>
      <p:graphicFrame>
        <p:nvGraphicFramePr>
          <p:cNvPr id="135" name="表 134">
            <a:extLst>
              <a:ext uri="{FF2B5EF4-FFF2-40B4-BE49-F238E27FC236}">
                <a16:creationId xmlns:a16="http://schemas.microsoft.com/office/drawing/2014/main" id="{A703163F-93C7-468E-8AD8-3BB108BAB493}"/>
              </a:ext>
            </a:extLst>
          </p:cNvPr>
          <p:cNvGraphicFramePr>
            <a:graphicFrameLocks noGrp="1"/>
          </p:cNvGraphicFramePr>
          <p:nvPr>
            <p:extLst>
              <p:ext uri="{D42A27DB-BD31-4B8C-83A1-F6EECF244321}">
                <p14:modId xmlns:p14="http://schemas.microsoft.com/office/powerpoint/2010/main" val="1840259166"/>
              </p:ext>
            </p:extLst>
          </p:nvPr>
        </p:nvGraphicFramePr>
        <p:xfrm>
          <a:off x="4433877" y="7590509"/>
          <a:ext cx="1110797" cy="762000"/>
        </p:xfrm>
        <a:graphic>
          <a:graphicData uri="http://schemas.openxmlformats.org/drawingml/2006/table">
            <a:tbl>
              <a:tblPr firstRow="1" bandRow="1">
                <a:tableStyleId>{8799B23B-EC83-4686-B30A-512413B5E67A}</a:tableStyleId>
              </a:tblPr>
              <a:tblGrid>
                <a:gridCol w="277571">
                  <a:extLst>
                    <a:ext uri="{9D8B030D-6E8A-4147-A177-3AD203B41FA5}">
                      <a16:colId xmlns:a16="http://schemas.microsoft.com/office/drawing/2014/main" val="4158246356"/>
                    </a:ext>
                  </a:extLst>
                </a:gridCol>
                <a:gridCol w="833226">
                  <a:extLst>
                    <a:ext uri="{9D8B030D-6E8A-4147-A177-3AD203B41FA5}">
                      <a16:colId xmlns:a16="http://schemas.microsoft.com/office/drawing/2014/main" val="1856257267"/>
                    </a:ext>
                  </a:extLst>
                </a:gridCol>
              </a:tblGrid>
              <a:tr h="68580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1" lang="ja-JP" altLang="en-US" sz="1100" b="1" i="0" u="none" strike="noStrike" kern="1200" cap="none" spc="0" normalizeH="0" baseline="0" dirty="0">
                          <a:ln>
                            <a:noFill/>
                          </a:ln>
                          <a:solidFill>
                            <a:prstClr val="black"/>
                          </a:solidFill>
                          <a:effectLst/>
                          <a:uLnTx/>
                          <a:uFillTx/>
                          <a:latin typeface="メイリオ" panose="020B0604030504040204" pitchFamily="50" charset="-128"/>
                          <a:ea typeface="メイリオ" panose="020B0604030504040204" pitchFamily="50" charset="-128"/>
                          <a:cs typeface="+mn-cs"/>
                        </a:rPr>
                        <a:t>お尻の</a:t>
                      </a:r>
                      <a:endParaRPr kumimoji="1" lang="en-US" altLang="ja-JP" sz="1100" b="1" i="0" u="none" strike="noStrike" kern="1200" cap="none" spc="0" normalizeH="0" baseline="0" dirty="0">
                        <a:ln>
                          <a:noFill/>
                        </a:ln>
                        <a:solidFill>
                          <a:prstClr val="black"/>
                        </a:solidFill>
                        <a:effectLst/>
                        <a:uLnTx/>
                        <a:uFillTx/>
                        <a:latin typeface="メイリオ" panose="020B0604030504040204" pitchFamily="50" charset="-128"/>
                        <a:ea typeface="メイリオ" panose="020B0604030504040204" pitchFamily="50" charset="-128"/>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1" lang="ja-JP" altLang="en-US" sz="1100" b="1" i="0" u="none" strike="noStrike" kern="1200" cap="none" spc="0" normalizeH="0" baseline="0" dirty="0">
                          <a:ln>
                            <a:noFill/>
                          </a:ln>
                          <a:solidFill>
                            <a:prstClr val="black"/>
                          </a:solidFill>
                          <a:effectLst/>
                          <a:uLnTx/>
                          <a:uFillTx/>
                          <a:latin typeface="メイリオ" panose="020B0604030504040204" pitchFamily="50" charset="-128"/>
                          <a:ea typeface="メイリオ" panose="020B0604030504040204" pitchFamily="50" charset="-128"/>
                          <a:cs typeface="+mn-cs"/>
                        </a:rPr>
                        <a:t>奥</a:t>
                      </a:r>
                    </a:p>
                  </a:txBody>
                  <a:tcPr anchor="ctr"/>
                </a:tc>
                <a:tc>
                  <a:txBody>
                    <a:bodyPr/>
                    <a:lstStyle/>
                    <a:p>
                      <a:r>
                        <a:rPr lang="zh-TW" altLang="en-US" sz="1000" b="0" dirty="0">
                          <a:solidFill>
                            <a:srgbClr val="FF0000"/>
                          </a:solidFill>
                          <a:latin typeface="メイリオ" panose="020B0604030504040204" pitchFamily="50" charset="-128"/>
                          <a:ea typeface="メイリオ" panose="020B0604030504040204" pitchFamily="50" charset="-128"/>
                        </a:rPr>
                        <a:t>内</a:t>
                      </a:r>
                      <a:r>
                        <a:rPr lang="ja-JP" altLang="en-US" sz="1000" b="0" dirty="0">
                          <a:solidFill>
                            <a:srgbClr val="FF0000"/>
                          </a:solidFill>
                          <a:latin typeface="メイリオ" panose="020B0604030504040204" pitchFamily="50" charset="-128"/>
                          <a:ea typeface="メイリオ" panose="020B0604030504040204" pitchFamily="50" charset="-128"/>
                        </a:rPr>
                        <a:t>閉鎖筋</a:t>
                      </a:r>
                      <a:endParaRPr lang="en-US" altLang="ja-JP" sz="1000" b="0" dirty="0">
                        <a:solidFill>
                          <a:srgbClr val="FF0000"/>
                        </a:solidFill>
                        <a:latin typeface="メイリオ" panose="020B0604030504040204" pitchFamily="50" charset="-128"/>
                        <a:ea typeface="メイリオ" panose="020B0604030504040204" pitchFamily="50" charset="-128"/>
                      </a:endParaRPr>
                    </a:p>
                    <a:p>
                      <a:r>
                        <a:rPr lang="zh-TW" altLang="en-US" sz="1000" b="0" dirty="0">
                          <a:solidFill>
                            <a:srgbClr val="FF0000"/>
                          </a:solidFill>
                          <a:latin typeface="メイリオ" panose="020B0604030504040204" pitchFamily="50" charset="-128"/>
                          <a:ea typeface="メイリオ" panose="020B0604030504040204" pitchFamily="50" charset="-128"/>
                        </a:rPr>
                        <a:t>外閉鎖筋</a:t>
                      </a:r>
                      <a:endParaRPr lang="en-US" altLang="zh-TW" sz="1000" b="0" dirty="0">
                        <a:solidFill>
                          <a:srgbClr val="FF0000"/>
                        </a:solidFill>
                        <a:latin typeface="メイリオ" panose="020B0604030504040204" pitchFamily="50" charset="-128"/>
                        <a:ea typeface="メイリオ" panose="020B0604030504040204" pitchFamily="50" charset="-128"/>
                      </a:endParaRPr>
                    </a:p>
                    <a:p>
                      <a:r>
                        <a:rPr lang="zh-TW" altLang="en-US" sz="1000" b="0" dirty="0">
                          <a:solidFill>
                            <a:srgbClr val="FF0000"/>
                          </a:solidFill>
                          <a:latin typeface="メイリオ" panose="020B0604030504040204" pitchFamily="50" charset="-128"/>
                          <a:ea typeface="メイリオ" panose="020B0604030504040204" pitchFamily="50" charset="-128"/>
                        </a:rPr>
                        <a:t>梨状筋</a:t>
                      </a:r>
                      <a:endParaRPr lang="en-US" altLang="zh-TW" sz="1000" b="0" dirty="0">
                        <a:solidFill>
                          <a:srgbClr val="FF0000"/>
                        </a:solidFill>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1759646536"/>
                  </a:ext>
                </a:extLst>
              </a:tr>
            </a:tbl>
          </a:graphicData>
        </a:graphic>
      </p:graphicFrame>
      <p:sp>
        <p:nvSpPr>
          <p:cNvPr id="136" name="テキスト ボックス 135">
            <a:extLst>
              <a:ext uri="{FF2B5EF4-FFF2-40B4-BE49-F238E27FC236}">
                <a16:creationId xmlns:a16="http://schemas.microsoft.com/office/drawing/2014/main" id="{AC73C995-1123-4BD2-85C2-81166EA5E0A4}"/>
              </a:ext>
            </a:extLst>
          </p:cNvPr>
          <p:cNvSpPr txBox="1"/>
          <p:nvPr/>
        </p:nvSpPr>
        <p:spPr>
          <a:xfrm>
            <a:off x="4338124" y="8305097"/>
            <a:ext cx="3139027" cy="253916"/>
          </a:xfrm>
          <a:prstGeom prst="rect">
            <a:avLst/>
          </a:prstGeom>
          <a:noFill/>
        </p:spPr>
        <p:txBody>
          <a:bodyPr wrap="square">
            <a:spAutoFit/>
          </a:bodyPr>
          <a:lstStyle/>
          <a:p>
            <a:r>
              <a:rPr lang="ja-JP" altLang="en-US" sz="1050" b="1" dirty="0">
                <a:latin typeface="メイリオ" panose="020B0604030504040204" pitchFamily="50" charset="-128"/>
                <a:ea typeface="メイリオ" panose="020B0604030504040204" pitchFamily="50" charset="-128"/>
              </a:rPr>
              <a:t>機能：股関節深部安定、方向転換、転倒時の安定</a:t>
            </a:r>
          </a:p>
        </p:txBody>
      </p:sp>
      <p:sp>
        <p:nvSpPr>
          <p:cNvPr id="137" name="テキスト ボックス 136">
            <a:extLst>
              <a:ext uri="{FF2B5EF4-FFF2-40B4-BE49-F238E27FC236}">
                <a16:creationId xmlns:a16="http://schemas.microsoft.com/office/drawing/2014/main" id="{042978E4-7AD0-41D4-A790-C926DC226F18}"/>
              </a:ext>
            </a:extLst>
          </p:cNvPr>
          <p:cNvSpPr txBox="1"/>
          <p:nvPr/>
        </p:nvSpPr>
        <p:spPr>
          <a:xfrm>
            <a:off x="4347828" y="8490392"/>
            <a:ext cx="1194799" cy="246221"/>
          </a:xfrm>
          <a:prstGeom prst="rect">
            <a:avLst/>
          </a:prstGeom>
          <a:noFill/>
        </p:spPr>
        <p:txBody>
          <a:bodyPr wrap="square">
            <a:spAutoFit/>
          </a:bodyPr>
          <a:lstStyle/>
          <a:p>
            <a:r>
              <a:rPr lang="ja-JP" altLang="en-US" sz="1000" dirty="0">
                <a:latin typeface="メイリオ" panose="020B0604030504040204" pitchFamily="50" charset="-128"/>
                <a:ea typeface="メイリオ" panose="020B0604030504040204" pitchFamily="50" charset="-128"/>
              </a:rPr>
              <a:t>〇転倒リスク</a:t>
            </a:r>
          </a:p>
        </p:txBody>
      </p:sp>
      <p:sp>
        <p:nvSpPr>
          <p:cNvPr id="138" name="テキスト ボックス 137">
            <a:extLst>
              <a:ext uri="{FF2B5EF4-FFF2-40B4-BE49-F238E27FC236}">
                <a16:creationId xmlns:a16="http://schemas.microsoft.com/office/drawing/2014/main" id="{4EC064C6-3494-44B7-8780-3A5883FEFDE3}"/>
              </a:ext>
            </a:extLst>
          </p:cNvPr>
          <p:cNvSpPr txBox="1"/>
          <p:nvPr/>
        </p:nvSpPr>
        <p:spPr>
          <a:xfrm>
            <a:off x="5326558" y="8490392"/>
            <a:ext cx="1657331" cy="246221"/>
          </a:xfrm>
          <a:prstGeom prst="rect">
            <a:avLst/>
          </a:prstGeom>
          <a:noFill/>
        </p:spPr>
        <p:txBody>
          <a:bodyPr wrap="square">
            <a:spAutoFit/>
          </a:bodyPr>
          <a:lstStyle/>
          <a:p>
            <a:r>
              <a:rPr lang="ja-JP" altLang="en-US" sz="1000" dirty="0">
                <a:latin typeface="メイリオ" panose="020B0604030504040204" pitchFamily="50" charset="-128"/>
                <a:ea typeface="メイリオ" panose="020B0604030504040204" pitchFamily="50" charset="-128"/>
              </a:rPr>
              <a:t>〇大腿骨骨折リスク</a:t>
            </a:r>
          </a:p>
        </p:txBody>
      </p:sp>
      <p:graphicFrame>
        <p:nvGraphicFramePr>
          <p:cNvPr id="143" name="表 142">
            <a:extLst>
              <a:ext uri="{FF2B5EF4-FFF2-40B4-BE49-F238E27FC236}">
                <a16:creationId xmlns:a16="http://schemas.microsoft.com/office/drawing/2014/main" id="{31F4B866-EF81-4EAE-AC50-7E315E1ED44E}"/>
              </a:ext>
            </a:extLst>
          </p:cNvPr>
          <p:cNvGraphicFramePr>
            <a:graphicFrameLocks noGrp="1"/>
          </p:cNvGraphicFramePr>
          <p:nvPr/>
        </p:nvGraphicFramePr>
        <p:xfrm>
          <a:off x="4347828" y="2744884"/>
          <a:ext cx="1235417" cy="618389"/>
        </p:xfrm>
        <a:graphic>
          <a:graphicData uri="http://schemas.openxmlformats.org/drawingml/2006/table">
            <a:tbl>
              <a:tblPr firstRow="1" bandRow="1">
                <a:tableStyleId>{8799B23B-EC83-4686-B30A-512413B5E67A}</a:tableStyleId>
              </a:tblPr>
              <a:tblGrid>
                <a:gridCol w="372586">
                  <a:extLst>
                    <a:ext uri="{9D8B030D-6E8A-4147-A177-3AD203B41FA5}">
                      <a16:colId xmlns:a16="http://schemas.microsoft.com/office/drawing/2014/main" val="3601844147"/>
                    </a:ext>
                  </a:extLst>
                </a:gridCol>
                <a:gridCol w="862831">
                  <a:extLst>
                    <a:ext uri="{9D8B030D-6E8A-4147-A177-3AD203B41FA5}">
                      <a16:colId xmlns:a16="http://schemas.microsoft.com/office/drawing/2014/main" val="2066940135"/>
                    </a:ext>
                  </a:extLst>
                </a:gridCol>
              </a:tblGrid>
              <a:tr h="618389">
                <a:tc>
                  <a:txBody>
                    <a:bodyPr/>
                    <a:lstStyle/>
                    <a:p>
                      <a:r>
                        <a:rPr lang="ja-JP" altLang="en-US" sz="1100" dirty="0">
                          <a:latin typeface="メイリオ" panose="020B0604030504040204" pitchFamily="50" charset="-128"/>
                          <a:ea typeface="メイリオ" panose="020B0604030504040204" pitchFamily="50" charset="-128"/>
                        </a:rPr>
                        <a:t>腰</a:t>
                      </a:r>
                      <a:r>
                        <a:rPr lang="ja-JP" altLang="en-US" sz="900" dirty="0">
                          <a:latin typeface="メイリオ" panose="020B0604030504040204" pitchFamily="50" charset="-128"/>
                          <a:ea typeface="メイリオ" panose="020B0604030504040204" pitchFamily="50" charset="-128"/>
                        </a:rPr>
                        <a:t>の</a:t>
                      </a:r>
                      <a:endParaRPr lang="en-US" altLang="ja-JP" sz="900" dirty="0">
                        <a:latin typeface="メイリオ" panose="020B0604030504040204" pitchFamily="50" charset="-128"/>
                        <a:ea typeface="メイリオ" panose="020B0604030504040204" pitchFamily="50" charset="-128"/>
                      </a:endParaRPr>
                    </a:p>
                    <a:p>
                      <a:r>
                        <a:rPr lang="ja-JP" altLang="en-US" sz="1100" dirty="0">
                          <a:latin typeface="メイリオ" panose="020B0604030504040204" pitchFamily="50" charset="-128"/>
                          <a:ea typeface="メイリオ" panose="020B0604030504040204" pitchFamily="50" charset="-128"/>
                        </a:rPr>
                        <a:t>奥</a:t>
                      </a:r>
                      <a:endParaRPr lang="en-US" altLang="ja-JP" sz="1100" dirty="0">
                        <a:latin typeface="メイリオ" panose="020B0604030504040204" pitchFamily="50" charset="-128"/>
                        <a:ea typeface="メイリオ" panose="020B0604030504040204" pitchFamily="50" charset="-128"/>
                      </a:endParaRPr>
                    </a:p>
                  </a:txBody>
                  <a:tcPr anchor="ctr"/>
                </a:tc>
                <a:tc>
                  <a:txBody>
                    <a:bodyPr/>
                    <a:lstStyle/>
                    <a:p>
                      <a:r>
                        <a:rPr lang="ja-JP" altLang="en-US" sz="1000" b="0" dirty="0">
                          <a:solidFill>
                            <a:srgbClr val="FF0000"/>
                          </a:solidFill>
                          <a:latin typeface="メイリオ" panose="020B0604030504040204" pitchFamily="50" charset="-128"/>
                          <a:ea typeface="メイリオ" panose="020B0604030504040204" pitchFamily="50" charset="-128"/>
                        </a:rPr>
                        <a:t>大腰筋</a:t>
                      </a:r>
                      <a:endParaRPr lang="en-US" altLang="ja-JP" sz="1000" b="0" dirty="0">
                        <a:solidFill>
                          <a:srgbClr val="FF0000"/>
                        </a:solidFill>
                        <a:latin typeface="メイリオ" panose="020B0604030504040204" pitchFamily="50" charset="-128"/>
                        <a:ea typeface="メイリオ" panose="020B0604030504040204" pitchFamily="50" charset="-128"/>
                      </a:endParaRPr>
                    </a:p>
                    <a:p>
                      <a:r>
                        <a:rPr lang="ja-JP" altLang="en-US" sz="1000" b="0" dirty="0">
                          <a:solidFill>
                            <a:srgbClr val="FF0000"/>
                          </a:solidFill>
                          <a:latin typeface="メイリオ" panose="020B0604030504040204" pitchFamily="50" charset="-128"/>
                          <a:ea typeface="メイリオ" panose="020B0604030504040204" pitchFamily="50" charset="-128"/>
                        </a:rPr>
                        <a:t>腸骨筋</a:t>
                      </a:r>
                      <a:endParaRPr lang="en-US" altLang="ja-JP" sz="1000" b="0" dirty="0">
                        <a:solidFill>
                          <a:srgbClr val="FF0000"/>
                        </a:solidFill>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00" b="0" dirty="0">
                          <a:solidFill>
                            <a:srgbClr val="FF0000"/>
                          </a:solidFill>
                          <a:latin typeface="メイリオ" panose="020B0604030504040204" pitchFamily="50" charset="-128"/>
                          <a:ea typeface="メイリオ" panose="020B0604030504040204" pitchFamily="50" charset="-128"/>
                        </a:rPr>
                        <a:t>腰方形筋</a:t>
                      </a:r>
                    </a:p>
                  </a:txBody>
                  <a:tcPr anchor="ctr"/>
                </a:tc>
                <a:extLst>
                  <a:ext uri="{0D108BD9-81ED-4DB2-BD59-A6C34878D82A}">
                    <a16:rowId xmlns:a16="http://schemas.microsoft.com/office/drawing/2014/main" val="4135673603"/>
                  </a:ext>
                </a:extLst>
              </a:tr>
            </a:tbl>
          </a:graphicData>
        </a:graphic>
      </p:graphicFrame>
      <p:sp>
        <p:nvSpPr>
          <p:cNvPr id="144" name="テキスト ボックス 143">
            <a:extLst>
              <a:ext uri="{FF2B5EF4-FFF2-40B4-BE49-F238E27FC236}">
                <a16:creationId xmlns:a16="http://schemas.microsoft.com/office/drawing/2014/main" id="{2EB1AD42-1380-44A4-A43F-D2FE6B14FF1B}"/>
              </a:ext>
            </a:extLst>
          </p:cNvPr>
          <p:cNvSpPr txBox="1"/>
          <p:nvPr/>
        </p:nvSpPr>
        <p:spPr>
          <a:xfrm>
            <a:off x="4269575" y="3393253"/>
            <a:ext cx="3093118" cy="246221"/>
          </a:xfrm>
          <a:prstGeom prst="rect">
            <a:avLst/>
          </a:prstGeom>
          <a:noFill/>
        </p:spPr>
        <p:txBody>
          <a:bodyPr wrap="square">
            <a:spAutoFit/>
          </a:bodyPr>
          <a:lstStyle/>
          <a:p>
            <a:r>
              <a:rPr lang="ja-JP" altLang="en-US" sz="1000" b="1" dirty="0">
                <a:latin typeface="メイリオ" panose="020B0604030504040204" pitchFamily="50" charset="-128"/>
                <a:ea typeface="メイリオ" panose="020B0604030504040204" pitchFamily="50" charset="-128"/>
              </a:rPr>
              <a:t>機能：股関節屈曲、体幹と下肢の連動、歩行安定</a:t>
            </a:r>
          </a:p>
        </p:txBody>
      </p:sp>
      <p:sp>
        <p:nvSpPr>
          <p:cNvPr id="145" name="テキスト ボックス 144">
            <a:extLst>
              <a:ext uri="{FF2B5EF4-FFF2-40B4-BE49-F238E27FC236}">
                <a16:creationId xmlns:a16="http://schemas.microsoft.com/office/drawing/2014/main" id="{9C9AAE7C-F37D-4D55-892B-047FB5840798}"/>
              </a:ext>
            </a:extLst>
          </p:cNvPr>
          <p:cNvSpPr txBox="1"/>
          <p:nvPr/>
        </p:nvSpPr>
        <p:spPr>
          <a:xfrm>
            <a:off x="5414854" y="3565439"/>
            <a:ext cx="1194799" cy="246221"/>
          </a:xfrm>
          <a:prstGeom prst="rect">
            <a:avLst/>
          </a:prstGeom>
          <a:noFill/>
        </p:spPr>
        <p:txBody>
          <a:bodyPr wrap="square">
            <a:spAutoFit/>
          </a:bodyPr>
          <a:lstStyle/>
          <a:p>
            <a:r>
              <a:rPr lang="ja-JP" altLang="en-US" sz="1000" dirty="0">
                <a:latin typeface="メイリオ" panose="020B0604030504040204" pitchFamily="50" charset="-128"/>
                <a:ea typeface="メイリオ" panose="020B0604030504040204" pitchFamily="50" charset="-128"/>
              </a:rPr>
              <a:t>〇転倒リスク</a:t>
            </a:r>
          </a:p>
        </p:txBody>
      </p:sp>
      <p:sp>
        <p:nvSpPr>
          <p:cNvPr id="146" name="テキスト ボックス 145">
            <a:extLst>
              <a:ext uri="{FF2B5EF4-FFF2-40B4-BE49-F238E27FC236}">
                <a16:creationId xmlns:a16="http://schemas.microsoft.com/office/drawing/2014/main" id="{5ED6CBA6-A8DF-4A30-8AA8-CAE6319F4A6D}"/>
              </a:ext>
            </a:extLst>
          </p:cNvPr>
          <p:cNvSpPr txBox="1"/>
          <p:nvPr/>
        </p:nvSpPr>
        <p:spPr>
          <a:xfrm>
            <a:off x="4254294" y="3574384"/>
            <a:ext cx="1317553" cy="246221"/>
          </a:xfrm>
          <a:prstGeom prst="rect">
            <a:avLst/>
          </a:prstGeom>
          <a:noFill/>
        </p:spPr>
        <p:txBody>
          <a:bodyPr wrap="square">
            <a:spAutoFit/>
          </a:bodyPr>
          <a:lstStyle/>
          <a:p>
            <a:r>
              <a:rPr lang="ja-JP" altLang="en-US" sz="1000" dirty="0">
                <a:latin typeface="メイリオ" panose="020B0604030504040204" pitchFamily="50" charset="-128"/>
                <a:ea typeface="メイリオ" panose="020B0604030504040204" pitchFamily="50" charset="-128"/>
              </a:rPr>
              <a:t>〇膝</a:t>
            </a:r>
            <a:r>
              <a:rPr lang="en-US" altLang="ja-JP" sz="1000" dirty="0">
                <a:latin typeface="メイリオ" panose="020B0604030504040204" pitchFamily="50" charset="-128"/>
                <a:ea typeface="メイリオ" panose="020B0604030504040204" pitchFamily="50" charset="-128"/>
              </a:rPr>
              <a:t>OA</a:t>
            </a:r>
            <a:r>
              <a:rPr lang="ja-JP" altLang="en-US" sz="1000" dirty="0">
                <a:latin typeface="メイリオ" panose="020B0604030504040204" pitchFamily="50" charset="-128"/>
                <a:ea typeface="メイリオ" panose="020B0604030504040204" pitchFamily="50" charset="-128"/>
              </a:rPr>
              <a:t>リスク</a:t>
            </a:r>
          </a:p>
        </p:txBody>
      </p:sp>
      <p:pic>
        <p:nvPicPr>
          <p:cNvPr id="139" name="図 138">
            <a:extLst>
              <a:ext uri="{FF2B5EF4-FFF2-40B4-BE49-F238E27FC236}">
                <a16:creationId xmlns:a16="http://schemas.microsoft.com/office/drawing/2014/main" id="{FE726BCD-86A7-4A34-9D26-DCBE09CFE7D8}"/>
              </a:ext>
            </a:extLst>
          </p:cNvPr>
          <p:cNvPicPr>
            <a:picLocks noChangeAspect="1"/>
          </p:cNvPicPr>
          <p:nvPr/>
        </p:nvPicPr>
        <p:blipFill>
          <a:blip r:embed="rId3"/>
          <a:stretch>
            <a:fillRect/>
          </a:stretch>
        </p:blipFill>
        <p:spPr>
          <a:xfrm>
            <a:off x="12112538" y="8908943"/>
            <a:ext cx="689062" cy="693076"/>
          </a:xfrm>
          <a:prstGeom prst="rect">
            <a:avLst/>
          </a:prstGeom>
        </p:spPr>
      </p:pic>
      <p:sp>
        <p:nvSpPr>
          <p:cNvPr id="3" name="IMG: 24">
            <a:extLst>
              <a:ext uri="{FF2B5EF4-FFF2-40B4-BE49-F238E27FC236}">
                <a16:creationId xmlns:a16="http://schemas.microsoft.com/office/drawing/2014/main" id="{32D35518-2524-32E9-5794-3D379F2E5D0A}"/>
              </a:ext>
            </a:extLst>
          </p:cNvPr>
          <p:cNvSpPr/>
          <p:nvPr/>
        </p:nvSpPr>
        <p:spPr>
          <a:xfrm>
            <a:off x="11747803" y="7419131"/>
            <a:ext cx="982615" cy="107876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 name="IMG: 23">
            <a:extLst>
              <a:ext uri="{FF2B5EF4-FFF2-40B4-BE49-F238E27FC236}">
                <a16:creationId xmlns:a16="http://schemas.microsoft.com/office/drawing/2014/main" id="{78DA7E59-D1EB-9D21-47B8-C775D1F9CC26}"/>
              </a:ext>
            </a:extLst>
          </p:cNvPr>
          <p:cNvSpPr/>
          <p:nvPr/>
        </p:nvSpPr>
        <p:spPr>
          <a:xfrm>
            <a:off x="11747804" y="6096274"/>
            <a:ext cx="977140" cy="114853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IMG: 22">
            <a:extLst>
              <a:ext uri="{FF2B5EF4-FFF2-40B4-BE49-F238E27FC236}">
                <a16:creationId xmlns:a16="http://schemas.microsoft.com/office/drawing/2014/main" id="{B8D3D7FD-6509-CD0E-2E92-CA1C4ECD31B0}"/>
              </a:ext>
            </a:extLst>
          </p:cNvPr>
          <p:cNvSpPr/>
          <p:nvPr/>
        </p:nvSpPr>
        <p:spPr>
          <a:xfrm>
            <a:off x="11747803" y="4802901"/>
            <a:ext cx="982615" cy="113248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7" name="IMG: 21">
            <a:extLst>
              <a:ext uri="{FF2B5EF4-FFF2-40B4-BE49-F238E27FC236}">
                <a16:creationId xmlns:a16="http://schemas.microsoft.com/office/drawing/2014/main" id="{70B3A4C3-2DD5-8130-F000-700EFE49DB33}"/>
              </a:ext>
            </a:extLst>
          </p:cNvPr>
          <p:cNvSpPr/>
          <p:nvPr/>
        </p:nvSpPr>
        <p:spPr>
          <a:xfrm>
            <a:off x="11747804" y="2869135"/>
            <a:ext cx="950976" cy="185617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8" name="IMG: 20">
            <a:extLst>
              <a:ext uri="{FF2B5EF4-FFF2-40B4-BE49-F238E27FC236}">
                <a16:creationId xmlns:a16="http://schemas.microsoft.com/office/drawing/2014/main" id="{5348529C-924E-CD3A-6252-8BAB98D337BD}"/>
              </a:ext>
            </a:extLst>
          </p:cNvPr>
          <p:cNvSpPr/>
          <p:nvPr/>
        </p:nvSpPr>
        <p:spPr>
          <a:xfrm>
            <a:off x="7330860" y="7569051"/>
            <a:ext cx="1162984" cy="112004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9" name="IMG: 19">
            <a:extLst>
              <a:ext uri="{FF2B5EF4-FFF2-40B4-BE49-F238E27FC236}">
                <a16:creationId xmlns:a16="http://schemas.microsoft.com/office/drawing/2014/main" id="{829AAC41-B2B7-3D4E-A82F-4319F4F21D19}"/>
              </a:ext>
            </a:extLst>
          </p:cNvPr>
          <p:cNvSpPr/>
          <p:nvPr/>
        </p:nvSpPr>
        <p:spPr>
          <a:xfrm>
            <a:off x="7330859" y="2702934"/>
            <a:ext cx="1150324" cy="10654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0" name="IMG: 18">
            <a:extLst>
              <a:ext uri="{FF2B5EF4-FFF2-40B4-BE49-F238E27FC236}">
                <a16:creationId xmlns:a16="http://schemas.microsoft.com/office/drawing/2014/main" id="{6444FC9C-E21D-1C7F-0DDB-B5DBA338FEA4}"/>
              </a:ext>
            </a:extLst>
          </p:cNvPr>
          <p:cNvSpPr/>
          <p:nvPr/>
        </p:nvSpPr>
        <p:spPr>
          <a:xfrm>
            <a:off x="48771" y="7305899"/>
            <a:ext cx="950976" cy="107258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 name="IMG: 17">
            <a:extLst>
              <a:ext uri="{FF2B5EF4-FFF2-40B4-BE49-F238E27FC236}">
                <a16:creationId xmlns:a16="http://schemas.microsoft.com/office/drawing/2014/main" id="{2427C8DD-E286-8D05-D355-C69449436953}"/>
              </a:ext>
            </a:extLst>
          </p:cNvPr>
          <p:cNvSpPr/>
          <p:nvPr/>
        </p:nvSpPr>
        <p:spPr>
          <a:xfrm>
            <a:off x="58931" y="6116505"/>
            <a:ext cx="950976" cy="105463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2" name="IMG: 16">
            <a:extLst>
              <a:ext uri="{FF2B5EF4-FFF2-40B4-BE49-F238E27FC236}">
                <a16:creationId xmlns:a16="http://schemas.microsoft.com/office/drawing/2014/main" id="{37422BEC-29A9-46CE-09AD-51084B6F53AF}"/>
              </a:ext>
            </a:extLst>
          </p:cNvPr>
          <p:cNvSpPr/>
          <p:nvPr/>
        </p:nvSpPr>
        <p:spPr>
          <a:xfrm>
            <a:off x="58931" y="4716898"/>
            <a:ext cx="950976" cy="122352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3" name="IMG: 15">
            <a:extLst>
              <a:ext uri="{FF2B5EF4-FFF2-40B4-BE49-F238E27FC236}">
                <a16:creationId xmlns:a16="http://schemas.microsoft.com/office/drawing/2014/main" id="{5F4B3B4C-F8E7-8450-A692-102D48881F86}"/>
              </a:ext>
            </a:extLst>
          </p:cNvPr>
          <p:cNvSpPr/>
          <p:nvPr/>
        </p:nvSpPr>
        <p:spPr>
          <a:xfrm>
            <a:off x="58045" y="2858875"/>
            <a:ext cx="952749" cy="174456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4" name="IMG: 14">
            <a:extLst>
              <a:ext uri="{FF2B5EF4-FFF2-40B4-BE49-F238E27FC236}">
                <a16:creationId xmlns:a16="http://schemas.microsoft.com/office/drawing/2014/main" id="{38A6687C-37DE-2F87-0A0D-0E959F08FE23}"/>
              </a:ext>
            </a:extLst>
          </p:cNvPr>
          <p:cNvSpPr/>
          <p:nvPr/>
        </p:nvSpPr>
        <p:spPr>
          <a:xfrm>
            <a:off x="5999977" y="5806898"/>
            <a:ext cx="850392" cy="75063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ysClr val="windowText" lastClr="000000"/>
              </a:solidFill>
            </a:endParaRPr>
          </a:p>
        </p:txBody>
      </p:sp>
      <p:sp>
        <p:nvSpPr>
          <p:cNvPr id="15" name="IMG: 13">
            <a:extLst>
              <a:ext uri="{FF2B5EF4-FFF2-40B4-BE49-F238E27FC236}">
                <a16:creationId xmlns:a16="http://schemas.microsoft.com/office/drawing/2014/main" id="{639FE9BC-5341-E195-801A-3DC1537D65FA}"/>
              </a:ext>
            </a:extLst>
          </p:cNvPr>
          <p:cNvSpPr/>
          <p:nvPr/>
        </p:nvSpPr>
        <p:spPr>
          <a:xfrm>
            <a:off x="5999069" y="4799799"/>
            <a:ext cx="852209" cy="75063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ysClr val="windowText" lastClr="000000"/>
              </a:solidFill>
            </a:endParaRPr>
          </a:p>
        </p:txBody>
      </p:sp>
      <p:sp>
        <p:nvSpPr>
          <p:cNvPr id="16" name="IMG: 12">
            <a:extLst>
              <a:ext uri="{FF2B5EF4-FFF2-40B4-BE49-F238E27FC236}">
                <a16:creationId xmlns:a16="http://schemas.microsoft.com/office/drawing/2014/main" id="{5588D27A-F346-5DFD-F260-2370FB9029C1}"/>
              </a:ext>
            </a:extLst>
          </p:cNvPr>
          <p:cNvSpPr/>
          <p:nvPr/>
        </p:nvSpPr>
        <p:spPr>
          <a:xfrm>
            <a:off x="6773443" y="4342919"/>
            <a:ext cx="1293570" cy="305842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ysClr val="windowText" lastClr="000000"/>
              </a:solidFill>
            </a:endParaRPr>
          </a:p>
        </p:txBody>
      </p:sp>
      <p:sp>
        <p:nvSpPr>
          <p:cNvPr id="22" name="IMG: 11">
            <a:extLst>
              <a:ext uri="{FF2B5EF4-FFF2-40B4-BE49-F238E27FC236}">
                <a16:creationId xmlns:a16="http://schemas.microsoft.com/office/drawing/2014/main" id="{99C0D31E-34CA-1773-6E92-3F447222DD34}"/>
              </a:ext>
            </a:extLst>
          </p:cNvPr>
          <p:cNvSpPr/>
          <p:nvPr/>
        </p:nvSpPr>
        <p:spPr>
          <a:xfrm>
            <a:off x="4790567" y="4342919"/>
            <a:ext cx="1293570" cy="305842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ysClr val="windowText" lastClr="000000"/>
              </a:solidFill>
            </a:endParaRPr>
          </a:p>
        </p:txBody>
      </p:sp>
      <p:sp>
        <p:nvSpPr>
          <p:cNvPr id="30" name="IMG: 10">
            <a:extLst>
              <a:ext uri="{FF2B5EF4-FFF2-40B4-BE49-F238E27FC236}">
                <a16:creationId xmlns:a16="http://schemas.microsoft.com/office/drawing/2014/main" id="{39E19F47-20EB-F42A-27E1-3E276C98FF1D}"/>
              </a:ext>
            </a:extLst>
          </p:cNvPr>
          <p:cNvSpPr/>
          <p:nvPr/>
        </p:nvSpPr>
        <p:spPr>
          <a:xfrm>
            <a:off x="9910563" y="7435660"/>
            <a:ext cx="1812374" cy="70085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1" name="IMG: 09">
            <a:extLst>
              <a:ext uri="{FF2B5EF4-FFF2-40B4-BE49-F238E27FC236}">
                <a16:creationId xmlns:a16="http://schemas.microsoft.com/office/drawing/2014/main" id="{097E7E4B-048A-2AD7-9846-5ACFD792DD88}"/>
              </a:ext>
            </a:extLst>
          </p:cNvPr>
          <p:cNvSpPr/>
          <p:nvPr/>
        </p:nvSpPr>
        <p:spPr>
          <a:xfrm>
            <a:off x="9965317" y="6105127"/>
            <a:ext cx="1768570" cy="76108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2" name="IMG: 08">
            <a:extLst>
              <a:ext uri="{FF2B5EF4-FFF2-40B4-BE49-F238E27FC236}">
                <a16:creationId xmlns:a16="http://schemas.microsoft.com/office/drawing/2014/main" id="{2968DF96-5070-2460-F838-825FDB52AB52}"/>
              </a:ext>
            </a:extLst>
          </p:cNvPr>
          <p:cNvSpPr/>
          <p:nvPr/>
        </p:nvSpPr>
        <p:spPr>
          <a:xfrm>
            <a:off x="9955200" y="4802100"/>
            <a:ext cx="1794828" cy="75063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3" name="IMG: 07">
            <a:extLst>
              <a:ext uri="{FF2B5EF4-FFF2-40B4-BE49-F238E27FC236}">
                <a16:creationId xmlns:a16="http://schemas.microsoft.com/office/drawing/2014/main" id="{ADCEB7F9-444A-1FC7-44B3-D28375E113C5}"/>
              </a:ext>
            </a:extLst>
          </p:cNvPr>
          <p:cNvSpPr/>
          <p:nvPr/>
        </p:nvSpPr>
        <p:spPr>
          <a:xfrm>
            <a:off x="9992361" y="2875670"/>
            <a:ext cx="1717972" cy="147385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4" name="IMG: 06">
            <a:extLst>
              <a:ext uri="{FF2B5EF4-FFF2-40B4-BE49-F238E27FC236}">
                <a16:creationId xmlns:a16="http://schemas.microsoft.com/office/drawing/2014/main" id="{721D6BB6-FAF0-4DBD-9CC2-AC0501D1E41B}"/>
              </a:ext>
            </a:extLst>
          </p:cNvPr>
          <p:cNvSpPr/>
          <p:nvPr/>
        </p:nvSpPr>
        <p:spPr>
          <a:xfrm>
            <a:off x="5577840" y="7580300"/>
            <a:ext cx="1735759" cy="7340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5" name="IMG: 05">
            <a:extLst>
              <a:ext uri="{FF2B5EF4-FFF2-40B4-BE49-F238E27FC236}">
                <a16:creationId xmlns:a16="http://schemas.microsoft.com/office/drawing/2014/main" id="{34B7778B-6D49-20CF-242E-669A4EB5353A}"/>
              </a:ext>
            </a:extLst>
          </p:cNvPr>
          <p:cNvSpPr/>
          <p:nvPr/>
        </p:nvSpPr>
        <p:spPr>
          <a:xfrm>
            <a:off x="5599621" y="2719404"/>
            <a:ext cx="1718577" cy="66404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6" name="IMG: 04">
            <a:extLst>
              <a:ext uri="{FF2B5EF4-FFF2-40B4-BE49-F238E27FC236}">
                <a16:creationId xmlns:a16="http://schemas.microsoft.com/office/drawing/2014/main" id="{921FE96D-E275-81CE-C131-CD7235235343}"/>
              </a:ext>
            </a:extLst>
          </p:cNvPr>
          <p:cNvSpPr/>
          <p:nvPr/>
        </p:nvSpPr>
        <p:spPr>
          <a:xfrm>
            <a:off x="2204288" y="7318572"/>
            <a:ext cx="2009396" cy="68242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7" name="IMG: 03">
            <a:extLst>
              <a:ext uri="{FF2B5EF4-FFF2-40B4-BE49-F238E27FC236}">
                <a16:creationId xmlns:a16="http://schemas.microsoft.com/office/drawing/2014/main" id="{32490722-0C63-2B92-5692-CED11B4AA83A}"/>
              </a:ext>
            </a:extLst>
          </p:cNvPr>
          <p:cNvSpPr/>
          <p:nvPr/>
        </p:nvSpPr>
        <p:spPr>
          <a:xfrm>
            <a:off x="2279386" y="6110265"/>
            <a:ext cx="1915713" cy="72147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8" name="IMG: 02">
            <a:extLst>
              <a:ext uri="{FF2B5EF4-FFF2-40B4-BE49-F238E27FC236}">
                <a16:creationId xmlns:a16="http://schemas.microsoft.com/office/drawing/2014/main" id="{9F36BC0E-6770-900D-BA9E-19D5D3593B8D}"/>
              </a:ext>
            </a:extLst>
          </p:cNvPr>
          <p:cNvSpPr/>
          <p:nvPr/>
        </p:nvSpPr>
        <p:spPr>
          <a:xfrm>
            <a:off x="2273735" y="4766597"/>
            <a:ext cx="1928572" cy="8299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9" name="IMG: 01">
            <a:extLst>
              <a:ext uri="{FF2B5EF4-FFF2-40B4-BE49-F238E27FC236}">
                <a16:creationId xmlns:a16="http://schemas.microsoft.com/office/drawing/2014/main" id="{5B7D6CA1-8E70-148E-F336-F770F81B0FAB}"/>
              </a:ext>
            </a:extLst>
          </p:cNvPr>
          <p:cNvSpPr/>
          <p:nvPr/>
        </p:nvSpPr>
        <p:spPr>
          <a:xfrm>
            <a:off x="2288696" y="2864784"/>
            <a:ext cx="1891911" cy="13872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6" name="テキスト ボックス 120">
            <a:extLst>
              <a:ext uri="{FF2B5EF4-FFF2-40B4-BE49-F238E27FC236}">
                <a16:creationId xmlns:a16="http://schemas.microsoft.com/office/drawing/2014/main" id="{430B2F96-44C8-3F66-4639-4DF8877D2E8B}"/>
              </a:ext>
            </a:extLst>
          </p:cNvPr>
          <p:cNvSpPr txBox="1"/>
          <p:nvPr/>
        </p:nvSpPr>
        <p:spPr>
          <a:xfrm>
            <a:off x="9554274" y="4514772"/>
            <a:ext cx="2156058" cy="246221"/>
          </a:xfrm>
          <a:prstGeom prst="rect">
            <a:avLst/>
          </a:prstGeom>
          <a:noFill/>
        </p:spPr>
        <p:txBody>
          <a:bodyPr wrap="square">
            <a:spAutoFit/>
          </a:bodyPr>
          <a:lstStyle/>
          <a:p>
            <a:r>
              <a:rPr lang="ja-JP" altLang="en-US" sz="1000" dirty="0">
                <a:latin typeface="メイリオ" panose="020B0604030504040204" pitchFamily="50" charset="-128"/>
                <a:ea typeface="メイリオ" panose="020B0604030504040204" pitchFamily="50" charset="-128"/>
              </a:rPr>
              <a:t>〇背骨疾患リスク </a:t>
            </a:r>
            <a:r>
              <a:rPr lang="en-US" altLang="ja-JP" sz="1000" dirty="0">
                <a:latin typeface="メイリオ" panose="020B0604030504040204" pitchFamily="50" charset="-128"/>
                <a:ea typeface="メイリオ" panose="020B0604030504040204" pitchFamily="50" charset="-128"/>
              </a:rPr>
              <a:t>(</a:t>
            </a:r>
            <a:r>
              <a:rPr lang="ja-JP" altLang="en-US" sz="1000" dirty="0">
                <a:latin typeface="メイリオ" panose="020B0604030504040204" pitchFamily="50" charset="-128"/>
                <a:ea typeface="メイリオ" panose="020B0604030504040204" pitchFamily="50" charset="-128"/>
              </a:rPr>
              <a:t>骨折</a:t>
            </a:r>
            <a:r>
              <a:rPr lang="en-US" altLang="ja-JP" sz="1000" dirty="0">
                <a:latin typeface="メイリオ" panose="020B0604030504040204" pitchFamily="50" charset="-128"/>
                <a:ea typeface="メイリオ" panose="020B0604030504040204" pitchFamily="50" charset="-128"/>
              </a:rPr>
              <a:t>/</a:t>
            </a:r>
            <a:r>
              <a:rPr lang="ja-JP" altLang="en-US" sz="1000" dirty="0">
                <a:latin typeface="メイリオ" panose="020B0604030504040204" pitchFamily="50" charset="-128"/>
                <a:ea typeface="メイリオ" panose="020B0604030504040204" pitchFamily="50" charset="-128"/>
              </a:rPr>
              <a:t>狭窄</a:t>
            </a:r>
            <a:r>
              <a:rPr lang="en-US" altLang="ja-JP" sz="1000" dirty="0">
                <a:latin typeface="メイリオ" panose="020B0604030504040204" pitchFamily="50" charset="-128"/>
                <a:ea typeface="メイリオ" panose="020B0604030504040204" pitchFamily="50" charset="-128"/>
              </a:rPr>
              <a:t>)</a:t>
            </a:r>
            <a:endParaRPr lang="ja-JP" altLang="en-US" sz="1000" dirty="0">
              <a:latin typeface="メイリオ" panose="020B0604030504040204" pitchFamily="50" charset="-128"/>
              <a:ea typeface="メイリオ" panose="020B0604030504040204" pitchFamily="50" charset="-128"/>
            </a:endParaRPr>
          </a:p>
        </p:txBody>
      </p:sp>
      <p:graphicFrame>
        <p:nvGraphicFramePr>
          <p:cNvPr id="17" name="表 121">
            <a:extLst>
              <a:ext uri="{FF2B5EF4-FFF2-40B4-BE49-F238E27FC236}">
                <a16:creationId xmlns:a16="http://schemas.microsoft.com/office/drawing/2014/main" id="{34D3775E-A776-706C-F955-F6B95F43720C}"/>
              </a:ext>
            </a:extLst>
          </p:cNvPr>
          <p:cNvGraphicFramePr>
            <a:graphicFrameLocks noGrp="1"/>
          </p:cNvGraphicFramePr>
          <p:nvPr>
            <p:extLst>
              <p:ext uri="{D42A27DB-BD31-4B8C-83A1-F6EECF244321}">
                <p14:modId xmlns:p14="http://schemas.microsoft.com/office/powerpoint/2010/main" val="2590370861"/>
              </p:ext>
            </p:extLst>
          </p:nvPr>
        </p:nvGraphicFramePr>
        <p:xfrm>
          <a:off x="8705939" y="4814246"/>
          <a:ext cx="1232734" cy="744116"/>
        </p:xfrm>
        <a:graphic>
          <a:graphicData uri="http://schemas.openxmlformats.org/drawingml/2006/table">
            <a:tbl>
              <a:tblPr firstRow="1" bandRow="1">
                <a:tableStyleId>{8799B23B-EC83-4686-B30A-512413B5E67A}</a:tableStyleId>
              </a:tblPr>
              <a:tblGrid>
                <a:gridCol w="267949">
                  <a:extLst>
                    <a:ext uri="{9D8B030D-6E8A-4147-A177-3AD203B41FA5}">
                      <a16:colId xmlns:a16="http://schemas.microsoft.com/office/drawing/2014/main" val="631247754"/>
                    </a:ext>
                  </a:extLst>
                </a:gridCol>
                <a:gridCol w="964785">
                  <a:extLst>
                    <a:ext uri="{9D8B030D-6E8A-4147-A177-3AD203B41FA5}">
                      <a16:colId xmlns:a16="http://schemas.microsoft.com/office/drawing/2014/main" val="4231436098"/>
                    </a:ext>
                  </a:extLst>
                </a:gridCol>
              </a:tblGrid>
              <a:tr h="744116">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1" lang="ja-JP" altLang="en-US" sz="1100" b="1" i="0" u="none" strike="noStrike" kern="1200" cap="none" spc="0" normalizeH="0" baseline="0" dirty="0">
                          <a:ln>
                            <a:noFill/>
                          </a:ln>
                          <a:solidFill>
                            <a:prstClr val="black"/>
                          </a:solidFill>
                          <a:effectLst/>
                          <a:uLnTx/>
                          <a:uFillTx/>
                          <a:latin typeface="メイリオ" panose="020B0604030504040204" pitchFamily="50" charset="-128"/>
                          <a:ea typeface="メイリオ" panose="020B0604030504040204" pitchFamily="50" charset="-128"/>
                          <a:cs typeface="+mn-cs"/>
                        </a:rPr>
                        <a:t>お尻</a:t>
                      </a:r>
                    </a:p>
                  </a:txBody>
                  <a:tcPr anchor="ctr"/>
                </a:tc>
                <a:tc>
                  <a:txBody>
                    <a:bodyPr/>
                    <a:lstStyle/>
                    <a:p>
                      <a:r>
                        <a:rPr lang="zh-TW" altLang="en-US" sz="1000" b="0" dirty="0">
                          <a:solidFill>
                            <a:srgbClr val="FF0000"/>
                          </a:solidFill>
                          <a:latin typeface="メイリオ" panose="020B0604030504040204" pitchFamily="50" charset="-128"/>
                          <a:ea typeface="メイリオ" panose="020B0604030504040204" pitchFamily="50" charset="-128"/>
                        </a:rPr>
                        <a:t>大</a:t>
                      </a:r>
                      <a:r>
                        <a:rPr lang="ja-JP" altLang="en-US" sz="1000" b="0" dirty="0">
                          <a:solidFill>
                            <a:srgbClr val="FF0000"/>
                          </a:solidFill>
                          <a:latin typeface="メイリオ" panose="020B0604030504040204" pitchFamily="50" charset="-128"/>
                          <a:ea typeface="メイリオ" panose="020B0604030504040204" pitchFamily="50" charset="-128"/>
                        </a:rPr>
                        <a:t>殿筋</a:t>
                      </a:r>
                      <a:endParaRPr lang="en-US" altLang="ja-JP" sz="1000" b="0" dirty="0">
                        <a:solidFill>
                          <a:srgbClr val="FF0000"/>
                        </a:solidFill>
                        <a:latin typeface="メイリオ" panose="020B0604030504040204" pitchFamily="50" charset="-128"/>
                        <a:ea typeface="メイリオ" panose="020B0604030504040204" pitchFamily="50" charset="-128"/>
                      </a:endParaRPr>
                    </a:p>
                    <a:p>
                      <a:r>
                        <a:rPr lang="zh-TW" altLang="en-US" sz="1000" b="0" dirty="0">
                          <a:solidFill>
                            <a:srgbClr val="FF0000"/>
                          </a:solidFill>
                          <a:latin typeface="メイリオ" panose="020B0604030504040204" pitchFamily="50" charset="-128"/>
                          <a:ea typeface="メイリオ" panose="020B0604030504040204" pitchFamily="50" charset="-128"/>
                        </a:rPr>
                        <a:t>中</a:t>
                      </a:r>
                      <a:r>
                        <a:rPr lang="ja-JP" altLang="en-US" sz="1000" b="0" dirty="0">
                          <a:solidFill>
                            <a:srgbClr val="FF0000"/>
                          </a:solidFill>
                          <a:latin typeface="メイリオ" panose="020B0604030504040204" pitchFamily="50" charset="-128"/>
                          <a:ea typeface="メイリオ" panose="020B0604030504040204" pitchFamily="50" charset="-128"/>
                        </a:rPr>
                        <a:t>殿筋</a:t>
                      </a:r>
                      <a:endParaRPr lang="en-US" altLang="ja-JP" sz="1000" b="0" dirty="0">
                        <a:solidFill>
                          <a:srgbClr val="FF0000"/>
                        </a:solidFill>
                        <a:latin typeface="メイリオ" panose="020B0604030504040204" pitchFamily="50" charset="-128"/>
                        <a:ea typeface="メイリオ" panose="020B0604030504040204" pitchFamily="50" charset="-128"/>
                      </a:endParaRPr>
                    </a:p>
                    <a:p>
                      <a:r>
                        <a:rPr lang="zh-TW" altLang="en-US" sz="1000" b="0" dirty="0">
                          <a:solidFill>
                            <a:srgbClr val="FF0000"/>
                          </a:solidFill>
                          <a:latin typeface="メイリオ" panose="020B0604030504040204" pitchFamily="50" charset="-128"/>
                          <a:ea typeface="メイリオ" panose="020B0604030504040204" pitchFamily="50" charset="-128"/>
                        </a:rPr>
                        <a:t>小殿筋</a:t>
                      </a:r>
                      <a:endParaRPr lang="en-US" altLang="zh-TW" sz="1000" b="0" dirty="0">
                        <a:solidFill>
                          <a:srgbClr val="FF0000"/>
                        </a:solidFill>
                        <a:latin typeface="メイリオ" panose="020B0604030504040204" pitchFamily="50" charset="-128"/>
                        <a:ea typeface="メイリオ" panose="020B0604030504040204" pitchFamily="50" charset="-128"/>
                      </a:endParaRPr>
                    </a:p>
                    <a:p>
                      <a:r>
                        <a:rPr lang="zh-TW" altLang="en-US" sz="900" b="0" dirty="0">
                          <a:solidFill>
                            <a:srgbClr val="FF0000"/>
                          </a:solidFill>
                          <a:latin typeface="メイリオ" panose="020B0604030504040204" pitchFamily="50" charset="-128"/>
                          <a:ea typeface="メイリオ" panose="020B0604030504040204" pitchFamily="50" charset="-128"/>
                        </a:rPr>
                        <a:t>大腿筋膜張筋</a:t>
                      </a:r>
                    </a:p>
                  </a:txBody>
                  <a:tcPr anchor="ctr"/>
                </a:tc>
                <a:extLst>
                  <a:ext uri="{0D108BD9-81ED-4DB2-BD59-A6C34878D82A}">
                    <a16:rowId xmlns:a16="http://schemas.microsoft.com/office/drawing/2014/main" val="2017471924"/>
                  </a:ext>
                </a:extLst>
              </a:tr>
            </a:tbl>
          </a:graphicData>
        </a:graphic>
      </p:graphicFrame>
    </p:spTree>
    <p:extLst>
      <p:ext uri="{BB962C8B-B14F-4D97-AF65-F5344CB8AC3E}">
        <p14:creationId xmlns:p14="http://schemas.microsoft.com/office/powerpoint/2010/main" val="278057622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テキスト ボックス 41">
            <a:extLst>
              <a:ext uri="{FF2B5EF4-FFF2-40B4-BE49-F238E27FC236}">
                <a16:creationId xmlns:a16="http://schemas.microsoft.com/office/drawing/2014/main" id="{6B58A8E9-6F04-48E1-B671-603C55DA9669}"/>
              </a:ext>
            </a:extLst>
          </p:cNvPr>
          <p:cNvSpPr txBox="1"/>
          <p:nvPr/>
        </p:nvSpPr>
        <p:spPr>
          <a:xfrm>
            <a:off x="185007" y="690428"/>
            <a:ext cx="12392099" cy="707886"/>
          </a:xfrm>
          <a:prstGeom prst="rect">
            <a:avLst/>
          </a:prstGeom>
          <a:noFill/>
          <a:ln>
            <a:solidFill>
              <a:srgbClr val="002060"/>
            </a:solidFill>
          </a:ln>
        </p:spPr>
        <p:txBody>
          <a:bodyPr wrap="square">
            <a:spAutoFit/>
          </a:bodyPr>
          <a:lstStyle/>
          <a:p>
            <a:r>
              <a:rPr lang="en-US" altLang="ja-JP" sz="1400" b="1" dirty="0">
                <a:latin typeface="メイリオ" panose="020B0604030504040204" pitchFamily="50" charset="-128"/>
                <a:ea typeface="メイリオ" panose="020B0604030504040204" pitchFamily="50" charset="-128"/>
              </a:rPr>
              <a:t>Findings</a:t>
            </a:r>
          </a:p>
          <a:p>
            <a:r>
              <a:rPr lang="en-US" altLang="ja-JP" sz="1400" b="1" dirty="0">
                <a:latin typeface="メイリオ" panose="020B0604030504040204" pitchFamily="50" charset="-128"/>
                <a:ea typeface="メイリオ" panose="020B0604030504040204" pitchFamily="50" charset="-128"/>
              </a:rPr>
              <a:t>	</a:t>
            </a:r>
            <a:r>
              <a:rPr lang="en-US" altLang="ja-JP" sz="1200" dirty="0">
                <a:latin typeface="メイリオ" panose="020B0604030504040204" pitchFamily="50" charset="-128"/>
                <a:ea typeface="メイリオ" panose="020B0604030504040204" pitchFamily="50" charset="-128"/>
              </a:rPr>
              <a:t>{{OBSERVATIONS}}</a:t>
            </a:r>
          </a:p>
          <a:p>
            <a:endParaRPr lang="en-US" altLang="ja-JP" sz="1200" dirty="0">
              <a:latin typeface="メイリオ" panose="020B0604030504040204" pitchFamily="50" charset="-128"/>
              <a:ea typeface="メイリオ" panose="020B0604030504040204" pitchFamily="50" charset="-128"/>
            </a:endParaRPr>
          </a:p>
        </p:txBody>
      </p:sp>
      <p:sp>
        <p:nvSpPr>
          <p:cNvPr id="43" name="テキスト ボックス 42">
            <a:extLst>
              <a:ext uri="{FF2B5EF4-FFF2-40B4-BE49-F238E27FC236}">
                <a16:creationId xmlns:a16="http://schemas.microsoft.com/office/drawing/2014/main" id="{E23FBE1F-1B96-4235-ABE5-DC87006575B8}"/>
              </a:ext>
            </a:extLst>
          </p:cNvPr>
          <p:cNvSpPr txBox="1"/>
          <p:nvPr/>
        </p:nvSpPr>
        <p:spPr>
          <a:xfrm>
            <a:off x="645524" y="197405"/>
            <a:ext cx="4210336" cy="338554"/>
          </a:xfrm>
          <a:prstGeom prst="rect">
            <a:avLst/>
          </a:prstGeom>
          <a:noFill/>
        </p:spPr>
        <p:txBody>
          <a:bodyPr wrap="square" rtlCol="0">
            <a:spAutoFit/>
          </a:bodyPr>
          <a:lstStyle/>
          <a:p>
            <a:r>
              <a:rPr kumimoji="1" lang="en-US" altLang="ja-JP" sz="1600" b="1" dirty="0">
                <a:solidFill>
                  <a:srgbClr val="C00000"/>
                </a:solidFill>
                <a:latin typeface="メイリオ" panose="020B0604030504040204" pitchFamily="50" charset="-128"/>
                <a:ea typeface="メイリオ" panose="020B0604030504040204" pitchFamily="50" charset="-128"/>
              </a:rPr>
              <a:t>Muscle Quality </a:t>
            </a:r>
            <a:r>
              <a:rPr kumimoji="1" lang="en-US" altLang="ja-JP" sz="1400" b="1" dirty="0">
                <a:latin typeface="メイリオ" panose="020B0604030504040204" pitchFamily="50" charset="-128"/>
                <a:ea typeface="メイリオ" panose="020B0604030504040204" pitchFamily="50" charset="-128"/>
              </a:rPr>
              <a:t>Results Summary</a:t>
            </a:r>
            <a:endParaRPr kumimoji="1" lang="ja-JP" altLang="en-US" sz="1400" b="1" dirty="0">
              <a:latin typeface="メイリオ" panose="020B0604030504040204" pitchFamily="50" charset="-128"/>
              <a:ea typeface="メイリオ" panose="020B0604030504040204" pitchFamily="50" charset="-128"/>
            </a:endParaRPr>
          </a:p>
        </p:txBody>
      </p:sp>
      <p:sp>
        <p:nvSpPr>
          <p:cNvPr id="45" name="テキスト ボックス 44">
            <a:extLst>
              <a:ext uri="{FF2B5EF4-FFF2-40B4-BE49-F238E27FC236}">
                <a16:creationId xmlns:a16="http://schemas.microsoft.com/office/drawing/2014/main" id="{30C1F6BC-DFC6-4383-A644-7703B82FB81D}"/>
              </a:ext>
            </a:extLst>
          </p:cNvPr>
          <p:cNvSpPr txBox="1"/>
          <p:nvPr/>
        </p:nvSpPr>
        <p:spPr>
          <a:xfrm>
            <a:off x="175213" y="1527280"/>
            <a:ext cx="12402005" cy="1015663"/>
          </a:xfrm>
          <a:prstGeom prst="rect">
            <a:avLst/>
          </a:prstGeom>
          <a:noFill/>
          <a:ln>
            <a:solidFill>
              <a:srgbClr val="002060"/>
            </a:solidFill>
          </a:ln>
        </p:spPr>
        <p:txBody>
          <a:bodyPr wrap="square">
            <a:spAutoFit/>
          </a:bodyPr>
          <a:lstStyle/>
          <a:p>
            <a:r>
              <a:rPr lang="en-US" altLang="ja-JP" sz="1400" b="1" dirty="0">
                <a:latin typeface="メイリオ" panose="020B0604030504040204" pitchFamily="50" charset="-128"/>
                <a:ea typeface="メイリオ" panose="020B0604030504040204" pitchFamily="50" charset="-128"/>
              </a:rPr>
              <a:t>Understanding your results</a:t>
            </a:r>
          </a:p>
          <a:p>
            <a:pPr marL="596506" lvl="1" indent="-139306">
              <a:buFont typeface="Arial" panose="020B0604020202020204" pitchFamily="34" charset="0"/>
              <a:buChar char="•"/>
            </a:pPr>
            <a:r>
              <a:rPr lang="en-US" altLang="ja-JP" sz="1200" dirty="0">
                <a:latin typeface="メイリオ" panose="020B0604030504040204" pitchFamily="50" charset="-128"/>
                <a:ea typeface="メイリオ" panose="020B0604030504040204" pitchFamily="50" charset="-128"/>
              </a:rPr>
              <a:t>Your </a:t>
            </a:r>
            <a:r>
              <a:rPr lang="en-US" altLang="ja-JP" sz="1200" b="1" dirty="0">
                <a:latin typeface="メイリオ" panose="020B0604030504040204" pitchFamily="50" charset="-128"/>
                <a:ea typeface="メイリオ" panose="020B0604030504040204" pitchFamily="50" charset="-128"/>
              </a:rPr>
              <a:t>muscle quality score </a:t>
            </a:r>
            <a:r>
              <a:rPr lang="en-US" altLang="ja-JP" sz="1200" dirty="0">
                <a:latin typeface="メイリオ" panose="020B0604030504040204" pitchFamily="50" charset="-128"/>
                <a:ea typeface="メイリオ" panose="020B0604030504040204" pitchFamily="50" charset="-128"/>
              </a:rPr>
              <a:t>for each muscle is shown with a </a:t>
            </a:r>
            <a:r>
              <a:rPr lang="en-US" altLang="ja-JP" sz="1200" b="1" dirty="0">
                <a:latin typeface="メイリオ" panose="020B0604030504040204" pitchFamily="50" charset="-128"/>
                <a:ea typeface="メイリオ" panose="020B0604030504040204" pitchFamily="50" charset="-128"/>
              </a:rPr>
              <a:t>★ mark</a:t>
            </a:r>
            <a:r>
              <a:rPr lang="en-US" altLang="ja-JP" sz="1200" dirty="0">
                <a:latin typeface="メイリオ" panose="020B0604030504040204" pitchFamily="50" charset="-128"/>
                <a:ea typeface="メイリオ" panose="020B0604030504040204" pitchFamily="50" charset="-128"/>
              </a:rPr>
              <a:t>. This score reflects the </a:t>
            </a:r>
            <a:r>
              <a:rPr lang="en-US" altLang="ja-JP" sz="1200" b="1" dirty="0">
                <a:latin typeface="メイリオ" panose="020B0604030504040204" pitchFamily="50" charset="-128"/>
                <a:ea typeface="メイリオ" panose="020B0604030504040204" pitchFamily="50" charset="-128"/>
              </a:rPr>
              <a:t>health condition of your muscles</a:t>
            </a:r>
            <a:r>
              <a:rPr lang="en-US" altLang="ja-JP" sz="1200" dirty="0">
                <a:latin typeface="メイリオ" panose="020B0604030504040204" pitchFamily="50" charset="-128"/>
                <a:ea typeface="メイリオ" panose="020B0604030504040204" pitchFamily="50" charset="-128"/>
              </a:rPr>
              <a:t>.</a:t>
            </a:r>
            <a:r>
              <a:rPr lang="ja-JP" altLang="en-US" sz="1200" dirty="0">
                <a:latin typeface="メイリオ" panose="020B0604030504040204" pitchFamily="50" charset="-128"/>
                <a:ea typeface="メイリオ" panose="020B0604030504040204" pitchFamily="50" charset="-128"/>
              </a:rPr>
              <a:t> </a:t>
            </a:r>
            <a:endParaRPr lang="en-US" altLang="ja-JP" sz="1200" dirty="0">
              <a:latin typeface="メイリオ" panose="020B0604030504040204" pitchFamily="50" charset="-128"/>
              <a:ea typeface="メイリオ" panose="020B0604030504040204" pitchFamily="50" charset="-128"/>
            </a:endParaRPr>
          </a:p>
          <a:p>
            <a:pPr marL="1053718" lvl="2" indent="-139306">
              <a:buFont typeface="Arial" panose="020B0604020202020204" pitchFamily="34" charset="0"/>
              <a:buChar char="•"/>
            </a:pPr>
            <a:r>
              <a:rPr lang="en-US" altLang="ja-JP" sz="1100" dirty="0">
                <a:latin typeface="メイリオ" panose="020B0604030504040204" pitchFamily="50" charset="-128"/>
                <a:ea typeface="メイリオ" panose="020B0604030504040204" pitchFamily="50" charset="-128"/>
              </a:rPr>
              <a:t>For each muscle, the colored band shows the normal range for your age and sex, and a ★ mark to the left indicates lower-than-average muscle quality.</a:t>
            </a:r>
          </a:p>
          <a:p>
            <a:pPr marL="596506" lvl="1" indent="-139306">
              <a:buFont typeface="Arial" panose="020B0604020202020204" pitchFamily="34" charset="0"/>
              <a:buChar char="•"/>
            </a:pPr>
            <a:r>
              <a:rPr lang="en-US" altLang="ja-JP" sz="1200" dirty="0">
                <a:latin typeface="メイリオ" panose="020B0604030504040204" pitchFamily="50" charset="-128"/>
                <a:ea typeface="メイリオ" panose="020B0604030504040204" pitchFamily="50" charset="-128"/>
              </a:rPr>
              <a:t>The </a:t>
            </a:r>
            <a:r>
              <a:rPr lang="en-US" altLang="ja-JP" sz="1200" b="1" dirty="0">
                <a:latin typeface="メイリオ" panose="020B0604030504040204" pitchFamily="50" charset="-128"/>
                <a:ea typeface="メイリオ" panose="020B0604030504040204" pitchFamily="50" charset="-128"/>
              </a:rPr>
              <a:t>muscle quality score </a:t>
            </a:r>
            <a:r>
              <a:rPr lang="en-US" altLang="ja-JP" sz="1200" dirty="0">
                <a:latin typeface="メイリオ" panose="020B0604030504040204" pitchFamily="50" charset="-128"/>
                <a:ea typeface="メイリオ" panose="020B0604030504040204" pitchFamily="50" charset="-128"/>
              </a:rPr>
              <a:t>is calculated from </a:t>
            </a:r>
            <a:r>
              <a:rPr lang="en-US" altLang="ja-JP" sz="1200" b="1" dirty="0">
                <a:latin typeface="メイリオ" panose="020B0604030504040204" pitchFamily="50" charset="-128"/>
                <a:ea typeface="メイリオ" panose="020B0604030504040204" pitchFamily="50" charset="-128"/>
              </a:rPr>
              <a:t>CT images </a:t>
            </a:r>
            <a:r>
              <a:rPr lang="en-US" altLang="ja-JP" sz="1200" dirty="0">
                <a:latin typeface="メイリオ" panose="020B0604030504040204" pitchFamily="50" charset="-128"/>
                <a:ea typeface="メイリオ" panose="020B0604030504040204" pitchFamily="50" charset="-128"/>
              </a:rPr>
              <a:t>and shows </a:t>
            </a:r>
            <a:r>
              <a:rPr lang="en-US" altLang="ja-JP" sz="1200" b="1" dirty="0">
                <a:latin typeface="メイリオ" panose="020B0604030504040204" pitchFamily="50" charset="-128"/>
                <a:ea typeface="メイリオ" panose="020B0604030504040204" pitchFamily="50" charset="-128"/>
              </a:rPr>
              <a:t>how much fat is mixed within the muscle.</a:t>
            </a:r>
          </a:p>
          <a:p>
            <a:pPr marL="1053718" lvl="2" indent="-139306">
              <a:buFont typeface="Arial" panose="020B0604020202020204" pitchFamily="34" charset="0"/>
              <a:buChar char="•"/>
            </a:pPr>
            <a:r>
              <a:rPr lang="en-US" altLang="ja-JP" sz="1100" dirty="0">
                <a:latin typeface="メイリオ" panose="020B0604030504040204" pitchFamily="50" charset="-128"/>
                <a:ea typeface="メイリオ" panose="020B0604030504040204" pitchFamily="50" charset="-128"/>
              </a:rPr>
              <a:t>A lower score means more fat in the muscle (sometimes called a “marbled” muscle), which may reduce strength and increase the risk of falls or fractures.</a:t>
            </a:r>
          </a:p>
        </p:txBody>
      </p:sp>
      <p:sp>
        <p:nvSpPr>
          <p:cNvPr id="47" name="テキスト ボックス 46">
            <a:extLst>
              <a:ext uri="{FF2B5EF4-FFF2-40B4-BE49-F238E27FC236}">
                <a16:creationId xmlns:a16="http://schemas.microsoft.com/office/drawing/2014/main" id="{45FBF326-3E42-40C4-8E2A-483A9F689195}"/>
              </a:ext>
            </a:extLst>
          </p:cNvPr>
          <p:cNvSpPr txBox="1"/>
          <p:nvPr/>
        </p:nvSpPr>
        <p:spPr>
          <a:xfrm>
            <a:off x="5785371" y="5515140"/>
            <a:ext cx="1185793" cy="397032"/>
          </a:xfrm>
          <a:prstGeom prst="rect">
            <a:avLst/>
          </a:prstGeom>
          <a:noFill/>
        </p:spPr>
        <p:txBody>
          <a:bodyPr wrap="square" rtlCol="0">
            <a:spAutoFit/>
          </a:bodyPr>
          <a:lstStyle/>
          <a:p>
            <a:pPr algn="ctr">
              <a:lnSpc>
                <a:spcPct val="80000"/>
              </a:lnSpc>
            </a:pPr>
            <a:r>
              <a:rPr kumimoji="1" lang="en-US" altLang="ja-JP" sz="1200" b="1" dirty="0">
                <a:latin typeface="メイリオ" panose="020B0604030504040204" pitchFamily="50" charset="-128"/>
                <a:ea typeface="メイリオ" panose="020B0604030504040204" pitchFamily="50" charset="-128"/>
              </a:rPr>
              <a:t>Deep muscles</a:t>
            </a:r>
            <a:endParaRPr kumimoji="1" lang="ja-JP" altLang="en-US" sz="1200" b="1" dirty="0">
              <a:latin typeface="メイリオ" panose="020B0604030504040204" pitchFamily="50" charset="-128"/>
              <a:ea typeface="メイリオ" panose="020B0604030504040204" pitchFamily="50" charset="-128"/>
            </a:endParaRPr>
          </a:p>
        </p:txBody>
      </p:sp>
      <p:sp>
        <p:nvSpPr>
          <p:cNvPr id="48" name="テキスト ボックス 47">
            <a:extLst>
              <a:ext uri="{FF2B5EF4-FFF2-40B4-BE49-F238E27FC236}">
                <a16:creationId xmlns:a16="http://schemas.microsoft.com/office/drawing/2014/main" id="{3D2032BD-8774-416E-AFEE-827E56F888CD}"/>
              </a:ext>
            </a:extLst>
          </p:cNvPr>
          <p:cNvSpPr txBox="1"/>
          <p:nvPr/>
        </p:nvSpPr>
        <p:spPr>
          <a:xfrm>
            <a:off x="6486728" y="4032478"/>
            <a:ext cx="1624176" cy="276999"/>
          </a:xfrm>
          <a:prstGeom prst="rect">
            <a:avLst/>
          </a:prstGeom>
          <a:noFill/>
        </p:spPr>
        <p:txBody>
          <a:bodyPr wrap="square" rtlCol="0">
            <a:spAutoFit/>
          </a:bodyPr>
          <a:lstStyle/>
          <a:p>
            <a:pPr algn="ctr"/>
            <a:r>
              <a:rPr lang="en-US" altLang="ja-JP" sz="1200" b="1" dirty="0">
                <a:latin typeface="メイリオ" panose="020B0604030504040204" pitchFamily="50" charset="-128"/>
                <a:ea typeface="メイリオ" panose="020B0604030504040204" pitchFamily="50" charset="-128"/>
              </a:rPr>
              <a:t>Posterior muscles</a:t>
            </a:r>
            <a:endParaRPr kumimoji="1" lang="ja-JP" altLang="en-US" sz="1200" b="1" dirty="0">
              <a:latin typeface="メイリオ" panose="020B0604030504040204" pitchFamily="50" charset="-128"/>
              <a:ea typeface="メイリオ" panose="020B0604030504040204" pitchFamily="50" charset="-128"/>
            </a:endParaRPr>
          </a:p>
        </p:txBody>
      </p:sp>
      <p:sp>
        <p:nvSpPr>
          <p:cNvPr id="49" name="テキスト ボックス 48">
            <a:extLst>
              <a:ext uri="{FF2B5EF4-FFF2-40B4-BE49-F238E27FC236}">
                <a16:creationId xmlns:a16="http://schemas.microsoft.com/office/drawing/2014/main" id="{56C6CEDB-01BD-49B0-A007-78947852A564}"/>
              </a:ext>
            </a:extLst>
          </p:cNvPr>
          <p:cNvSpPr txBox="1"/>
          <p:nvPr/>
        </p:nvSpPr>
        <p:spPr>
          <a:xfrm>
            <a:off x="4596404" y="4012291"/>
            <a:ext cx="1619378" cy="276999"/>
          </a:xfrm>
          <a:prstGeom prst="rect">
            <a:avLst/>
          </a:prstGeom>
          <a:noFill/>
        </p:spPr>
        <p:txBody>
          <a:bodyPr wrap="square" rtlCol="0">
            <a:spAutoFit/>
          </a:bodyPr>
          <a:lstStyle/>
          <a:p>
            <a:pPr algn="ctr"/>
            <a:r>
              <a:rPr lang="en-US" altLang="ja-JP" sz="1200" b="1" dirty="0">
                <a:latin typeface="メイリオ" panose="020B0604030504040204" pitchFamily="50" charset="-128"/>
                <a:ea typeface="メイリオ" panose="020B0604030504040204" pitchFamily="50" charset="-128"/>
              </a:rPr>
              <a:t>Anterior muscles</a:t>
            </a:r>
            <a:endParaRPr kumimoji="1" lang="ja-JP" altLang="en-US" sz="1200" b="1" dirty="0">
              <a:latin typeface="メイリオ" panose="020B0604030504040204" pitchFamily="50" charset="-128"/>
              <a:ea typeface="メイリオ" panose="020B0604030504040204" pitchFamily="50" charset="-128"/>
            </a:endParaRPr>
          </a:p>
        </p:txBody>
      </p:sp>
      <p:sp>
        <p:nvSpPr>
          <p:cNvPr id="50" name="楕円 49">
            <a:extLst>
              <a:ext uri="{FF2B5EF4-FFF2-40B4-BE49-F238E27FC236}">
                <a16:creationId xmlns:a16="http://schemas.microsoft.com/office/drawing/2014/main" id="{DAD5D763-463A-4A2C-BFD8-78B83F9A7EA0}"/>
              </a:ext>
            </a:extLst>
          </p:cNvPr>
          <p:cNvSpPr/>
          <p:nvPr/>
        </p:nvSpPr>
        <p:spPr>
          <a:xfrm>
            <a:off x="5448378" y="5066391"/>
            <a:ext cx="278741" cy="423579"/>
          </a:xfrm>
          <a:prstGeom prst="ellipse">
            <a:avLst/>
          </a:prstGeom>
          <a:noFill/>
          <a:ln w="9525">
            <a:solidFill>
              <a:srgbClr val="00206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51" name="矢印: 上 50">
            <a:extLst>
              <a:ext uri="{FF2B5EF4-FFF2-40B4-BE49-F238E27FC236}">
                <a16:creationId xmlns:a16="http://schemas.microsoft.com/office/drawing/2014/main" id="{3A703B42-0A66-4E76-A84F-9E5A88F42BA2}"/>
              </a:ext>
            </a:extLst>
          </p:cNvPr>
          <p:cNvSpPr/>
          <p:nvPr/>
        </p:nvSpPr>
        <p:spPr>
          <a:xfrm rot="18006218" flipH="1">
            <a:off x="4546789" y="3859236"/>
            <a:ext cx="173687" cy="978618"/>
          </a:xfrm>
          <a:prstGeom prst="upArrow">
            <a:avLst>
              <a:gd name="adj1" fmla="val 37275"/>
              <a:gd name="adj2" fmla="val 94537"/>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52" name="矢印: 上 51">
            <a:extLst>
              <a:ext uri="{FF2B5EF4-FFF2-40B4-BE49-F238E27FC236}">
                <a16:creationId xmlns:a16="http://schemas.microsoft.com/office/drawing/2014/main" id="{A2B87521-D875-4DB6-BAC0-1FA6F509025C}"/>
              </a:ext>
            </a:extLst>
          </p:cNvPr>
          <p:cNvSpPr/>
          <p:nvPr/>
        </p:nvSpPr>
        <p:spPr>
          <a:xfrm rot="14367962" flipH="1">
            <a:off x="4572259" y="5635691"/>
            <a:ext cx="189811" cy="1027343"/>
          </a:xfrm>
          <a:prstGeom prst="upArrow">
            <a:avLst>
              <a:gd name="adj1" fmla="val 31066"/>
              <a:gd name="adj2" fmla="val 83488"/>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53" name="矢印: 上 52">
            <a:extLst>
              <a:ext uri="{FF2B5EF4-FFF2-40B4-BE49-F238E27FC236}">
                <a16:creationId xmlns:a16="http://schemas.microsoft.com/office/drawing/2014/main" id="{4CFCD161-3D2F-40A6-9091-BBC1CB5416E1}"/>
              </a:ext>
            </a:extLst>
          </p:cNvPr>
          <p:cNvSpPr/>
          <p:nvPr/>
        </p:nvSpPr>
        <p:spPr>
          <a:xfrm rot="13793996" flipH="1">
            <a:off x="4587991" y="6492373"/>
            <a:ext cx="236494" cy="1157419"/>
          </a:xfrm>
          <a:prstGeom prst="upArrow">
            <a:avLst>
              <a:gd name="adj1" fmla="val 28572"/>
              <a:gd name="adj2" fmla="val 91392"/>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55" name="矢印: 上 54">
            <a:extLst>
              <a:ext uri="{FF2B5EF4-FFF2-40B4-BE49-F238E27FC236}">
                <a16:creationId xmlns:a16="http://schemas.microsoft.com/office/drawing/2014/main" id="{2AACCFE0-B00E-496A-A77F-B48A48D7B02E}"/>
              </a:ext>
            </a:extLst>
          </p:cNvPr>
          <p:cNvSpPr/>
          <p:nvPr/>
        </p:nvSpPr>
        <p:spPr>
          <a:xfrm rot="15931656" flipH="1">
            <a:off x="4731573" y="4726020"/>
            <a:ext cx="180570" cy="1180113"/>
          </a:xfrm>
          <a:prstGeom prst="upArrow">
            <a:avLst>
              <a:gd name="adj1" fmla="val 37996"/>
              <a:gd name="adj2" fmla="val 80009"/>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56" name="矢印: 上 55">
            <a:extLst>
              <a:ext uri="{FF2B5EF4-FFF2-40B4-BE49-F238E27FC236}">
                <a16:creationId xmlns:a16="http://schemas.microsoft.com/office/drawing/2014/main" id="{28E6489F-3293-4DAF-BB53-A59EF0219A0D}"/>
              </a:ext>
            </a:extLst>
          </p:cNvPr>
          <p:cNvSpPr/>
          <p:nvPr/>
        </p:nvSpPr>
        <p:spPr>
          <a:xfrm rot="3496225">
            <a:off x="8005060" y="3805047"/>
            <a:ext cx="205315" cy="1101344"/>
          </a:xfrm>
          <a:prstGeom prst="upArrow">
            <a:avLst>
              <a:gd name="adj1" fmla="val 32758"/>
              <a:gd name="adj2" fmla="val 96096"/>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57" name="矢印: 上 56">
            <a:extLst>
              <a:ext uri="{FF2B5EF4-FFF2-40B4-BE49-F238E27FC236}">
                <a16:creationId xmlns:a16="http://schemas.microsoft.com/office/drawing/2014/main" id="{809A1C8F-1CDB-42D7-8562-38E967FB4874}"/>
              </a:ext>
            </a:extLst>
          </p:cNvPr>
          <p:cNvSpPr/>
          <p:nvPr/>
        </p:nvSpPr>
        <p:spPr>
          <a:xfrm rot="5915836">
            <a:off x="7996432" y="4918652"/>
            <a:ext cx="216315" cy="1030208"/>
          </a:xfrm>
          <a:prstGeom prst="upArrow">
            <a:avLst>
              <a:gd name="adj1" fmla="val 31681"/>
              <a:gd name="adj2" fmla="val 101903"/>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solidFill>
                <a:schemeClr val="tx1"/>
              </a:solidFill>
            </a:endParaRPr>
          </a:p>
        </p:txBody>
      </p:sp>
      <p:sp>
        <p:nvSpPr>
          <p:cNvPr id="58" name="矢印: 上 57">
            <a:extLst>
              <a:ext uri="{FF2B5EF4-FFF2-40B4-BE49-F238E27FC236}">
                <a16:creationId xmlns:a16="http://schemas.microsoft.com/office/drawing/2014/main" id="{0042D3E8-791F-4C2D-B0A1-5C9474BF7ADF}"/>
              </a:ext>
            </a:extLst>
          </p:cNvPr>
          <p:cNvSpPr/>
          <p:nvPr/>
        </p:nvSpPr>
        <p:spPr>
          <a:xfrm rot="7671784">
            <a:off x="8007058" y="6427374"/>
            <a:ext cx="174184" cy="1286081"/>
          </a:xfrm>
          <a:prstGeom prst="upArrow">
            <a:avLst>
              <a:gd name="adj1" fmla="val 38500"/>
              <a:gd name="adj2" fmla="val 101834"/>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solidFill>
                <a:schemeClr val="tx1"/>
              </a:solidFill>
            </a:endParaRPr>
          </a:p>
        </p:txBody>
      </p:sp>
      <p:sp>
        <p:nvSpPr>
          <p:cNvPr id="59" name="矢印: 上 58">
            <a:extLst>
              <a:ext uri="{FF2B5EF4-FFF2-40B4-BE49-F238E27FC236}">
                <a16:creationId xmlns:a16="http://schemas.microsoft.com/office/drawing/2014/main" id="{D31160A7-32C5-4E43-8C4B-7A3D4B20B5E8}"/>
              </a:ext>
            </a:extLst>
          </p:cNvPr>
          <p:cNvSpPr/>
          <p:nvPr/>
        </p:nvSpPr>
        <p:spPr>
          <a:xfrm rot="6540629">
            <a:off x="8031413" y="5725794"/>
            <a:ext cx="202627" cy="1086912"/>
          </a:xfrm>
          <a:prstGeom prst="upArrow">
            <a:avLst>
              <a:gd name="adj1" fmla="val 32666"/>
              <a:gd name="adj2" fmla="val 104576"/>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solidFill>
                <a:schemeClr val="tx1"/>
              </a:solidFill>
            </a:endParaRPr>
          </a:p>
        </p:txBody>
      </p:sp>
      <p:sp>
        <p:nvSpPr>
          <p:cNvPr id="63" name="テキスト ボックス 62">
            <a:extLst>
              <a:ext uri="{FF2B5EF4-FFF2-40B4-BE49-F238E27FC236}">
                <a16:creationId xmlns:a16="http://schemas.microsoft.com/office/drawing/2014/main" id="{70557EF8-D01E-4E88-AD0E-9267E7A201C3}"/>
              </a:ext>
            </a:extLst>
          </p:cNvPr>
          <p:cNvSpPr txBox="1"/>
          <p:nvPr/>
        </p:nvSpPr>
        <p:spPr>
          <a:xfrm>
            <a:off x="46203" y="8925321"/>
            <a:ext cx="10517184" cy="600164"/>
          </a:xfrm>
          <a:prstGeom prst="rect">
            <a:avLst/>
          </a:prstGeom>
          <a:noFill/>
          <a:ln>
            <a:noFill/>
          </a:ln>
        </p:spPr>
        <p:txBody>
          <a:bodyPr wrap="square">
            <a:spAutoFit/>
          </a:bodyPr>
          <a:lstStyle/>
          <a:p>
            <a:r>
              <a:rPr lang="en-US" altLang="ja-JP" sz="1100" dirty="0">
                <a:latin typeface="メイリオ" panose="020B0604030504040204" pitchFamily="50" charset="-128"/>
                <a:ea typeface="メイリオ" panose="020B0604030504040204" pitchFamily="50" charset="-128"/>
              </a:rPr>
              <a:t>The relationship between each muscle and the risk of falls</a:t>
            </a:r>
            <a:r>
              <a:rPr lang="ja-JP" altLang="en-US" sz="1100" dirty="0">
                <a:latin typeface="メイリオ" panose="020B0604030504040204" pitchFamily="50" charset="-128"/>
                <a:ea typeface="メイリオ" panose="020B0604030504040204" pitchFamily="50" charset="-128"/>
              </a:rPr>
              <a:t> </a:t>
            </a:r>
            <a:r>
              <a:rPr lang="en-US" altLang="ja-JP" sz="1100" dirty="0">
                <a:latin typeface="メイリオ" panose="020B0604030504040204" pitchFamily="50" charset="-128"/>
                <a:ea typeface="メイリオ" panose="020B0604030504040204" pitchFamily="50" charset="-128"/>
              </a:rPr>
              <a:t>and fractures is shown as: +++</a:t>
            </a:r>
            <a:r>
              <a:rPr lang="en-US" altLang="ja-JP" sz="1100" b="1" dirty="0">
                <a:latin typeface="メイリオ" panose="020B0604030504040204" pitchFamily="50" charset="-128"/>
                <a:ea typeface="メイリオ" panose="020B0604030504040204" pitchFamily="50" charset="-128"/>
              </a:rPr>
              <a:t> strong,  </a:t>
            </a:r>
            <a:r>
              <a:rPr lang="en-US" altLang="ja-JP" sz="1100" dirty="0">
                <a:latin typeface="メイリオ" panose="020B0604030504040204" pitchFamily="50" charset="-128"/>
                <a:ea typeface="メイリオ" panose="020B0604030504040204" pitchFamily="50" charset="-128"/>
              </a:rPr>
              <a:t>++ </a:t>
            </a:r>
            <a:r>
              <a:rPr lang="en-US" altLang="ja-JP" sz="1100" b="1" dirty="0">
                <a:latin typeface="メイリオ" panose="020B0604030504040204" pitchFamily="50" charset="-128"/>
                <a:ea typeface="メイリオ" panose="020B0604030504040204" pitchFamily="50" charset="-128"/>
              </a:rPr>
              <a:t>moderate,  </a:t>
            </a:r>
            <a:r>
              <a:rPr lang="en-US" altLang="ja-JP" sz="1100" dirty="0">
                <a:latin typeface="メイリオ" panose="020B0604030504040204" pitchFamily="50" charset="-128"/>
                <a:ea typeface="メイリオ" panose="020B0604030504040204" pitchFamily="50" charset="-128"/>
              </a:rPr>
              <a:t>+ </a:t>
            </a:r>
            <a:r>
              <a:rPr lang="en-US" altLang="ja-JP" sz="1100" b="1" dirty="0">
                <a:latin typeface="メイリオ" panose="020B0604030504040204" pitchFamily="50" charset="-128"/>
                <a:ea typeface="メイリオ" panose="020B0604030504040204" pitchFamily="50" charset="-128"/>
              </a:rPr>
              <a:t>indirect</a:t>
            </a:r>
            <a:r>
              <a:rPr lang="en-US" altLang="ja-JP" sz="1100" dirty="0">
                <a:latin typeface="メイリオ" panose="020B0604030504040204" pitchFamily="50" charset="-128"/>
                <a:ea typeface="メイリオ" panose="020B0604030504040204" pitchFamily="50" charset="-128"/>
              </a:rPr>
              <a:t>. These risk levels are based on our own research and are provided </a:t>
            </a:r>
            <a:r>
              <a:rPr lang="en-US" altLang="ja-JP" sz="1100" b="1" dirty="0">
                <a:latin typeface="メイリオ" panose="020B0604030504040204" pitchFamily="50" charset="-128"/>
                <a:ea typeface="メイリオ" panose="020B0604030504040204" pitchFamily="50" charset="-128"/>
              </a:rPr>
              <a:t>for reference only</a:t>
            </a:r>
            <a:r>
              <a:rPr lang="en-US" altLang="ja-JP" sz="1100" dirty="0">
                <a:latin typeface="メイリオ" panose="020B0604030504040204" pitchFamily="50" charset="-128"/>
                <a:ea typeface="メイリオ" panose="020B0604030504040204" pitchFamily="50" charset="-128"/>
              </a:rPr>
              <a:t>. </a:t>
            </a:r>
            <a:r>
              <a:rPr lang="en-US" altLang="ja-JP" sz="1100" i="1" dirty="0">
                <a:latin typeface="メイリオ" panose="020B0604030504040204" pitchFamily="50" charset="-128"/>
                <a:ea typeface="メイリオ" panose="020B0604030504040204" pitchFamily="50" charset="-128"/>
              </a:rPr>
              <a:t>Knee OA</a:t>
            </a:r>
            <a:r>
              <a:rPr lang="en-US" altLang="ja-JP" sz="1100" dirty="0">
                <a:latin typeface="メイリオ" panose="020B0604030504040204" pitchFamily="50" charset="-128"/>
                <a:ea typeface="メイリオ" panose="020B0604030504040204" pitchFamily="50" charset="-128"/>
              </a:rPr>
              <a:t> refers to </a:t>
            </a:r>
            <a:r>
              <a:rPr lang="en-US" altLang="ja-JP" sz="1100" b="1" dirty="0">
                <a:latin typeface="メイリオ" panose="020B0604030504040204" pitchFamily="50" charset="-128"/>
                <a:ea typeface="メイリオ" panose="020B0604030504040204" pitchFamily="50" charset="-128"/>
              </a:rPr>
              <a:t>knee osteoarthritis</a:t>
            </a:r>
            <a:r>
              <a:rPr lang="en-US" altLang="ja-JP" sz="1100" dirty="0">
                <a:latin typeface="メイリオ" panose="020B0604030504040204" pitchFamily="50" charset="-128"/>
                <a:ea typeface="メイリオ" panose="020B0604030504040204" pitchFamily="50" charset="-128"/>
              </a:rPr>
              <a:t>, a condition in which knee cartilage wears down, causing pain or deformity. Reduced muscle quality is thought to be related to its onset and progression.</a:t>
            </a:r>
          </a:p>
        </p:txBody>
      </p:sp>
      <p:sp>
        <p:nvSpPr>
          <p:cNvPr id="76" name="矢印: 上 75">
            <a:extLst>
              <a:ext uri="{FF2B5EF4-FFF2-40B4-BE49-F238E27FC236}">
                <a16:creationId xmlns:a16="http://schemas.microsoft.com/office/drawing/2014/main" id="{6446311F-E5CE-4308-9088-B2C2582B40E2}"/>
              </a:ext>
            </a:extLst>
          </p:cNvPr>
          <p:cNvSpPr/>
          <p:nvPr/>
        </p:nvSpPr>
        <p:spPr>
          <a:xfrm flipV="1">
            <a:off x="6288045" y="6397279"/>
            <a:ext cx="191964" cy="1130770"/>
          </a:xfrm>
          <a:prstGeom prst="upArrow">
            <a:avLst>
              <a:gd name="adj1" fmla="val 42782"/>
              <a:gd name="adj2" fmla="val 95673"/>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61" name="矢印: 上 60">
            <a:extLst>
              <a:ext uri="{FF2B5EF4-FFF2-40B4-BE49-F238E27FC236}">
                <a16:creationId xmlns:a16="http://schemas.microsoft.com/office/drawing/2014/main" id="{D7883AEC-383F-4A5C-B2C4-21FDFF2E9956}"/>
              </a:ext>
            </a:extLst>
          </p:cNvPr>
          <p:cNvSpPr/>
          <p:nvPr/>
        </p:nvSpPr>
        <p:spPr>
          <a:xfrm>
            <a:off x="6288046" y="3794483"/>
            <a:ext cx="191964" cy="994103"/>
          </a:xfrm>
          <a:prstGeom prst="upArrow">
            <a:avLst>
              <a:gd name="adj1" fmla="val 42782"/>
              <a:gd name="adj2" fmla="val 95673"/>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74" name="テキスト ボックス 73">
            <a:extLst>
              <a:ext uri="{FF2B5EF4-FFF2-40B4-BE49-F238E27FC236}">
                <a16:creationId xmlns:a16="http://schemas.microsoft.com/office/drawing/2014/main" id="{EF4B2233-5F99-4A1C-BB9C-DB247B415A19}"/>
              </a:ext>
            </a:extLst>
          </p:cNvPr>
          <p:cNvSpPr txBox="1"/>
          <p:nvPr/>
        </p:nvSpPr>
        <p:spPr>
          <a:xfrm>
            <a:off x="4166763" y="250107"/>
            <a:ext cx="8410342" cy="769441"/>
          </a:xfrm>
          <a:prstGeom prst="rect">
            <a:avLst/>
          </a:prstGeom>
          <a:noFill/>
        </p:spPr>
        <p:txBody>
          <a:bodyPr wrap="square" rtlCol="0">
            <a:spAutoFit/>
          </a:bodyPr>
          <a:lstStyle/>
          <a:p>
            <a:pPr algn="r"/>
            <a:r>
              <a:rPr kumimoji="1" lang="en-US" altLang="ja-JP" sz="1100" dirty="0">
                <a:latin typeface="メイリオ" panose="020B0604030504040204" pitchFamily="50" charset="-128"/>
                <a:ea typeface="メイリオ" panose="020B0604030504040204" pitchFamily="50" charset="-128"/>
              </a:rPr>
              <a:t>Name: {{NAME}}, {{SEX}}, Date of Birth (YYYY/MM/DD): {{BIRTH_YEAR}}/{{BIRTH_MONTH}}/{{BIRTH_DAY}},  Height: {{HEIGHT}}cm, Weight: {{WEIGHT}}kg, </a:t>
            </a:r>
          </a:p>
          <a:p>
            <a:pPr algn="r"/>
            <a:r>
              <a:rPr kumimoji="1" lang="en-US" altLang="ja-JP" sz="1100" dirty="0">
                <a:latin typeface="メイリオ" panose="020B0604030504040204" pitchFamily="50" charset="-128"/>
                <a:ea typeface="メイリオ" panose="020B0604030504040204" pitchFamily="50" charset="-128"/>
              </a:rPr>
              <a:t>Age at Measurement:</a:t>
            </a:r>
            <a:r>
              <a:rPr kumimoji="1" lang="ja-JP" altLang="en-US" sz="1100" dirty="0">
                <a:latin typeface="メイリオ" panose="020B0604030504040204" pitchFamily="50" charset="-128"/>
                <a:ea typeface="メイリオ" panose="020B0604030504040204" pitchFamily="50" charset="-128"/>
              </a:rPr>
              <a:t> </a:t>
            </a:r>
            <a:r>
              <a:rPr kumimoji="1" lang="en-US" altLang="ja-JP" sz="1100" dirty="0">
                <a:latin typeface="メイリオ" panose="020B0604030504040204" pitchFamily="50" charset="-128"/>
                <a:ea typeface="メイリオ" panose="020B0604030504040204" pitchFamily="50" charset="-128"/>
              </a:rPr>
              <a:t>{{AGE}},</a:t>
            </a:r>
            <a:r>
              <a:rPr kumimoji="1" lang="ja-JP" altLang="en-US" sz="1100" dirty="0">
                <a:latin typeface="メイリオ" panose="020B0604030504040204" pitchFamily="50" charset="-128"/>
                <a:ea typeface="メイリオ" panose="020B0604030504040204" pitchFamily="50" charset="-128"/>
              </a:rPr>
              <a:t> </a:t>
            </a:r>
            <a:r>
              <a:rPr kumimoji="1" lang="en-US" altLang="ja-JP" sz="1100" dirty="0">
                <a:latin typeface="メイリオ" panose="020B0604030504040204" pitchFamily="50" charset="-128"/>
                <a:ea typeface="メイリオ" panose="020B0604030504040204" pitchFamily="50" charset="-128"/>
              </a:rPr>
              <a:t>Measurement Date:</a:t>
            </a:r>
            <a:r>
              <a:rPr kumimoji="1" lang="ja-JP" altLang="en-US" sz="1100" dirty="0">
                <a:latin typeface="メイリオ" panose="020B0604030504040204" pitchFamily="50" charset="-128"/>
                <a:ea typeface="メイリオ" panose="020B0604030504040204" pitchFamily="50" charset="-128"/>
              </a:rPr>
              <a:t> </a:t>
            </a:r>
            <a:r>
              <a:rPr kumimoji="1" lang="en-US" altLang="ja-JP" sz="1100" dirty="0">
                <a:latin typeface="メイリオ" panose="020B0604030504040204" pitchFamily="50" charset="-128"/>
                <a:ea typeface="メイリオ" panose="020B0604030504040204" pitchFamily="50" charset="-128"/>
              </a:rPr>
              <a:t>{{SHOOTING_YEAR}}/{{SHOOTING_MONTH}}/{{SHOOTING_DAY}}</a:t>
            </a:r>
            <a:endParaRPr kumimoji="1" lang="ja-JP" altLang="en-US" sz="1100" dirty="0">
              <a:latin typeface="メイリオ" panose="020B0604030504040204" pitchFamily="50" charset="-128"/>
              <a:ea typeface="メイリオ" panose="020B0604030504040204" pitchFamily="50" charset="-128"/>
            </a:endParaRPr>
          </a:p>
        </p:txBody>
      </p:sp>
      <p:sp>
        <p:nvSpPr>
          <p:cNvPr id="2" name="スライド番号プレースホルダー 1">
            <a:extLst>
              <a:ext uri="{FF2B5EF4-FFF2-40B4-BE49-F238E27FC236}">
                <a16:creationId xmlns:a16="http://schemas.microsoft.com/office/drawing/2014/main" id="{9D89FA5C-D34E-41F5-B1A4-822D9417154D}"/>
              </a:ext>
            </a:extLst>
          </p:cNvPr>
          <p:cNvSpPr>
            <a:spLocks noGrp="1"/>
          </p:cNvSpPr>
          <p:nvPr>
            <p:ph type="sldNum" sz="quarter" idx="12"/>
          </p:nvPr>
        </p:nvSpPr>
        <p:spPr/>
        <p:txBody>
          <a:bodyPr/>
          <a:lstStyle/>
          <a:p>
            <a:fld id="{AD811822-4739-4079-91F6-9F51ED4B0761}" type="slidenum">
              <a:rPr kumimoji="1" lang="ja-JP" altLang="en-US" smtClean="0"/>
              <a:t>4</a:t>
            </a:fld>
            <a:endParaRPr kumimoji="1" lang="ja-JP" altLang="en-US"/>
          </a:p>
        </p:txBody>
      </p:sp>
      <p:sp>
        <p:nvSpPr>
          <p:cNvPr id="75" name="四角形: 角を丸くする 74">
            <a:extLst>
              <a:ext uri="{FF2B5EF4-FFF2-40B4-BE49-F238E27FC236}">
                <a16:creationId xmlns:a16="http://schemas.microsoft.com/office/drawing/2014/main" id="{98E5C84A-188F-4DD2-A2C9-3C6B3FA8B9CB}"/>
              </a:ext>
            </a:extLst>
          </p:cNvPr>
          <p:cNvSpPr/>
          <p:nvPr/>
        </p:nvSpPr>
        <p:spPr>
          <a:xfrm>
            <a:off x="29200" y="2830544"/>
            <a:ext cx="4193298" cy="1805010"/>
          </a:xfrm>
          <a:prstGeom prst="roundRect">
            <a:avLst>
              <a:gd name="adj" fmla="val 4247"/>
            </a:avLst>
          </a:prstGeom>
          <a:no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77" name="四角形: 角を丸くする 76">
            <a:extLst>
              <a:ext uri="{FF2B5EF4-FFF2-40B4-BE49-F238E27FC236}">
                <a16:creationId xmlns:a16="http://schemas.microsoft.com/office/drawing/2014/main" id="{EDE4DAA3-A33B-4E7A-8DA5-E1A6DEB308D1}"/>
              </a:ext>
            </a:extLst>
          </p:cNvPr>
          <p:cNvSpPr/>
          <p:nvPr/>
        </p:nvSpPr>
        <p:spPr>
          <a:xfrm>
            <a:off x="36195" y="4708216"/>
            <a:ext cx="4195356" cy="1253539"/>
          </a:xfrm>
          <a:prstGeom prst="roundRect">
            <a:avLst>
              <a:gd name="adj" fmla="val 4247"/>
            </a:avLst>
          </a:prstGeom>
          <a:no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78" name="四角形: 角を丸くする 77">
            <a:extLst>
              <a:ext uri="{FF2B5EF4-FFF2-40B4-BE49-F238E27FC236}">
                <a16:creationId xmlns:a16="http://schemas.microsoft.com/office/drawing/2014/main" id="{256DF101-1A14-4A5E-84EB-9674C3FB0AF9}"/>
              </a:ext>
            </a:extLst>
          </p:cNvPr>
          <p:cNvSpPr/>
          <p:nvPr/>
        </p:nvSpPr>
        <p:spPr>
          <a:xfrm>
            <a:off x="36811" y="7287093"/>
            <a:ext cx="4200708" cy="1116611"/>
          </a:xfrm>
          <a:prstGeom prst="roundRect">
            <a:avLst>
              <a:gd name="adj" fmla="val 4247"/>
            </a:avLst>
          </a:prstGeom>
          <a:no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80" name="四角形: 角を丸くする 79">
            <a:extLst>
              <a:ext uri="{FF2B5EF4-FFF2-40B4-BE49-F238E27FC236}">
                <a16:creationId xmlns:a16="http://schemas.microsoft.com/office/drawing/2014/main" id="{EE03E924-A7E3-4556-A6E5-E96F1C31B273}"/>
              </a:ext>
            </a:extLst>
          </p:cNvPr>
          <p:cNvSpPr/>
          <p:nvPr/>
        </p:nvSpPr>
        <p:spPr>
          <a:xfrm>
            <a:off x="36195" y="6084863"/>
            <a:ext cx="4186303" cy="1117916"/>
          </a:xfrm>
          <a:prstGeom prst="roundRect">
            <a:avLst>
              <a:gd name="adj" fmla="val 4247"/>
            </a:avLst>
          </a:prstGeom>
          <a:no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81" name="四角形: 角を丸くする 80">
            <a:extLst>
              <a:ext uri="{FF2B5EF4-FFF2-40B4-BE49-F238E27FC236}">
                <a16:creationId xmlns:a16="http://schemas.microsoft.com/office/drawing/2014/main" id="{4218FD27-0F40-4AEF-8539-AD13F0645AB9}"/>
              </a:ext>
            </a:extLst>
          </p:cNvPr>
          <p:cNvSpPr/>
          <p:nvPr/>
        </p:nvSpPr>
        <p:spPr>
          <a:xfrm>
            <a:off x="4301207" y="2687109"/>
            <a:ext cx="4212678" cy="1123417"/>
          </a:xfrm>
          <a:prstGeom prst="roundRect">
            <a:avLst>
              <a:gd name="adj" fmla="val 4247"/>
            </a:avLst>
          </a:prstGeom>
          <a:no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82" name="四角形: 角を丸くする 81">
            <a:extLst>
              <a:ext uri="{FF2B5EF4-FFF2-40B4-BE49-F238E27FC236}">
                <a16:creationId xmlns:a16="http://schemas.microsoft.com/office/drawing/2014/main" id="{DEEDE947-465D-4E20-857A-4BCD55FC650E}"/>
              </a:ext>
            </a:extLst>
          </p:cNvPr>
          <p:cNvSpPr/>
          <p:nvPr/>
        </p:nvSpPr>
        <p:spPr>
          <a:xfrm>
            <a:off x="4358497" y="7547842"/>
            <a:ext cx="4186919" cy="1181133"/>
          </a:xfrm>
          <a:prstGeom prst="roundRect">
            <a:avLst>
              <a:gd name="adj" fmla="val 4247"/>
            </a:avLst>
          </a:prstGeom>
          <a:no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83" name="四角形: 角を丸くする 82">
            <a:extLst>
              <a:ext uri="{FF2B5EF4-FFF2-40B4-BE49-F238E27FC236}">
                <a16:creationId xmlns:a16="http://schemas.microsoft.com/office/drawing/2014/main" id="{3E2B741D-9601-4C3D-95AE-E67E13F61D55}"/>
              </a:ext>
            </a:extLst>
          </p:cNvPr>
          <p:cNvSpPr/>
          <p:nvPr/>
        </p:nvSpPr>
        <p:spPr>
          <a:xfrm>
            <a:off x="8589161" y="2821128"/>
            <a:ext cx="4136975" cy="1923098"/>
          </a:xfrm>
          <a:prstGeom prst="roundRect">
            <a:avLst>
              <a:gd name="adj" fmla="val 4247"/>
            </a:avLst>
          </a:prstGeom>
          <a:no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84" name="四角形: 角を丸くする 83">
            <a:extLst>
              <a:ext uri="{FF2B5EF4-FFF2-40B4-BE49-F238E27FC236}">
                <a16:creationId xmlns:a16="http://schemas.microsoft.com/office/drawing/2014/main" id="{884651B5-BFDA-408C-8EEF-D174EC36FBFE}"/>
              </a:ext>
            </a:extLst>
          </p:cNvPr>
          <p:cNvSpPr/>
          <p:nvPr/>
        </p:nvSpPr>
        <p:spPr>
          <a:xfrm>
            <a:off x="8622837" y="4776235"/>
            <a:ext cx="4129336" cy="1176111"/>
          </a:xfrm>
          <a:prstGeom prst="roundRect">
            <a:avLst>
              <a:gd name="adj" fmla="val 4247"/>
            </a:avLst>
          </a:prstGeom>
          <a:no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85" name="四角形: 角を丸くする 84">
            <a:extLst>
              <a:ext uri="{FF2B5EF4-FFF2-40B4-BE49-F238E27FC236}">
                <a16:creationId xmlns:a16="http://schemas.microsoft.com/office/drawing/2014/main" id="{A36C62D3-2786-4A66-A6DF-3D87763A7EDB}"/>
              </a:ext>
            </a:extLst>
          </p:cNvPr>
          <p:cNvSpPr/>
          <p:nvPr/>
        </p:nvSpPr>
        <p:spPr>
          <a:xfrm>
            <a:off x="8643896" y="6071616"/>
            <a:ext cx="4108277" cy="1201649"/>
          </a:xfrm>
          <a:prstGeom prst="roundRect">
            <a:avLst>
              <a:gd name="adj" fmla="val 4247"/>
            </a:avLst>
          </a:prstGeom>
          <a:no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86" name="四角形: 角を丸くする 85">
            <a:extLst>
              <a:ext uri="{FF2B5EF4-FFF2-40B4-BE49-F238E27FC236}">
                <a16:creationId xmlns:a16="http://schemas.microsoft.com/office/drawing/2014/main" id="{B0687C15-EC27-492F-B244-E8D66575F018}"/>
              </a:ext>
            </a:extLst>
          </p:cNvPr>
          <p:cNvSpPr/>
          <p:nvPr/>
        </p:nvSpPr>
        <p:spPr>
          <a:xfrm>
            <a:off x="8584926" y="7404343"/>
            <a:ext cx="4167247" cy="1116825"/>
          </a:xfrm>
          <a:prstGeom prst="roundRect">
            <a:avLst>
              <a:gd name="adj" fmla="val 4247"/>
            </a:avLst>
          </a:prstGeom>
          <a:no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graphicFrame>
        <p:nvGraphicFramePr>
          <p:cNvPr id="87" name="表 86">
            <a:extLst>
              <a:ext uri="{FF2B5EF4-FFF2-40B4-BE49-F238E27FC236}">
                <a16:creationId xmlns:a16="http://schemas.microsoft.com/office/drawing/2014/main" id="{03EBC04A-70B8-4CA0-A3AE-D688ED3BF092}"/>
              </a:ext>
            </a:extLst>
          </p:cNvPr>
          <p:cNvGraphicFramePr>
            <a:graphicFrameLocks noGrp="1"/>
          </p:cNvGraphicFramePr>
          <p:nvPr>
            <p:extLst>
              <p:ext uri="{D42A27DB-BD31-4B8C-83A1-F6EECF244321}">
                <p14:modId xmlns:p14="http://schemas.microsoft.com/office/powerpoint/2010/main" val="317522166"/>
              </p:ext>
            </p:extLst>
          </p:nvPr>
        </p:nvGraphicFramePr>
        <p:xfrm>
          <a:off x="1058299" y="2877041"/>
          <a:ext cx="1255333" cy="1298448"/>
        </p:xfrm>
        <a:graphic>
          <a:graphicData uri="http://schemas.openxmlformats.org/drawingml/2006/table">
            <a:tbl>
              <a:tblPr firstRow="1" bandRow="1">
                <a:tableStyleId>{8799B23B-EC83-4686-B30A-512413B5E67A}</a:tableStyleId>
              </a:tblPr>
              <a:tblGrid>
                <a:gridCol w="328029">
                  <a:extLst>
                    <a:ext uri="{9D8B030D-6E8A-4147-A177-3AD203B41FA5}">
                      <a16:colId xmlns:a16="http://schemas.microsoft.com/office/drawing/2014/main" val="3169332520"/>
                    </a:ext>
                  </a:extLst>
                </a:gridCol>
                <a:gridCol w="927304">
                  <a:extLst>
                    <a:ext uri="{9D8B030D-6E8A-4147-A177-3AD203B41FA5}">
                      <a16:colId xmlns:a16="http://schemas.microsoft.com/office/drawing/2014/main" val="426943108"/>
                    </a:ext>
                  </a:extLst>
                </a:gridCol>
              </a:tblGrid>
              <a:tr h="1281442">
                <a:tc>
                  <a:txBody>
                    <a:bodyPr/>
                    <a:lstStyle/>
                    <a:p>
                      <a:endParaRPr lang="ja-JP" altLang="en-US" sz="1100" b="1" dirty="0">
                        <a:latin typeface="メイリオ" panose="020B0604030504040204" pitchFamily="50" charset="-128"/>
                        <a:ea typeface="メイリオ" panose="020B0604030504040204" pitchFamily="50" charset="-128"/>
                      </a:endParaRPr>
                    </a:p>
                  </a:txBody>
                  <a:tcPr anchor="ctr"/>
                </a:tc>
                <a:tc>
                  <a:txBody>
                    <a:bodyPr/>
                    <a:lstStyle/>
                    <a:p>
                      <a:pPr>
                        <a:lnSpc>
                          <a:spcPct val="110000"/>
                        </a:lnSpc>
                      </a:pPr>
                      <a:r>
                        <a:rPr lang="en-US" altLang="ja-JP" sz="900" b="0" dirty="0">
                          <a:latin typeface="メイリオ" panose="020B0604030504040204" pitchFamily="50" charset="-128"/>
                          <a:ea typeface="メイリオ" panose="020B0604030504040204" pitchFamily="50" charset="-128"/>
                        </a:rPr>
                        <a:t>Pec. Major</a:t>
                      </a:r>
                    </a:p>
                    <a:p>
                      <a:pPr>
                        <a:lnSpc>
                          <a:spcPct val="110000"/>
                        </a:lnSpc>
                      </a:pPr>
                      <a:r>
                        <a:rPr lang="en-US" altLang="ja-JP" sz="900" b="0" dirty="0">
                          <a:latin typeface="メイリオ" panose="020B0604030504040204" pitchFamily="50" charset="-128"/>
                          <a:ea typeface="メイリオ" panose="020B0604030504040204" pitchFamily="50" charset="-128"/>
                        </a:rPr>
                        <a:t>Pec. Minor</a:t>
                      </a:r>
                    </a:p>
                    <a:p>
                      <a:pPr>
                        <a:lnSpc>
                          <a:spcPct val="110000"/>
                        </a:lnSpc>
                      </a:pPr>
                      <a:r>
                        <a:rPr lang="en-US" altLang="ja-JP" sz="900" b="0" dirty="0">
                          <a:latin typeface="メイリオ" panose="020B0604030504040204" pitchFamily="50" charset="-128"/>
                          <a:ea typeface="メイリオ" panose="020B0604030504040204" pitchFamily="50" charset="-128"/>
                        </a:rPr>
                        <a:t>Serratus</a:t>
                      </a:r>
                    </a:p>
                    <a:p>
                      <a:pPr>
                        <a:lnSpc>
                          <a:spcPct val="110000"/>
                        </a:lnSpc>
                      </a:pPr>
                      <a:r>
                        <a:rPr lang="en-US" altLang="ja-JP" sz="900" b="0" dirty="0">
                          <a:solidFill>
                            <a:srgbClr val="FF0000"/>
                          </a:solidFill>
                          <a:latin typeface="メイリオ" panose="020B0604030504040204" pitchFamily="50" charset="-128"/>
                          <a:ea typeface="メイリオ" panose="020B0604030504040204" pitchFamily="50" charset="-128"/>
                        </a:rPr>
                        <a:t>Intercostal</a:t>
                      </a:r>
                    </a:p>
                    <a:p>
                      <a:pPr>
                        <a:lnSpc>
                          <a:spcPct val="110000"/>
                        </a:lnSpc>
                      </a:pPr>
                      <a:r>
                        <a:rPr lang="en-US" altLang="ja-JP" sz="900" b="0" dirty="0">
                          <a:solidFill>
                            <a:srgbClr val="FF0000"/>
                          </a:solidFill>
                          <a:latin typeface="メイリオ" panose="020B0604030504040204" pitchFamily="50" charset="-128"/>
                          <a:ea typeface="メイリオ" panose="020B0604030504040204" pitchFamily="50" charset="-128"/>
                        </a:rPr>
                        <a:t>Rectus Abs</a:t>
                      </a:r>
                    </a:p>
                    <a:p>
                      <a:pPr>
                        <a:lnSpc>
                          <a:spcPct val="110000"/>
                        </a:lnSpc>
                      </a:pPr>
                      <a:r>
                        <a:rPr lang="en-US" altLang="ja-JP" sz="900" b="0" dirty="0">
                          <a:solidFill>
                            <a:srgbClr val="FF0000"/>
                          </a:solidFill>
                          <a:latin typeface="メイリオ" panose="020B0604030504040204" pitchFamily="50" charset="-128"/>
                          <a:ea typeface="メイリオ" panose="020B0604030504040204" pitchFamily="50" charset="-128"/>
                        </a:rPr>
                        <a:t>Int. Oblique</a:t>
                      </a:r>
                    </a:p>
                    <a:p>
                      <a:pPr>
                        <a:lnSpc>
                          <a:spcPct val="110000"/>
                        </a:lnSpc>
                      </a:pPr>
                      <a:r>
                        <a:rPr lang="en-US" altLang="ja-JP" sz="900" b="0" dirty="0">
                          <a:solidFill>
                            <a:srgbClr val="FF0000"/>
                          </a:solidFill>
                          <a:latin typeface="メイリオ" panose="020B0604030504040204" pitchFamily="50" charset="-128"/>
                          <a:ea typeface="メイリオ" panose="020B0604030504040204" pitchFamily="50" charset="-128"/>
                        </a:rPr>
                        <a:t>Ext. Oblique</a:t>
                      </a:r>
                    </a:p>
                    <a:p>
                      <a:pPr>
                        <a:lnSpc>
                          <a:spcPct val="110000"/>
                        </a:lnSpc>
                      </a:pPr>
                      <a:r>
                        <a:rPr lang="en-US" altLang="ja-JP" sz="900" b="0" dirty="0">
                          <a:solidFill>
                            <a:srgbClr val="FF0000"/>
                          </a:solidFill>
                          <a:latin typeface="メイリオ" panose="020B0604030504040204" pitchFamily="50" charset="-128"/>
                          <a:ea typeface="メイリオ" panose="020B0604030504040204" pitchFamily="50" charset="-128"/>
                        </a:rPr>
                        <a:t>Transversus </a:t>
                      </a:r>
                      <a:endParaRPr lang="en-US" altLang="ja-JP" sz="800" b="0" dirty="0">
                        <a:solidFill>
                          <a:srgbClr val="FF0000"/>
                        </a:solidFill>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1173203978"/>
                  </a:ext>
                </a:extLst>
              </a:tr>
            </a:tbl>
          </a:graphicData>
        </a:graphic>
      </p:graphicFrame>
      <p:sp>
        <p:nvSpPr>
          <p:cNvPr id="88" name="テキスト ボックス 87">
            <a:extLst>
              <a:ext uri="{FF2B5EF4-FFF2-40B4-BE49-F238E27FC236}">
                <a16:creationId xmlns:a16="http://schemas.microsoft.com/office/drawing/2014/main" id="{3890367D-9784-4984-ACDA-5573498B038E}"/>
              </a:ext>
            </a:extLst>
          </p:cNvPr>
          <p:cNvSpPr txBox="1"/>
          <p:nvPr/>
        </p:nvSpPr>
        <p:spPr>
          <a:xfrm>
            <a:off x="982194" y="4390127"/>
            <a:ext cx="3012885" cy="253916"/>
          </a:xfrm>
          <a:prstGeom prst="rect">
            <a:avLst/>
          </a:prstGeom>
          <a:noFill/>
        </p:spPr>
        <p:txBody>
          <a:bodyPr wrap="square">
            <a:spAutoFit/>
          </a:bodyPr>
          <a:lstStyle/>
          <a:p>
            <a:r>
              <a:rPr lang="en-US" altLang="ja-JP" sz="1050" b="1" dirty="0">
                <a:latin typeface="メイリオ" panose="020B0604030504040204" pitchFamily="50" charset="-128"/>
                <a:ea typeface="メイリオ" panose="020B0604030504040204" pitchFamily="50" charset="-128"/>
              </a:rPr>
              <a:t>Risk</a:t>
            </a:r>
            <a:r>
              <a:rPr lang="en-US" altLang="ja-JP" sz="1050" dirty="0">
                <a:latin typeface="メイリオ" panose="020B0604030504040204" pitchFamily="50" charset="-128"/>
                <a:ea typeface="メイリオ" panose="020B0604030504040204" pitchFamily="50" charset="-128"/>
              </a:rPr>
              <a:t>: + Falls, + Spine fractures / stenosis</a:t>
            </a:r>
            <a:endParaRPr lang="ja-JP" altLang="en-US" sz="1050" dirty="0">
              <a:latin typeface="メイリオ" panose="020B0604030504040204" pitchFamily="50" charset="-128"/>
              <a:ea typeface="メイリオ" panose="020B0604030504040204" pitchFamily="50" charset="-128"/>
            </a:endParaRPr>
          </a:p>
        </p:txBody>
      </p:sp>
      <p:sp>
        <p:nvSpPr>
          <p:cNvPr id="89" name="テキスト ボックス 88">
            <a:extLst>
              <a:ext uri="{FF2B5EF4-FFF2-40B4-BE49-F238E27FC236}">
                <a16:creationId xmlns:a16="http://schemas.microsoft.com/office/drawing/2014/main" id="{B09A3C27-38A5-4135-8763-B5927E95A0DD}"/>
              </a:ext>
            </a:extLst>
          </p:cNvPr>
          <p:cNvSpPr txBox="1"/>
          <p:nvPr/>
        </p:nvSpPr>
        <p:spPr>
          <a:xfrm>
            <a:off x="976060" y="4224160"/>
            <a:ext cx="3111994" cy="253916"/>
          </a:xfrm>
          <a:prstGeom prst="rect">
            <a:avLst/>
          </a:prstGeom>
          <a:noFill/>
        </p:spPr>
        <p:txBody>
          <a:bodyPr wrap="square">
            <a:spAutoFit/>
          </a:bodyPr>
          <a:lstStyle/>
          <a:p>
            <a:r>
              <a:rPr lang="en-US" altLang="ja-JP" sz="1050" b="1" dirty="0">
                <a:latin typeface="メイリオ" panose="020B0604030504040204" pitchFamily="50" charset="-128"/>
                <a:ea typeface="メイリオ" panose="020B0604030504040204" pitchFamily="50" charset="-128"/>
              </a:rPr>
              <a:t>Function</a:t>
            </a:r>
            <a:r>
              <a:rPr lang="en-US" altLang="ja-JP" sz="1050" dirty="0">
                <a:latin typeface="メイリオ" panose="020B0604030504040204" pitchFamily="50" charset="-128"/>
                <a:ea typeface="メイリオ" panose="020B0604030504040204" pitchFamily="50" charset="-128"/>
              </a:rPr>
              <a:t>: Core stability/posture/breathing</a:t>
            </a:r>
          </a:p>
        </p:txBody>
      </p:sp>
      <p:sp>
        <p:nvSpPr>
          <p:cNvPr id="90" name="テキスト ボックス 89">
            <a:extLst>
              <a:ext uri="{FF2B5EF4-FFF2-40B4-BE49-F238E27FC236}">
                <a16:creationId xmlns:a16="http://schemas.microsoft.com/office/drawing/2014/main" id="{A41E9C80-E1DE-43D6-8133-BDD0B964C2EF}"/>
              </a:ext>
            </a:extLst>
          </p:cNvPr>
          <p:cNvSpPr txBox="1"/>
          <p:nvPr/>
        </p:nvSpPr>
        <p:spPr>
          <a:xfrm rot="5400000">
            <a:off x="470262" y="3428323"/>
            <a:ext cx="1496644" cy="261610"/>
          </a:xfrm>
          <a:prstGeom prst="rect">
            <a:avLst/>
          </a:prstGeom>
          <a:noFill/>
        </p:spPr>
        <p:txBody>
          <a:bodyPr wrap="square" rtlCol="0">
            <a:spAutoFit/>
          </a:bodyPr>
          <a:lstStyle/>
          <a:p>
            <a:r>
              <a:rPr kumimoji="1" lang="en-US" altLang="ja-JP" sz="1100" b="1" dirty="0"/>
              <a:t>Chest &amp; Core</a:t>
            </a:r>
            <a:endParaRPr kumimoji="1" lang="ja-JP" altLang="en-US" sz="1100" b="1" dirty="0"/>
          </a:p>
        </p:txBody>
      </p:sp>
      <p:grpSp>
        <p:nvGrpSpPr>
          <p:cNvPr id="91" name="グループ化 90">
            <a:extLst>
              <a:ext uri="{FF2B5EF4-FFF2-40B4-BE49-F238E27FC236}">
                <a16:creationId xmlns:a16="http://schemas.microsoft.com/office/drawing/2014/main" id="{CDC789AD-E401-4FD6-BBB1-223E172D389D}"/>
              </a:ext>
            </a:extLst>
          </p:cNvPr>
          <p:cNvGrpSpPr/>
          <p:nvPr/>
        </p:nvGrpSpPr>
        <p:grpSpPr>
          <a:xfrm>
            <a:off x="9611687" y="2567950"/>
            <a:ext cx="2436731" cy="283775"/>
            <a:chOff x="1800291" y="2570362"/>
            <a:chExt cx="2436731" cy="283775"/>
          </a:xfrm>
        </p:grpSpPr>
        <p:cxnSp>
          <p:nvCxnSpPr>
            <p:cNvPr id="92" name="直線コネクタ 91">
              <a:extLst>
                <a:ext uri="{FF2B5EF4-FFF2-40B4-BE49-F238E27FC236}">
                  <a16:creationId xmlns:a16="http://schemas.microsoft.com/office/drawing/2014/main" id="{6A4707B7-0613-46DA-A094-6CB51C9C56A5}"/>
                </a:ext>
              </a:extLst>
            </p:cNvPr>
            <p:cNvCxnSpPr>
              <a:cxnSpLocks/>
            </p:cNvCxnSpPr>
            <p:nvPr/>
          </p:nvCxnSpPr>
          <p:spPr>
            <a:xfrm>
              <a:off x="2370062" y="2714749"/>
              <a:ext cx="1329499" cy="0"/>
            </a:xfrm>
            <a:prstGeom prst="line">
              <a:avLst/>
            </a:prstGeom>
            <a:ln w="31750">
              <a:solidFill>
                <a:schemeClr val="tx1"/>
              </a:solidFill>
              <a:headEnd w="lg" len="lg"/>
              <a:tailEnd type="triangle"/>
            </a:ln>
          </p:spPr>
          <p:style>
            <a:lnRef idx="1">
              <a:schemeClr val="accent1"/>
            </a:lnRef>
            <a:fillRef idx="0">
              <a:schemeClr val="accent1"/>
            </a:fillRef>
            <a:effectRef idx="0">
              <a:schemeClr val="accent1"/>
            </a:effectRef>
            <a:fontRef idx="minor">
              <a:schemeClr val="tx1"/>
            </a:fontRef>
          </p:style>
        </p:cxnSp>
        <p:sp>
          <p:nvSpPr>
            <p:cNvPr id="93" name="テキスト ボックス 92">
              <a:extLst>
                <a:ext uri="{FF2B5EF4-FFF2-40B4-BE49-F238E27FC236}">
                  <a16:creationId xmlns:a16="http://schemas.microsoft.com/office/drawing/2014/main" id="{D5586603-21BB-4F42-84DD-BEB84BABD1A1}"/>
                </a:ext>
              </a:extLst>
            </p:cNvPr>
            <p:cNvSpPr txBox="1"/>
            <p:nvPr/>
          </p:nvSpPr>
          <p:spPr>
            <a:xfrm>
              <a:off x="1800291" y="2577138"/>
              <a:ext cx="513859" cy="276999"/>
            </a:xfrm>
            <a:prstGeom prst="rect">
              <a:avLst/>
            </a:prstGeom>
            <a:noFill/>
          </p:spPr>
          <p:txBody>
            <a:bodyPr wrap="none" rtlCol="0">
              <a:spAutoFit/>
            </a:bodyPr>
            <a:lstStyle/>
            <a:p>
              <a:r>
                <a:rPr kumimoji="1" lang="en-US" altLang="ja-JP" sz="1200" b="1" dirty="0">
                  <a:latin typeface="メイリオ" panose="020B0604030504040204" pitchFamily="50" charset="-128"/>
                  <a:ea typeface="メイリオ" panose="020B0604030504040204" pitchFamily="50" charset="-128"/>
                </a:rPr>
                <a:t>Low</a:t>
              </a:r>
              <a:endParaRPr kumimoji="1" lang="ja-JP" altLang="en-US" sz="1400" b="1" dirty="0">
                <a:latin typeface="メイリオ" panose="020B0604030504040204" pitchFamily="50" charset="-128"/>
                <a:ea typeface="メイリオ" panose="020B0604030504040204" pitchFamily="50" charset="-128"/>
              </a:endParaRPr>
            </a:p>
          </p:txBody>
        </p:sp>
        <p:sp>
          <p:nvSpPr>
            <p:cNvPr id="94" name="テキスト ボックス 93">
              <a:extLst>
                <a:ext uri="{FF2B5EF4-FFF2-40B4-BE49-F238E27FC236}">
                  <a16:creationId xmlns:a16="http://schemas.microsoft.com/office/drawing/2014/main" id="{123FFF40-714B-483F-81EB-F0D81E8A2C62}"/>
                </a:ext>
              </a:extLst>
            </p:cNvPr>
            <p:cNvSpPr txBox="1"/>
            <p:nvPr/>
          </p:nvSpPr>
          <p:spPr>
            <a:xfrm>
              <a:off x="3675650" y="2570362"/>
              <a:ext cx="561372" cy="276999"/>
            </a:xfrm>
            <a:prstGeom prst="rect">
              <a:avLst/>
            </a:prstGeom>
            <a:noFill/>
          </p:spPr>
          <p:txBody>
            <a:bodyPr wrap="none" rtlCol="0">
              <a:spAutoFit/>
            </a:bodyPr>
            <a:lstStyle/>
            <a:p>
              <a:r>
                <a:rPr kumimoji="1" lang="en-US" altLang="ja-JP" sz="1200" b="1" dirty="0">
                  <a:latin typeface="メイリオ" panose="020B0604030504040204" pitchFamily="50" charset="-128"/>
                  <a:ea typeface="メイリオ" panose="020B0604030504040204" pitchFamily="50" charset="-128"/>
                </a:rPr>
                <a:t>High</a:t>
              </a:r>
              <a:endParaRPr kumimoji="1" lang="ja-JP" altLang="en-US" sz="1200" b="1" dirty="0">
                <a:latin typeface="メイリオ" panose="020B0604030504040204" pitchFamily="50" charset="-128"/>
                <a:ea typeface="メイリオ" panose="020B0604030504040204" pitchFamily="50" charset="-128"/>
              </a:endParaRPr>
            </a:p>
          </p:txBody>
        </p:sp>
      </p:grpSp>
      <p:grpSp>
        <p:nvGrpSpPr>
          <p:cNvPr id="95" name="グループ化 94">
            <a:extLst>
              <a:ext uri="{FF2B5EF4-FFF2-40B4-BE49-F238E27FC236}">
                <a16:creationId xmlns:a16="http://schemas.microsoft.com/office/drawing/2014/main" id="{E729DBC8-D87D-4121-B7C7-5018E57F67D2}"/>
              </a:ext>
            </a:extLst>
          </p:cNvPr>
          <p:cNvGrpSpPr/>
          <p:nvPr/>
        </p:nvGrpSpPr>
        <p:grpSpPr>
          <a:xfrm>
            <a:off x="1800291" y="2570362"/>
            <a:ext cx="2436731" cy="283775"/>
            <a:chOff x="1800291" y="2570362"/>
            <a:chExt cx="2436731" cy="283775"/>
          </a:xfrm>
        </p:grpSpPr>
        <p:cxnSp>
          <p:nvCxnSpPr>
            <p:cNvPr id="96" name="直線コネクタ 95">
              <a:extLst>
                <a:ext uri="{FF2B5EF4-FFF2-40B4-BE49-F238E27FC236}">
                  <a16:creationId xmlns:a16="http://schemas.microsoft.com/office/drawing/2014/main" id="{8DD96B74-AE68-400A-BBC9-6DD467173C42}"/>
                </a:ext>
              </a:extLst>
            </p:cNvPr>
            <p:cNvCxnSpPr>
              <a:cxnSpLocks/>
            </p:cNvCxnSpPr>
            <p:nvPr/>
          </p:nvCxnSpPr>
          <p:spPr>
            <a:xfrm>
              <a:off x="2370062" y="2714749"/>
              <a:ext cx="1329499" cy="0"/>
            </a:xfrm>
            <a:prstGeom prst="line">
              <a:avLst/>
            </a:prstGeom>
            <a:ln w="31750">
              <a:solidFill>
                <a:schemeClr val="tx1"/>
              </a:solidFill>
              <a:headEnd w="lg" len="lg"/>
              <a:tailEnd type="triangle"/>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A29B92F4-9FBC-4ABD-A80A-9B9764D5405F}"/>
                </a:ext>
              </a:extLst>
            </p:cNvPr>
            <p:cNvSpPr txBox="1"/>
            <p:nvPr/>
          </p:nvSpPr>
          <p:spPr>
            <a:xfrm>
              <a:off x="1800291" y="2577138"/>
              <a:ext cx="513859" cy="276999"/>
            </a:xfrm>
            <a:prstGeom prst="rect">
              <a:avLst/>
            </a:prstGeom>
            <a:noFill/>
          </p:spPr>
          <p:txBody>
            <a:bodyPr wrap="none" rtlCol="0">
              <a:spAutoFit/>
            </a:bodyPr>
            <a:lstStyle/>
            <a:p>
              <a:r>
                <a:rPr kumimoji="1" lang="en-US" altLang="ja-JP" sz="1200" b="1" dirty="0">
                  <a:latin typeface="メイリオ" panose="020B0604030504040204" pitchFamily="50" charset="-128"/>
                  <a:ea typeface="メイリオ" panose="020B0604030504040204" pitchFamily="50" charset="-128"/>
                </a:rPr>
                <a:t>Low</a:t>
              </a:r>
              <a:endParaRPr kumimoji="1" lang="ja-JP" altLang="en-US" sz="1200" b="1" dirty="0">
                <a:latin typeface="メイリオ" panose="020B0604030504040204" pitchFamily="50" charset="-128"/>
                <a:ea typeface="メイリオ" panose="020B0604030504040204" pitchFamily="50" charset="-128"/>
              </a:endParaRPr>
            </a:p>
          </p:txBody>
        </p:sp>
        <p:sp>
          <p:nvSpPr>
            <p:cNvPr id="104" name="テキスト ボックス 103">
              <a:extLst>
                <a:ext uri="{FF2B5EF4-FFF2-40B4-BE49-F238E27FC236}">
                  <a16:creationId xmlns:a16="http://schemas.microsoft.com/office/drawing/2014/main" id="{9A2D1680-5D2F-4B99-9D2F-AF52C6ECC0F3}"/>
                </a:ext>
              </a:extLst>
            </p:cNvPr>
            <p:cNvSpPr txBox="1"/>
            <p:nvPr/>
          </p:nvSpPr>
          <p:spPr>
            <a:xfrm>
              <a:off x="3675650" y="2570362"/>
              <a:ext cx="561372" cy="276999"/>
            </a:xfrm>
            <a:prstGeom prst="rect">
              <a:avLst/>
            </a:prstGeom>
            <a:noFill/>
          </p:spPr>
          <p:txBody>
            <a:bodyPr wrap="none" rtlCol="0">
              <a:spAutoFit/>
            </a:bodyPr>
            <a:lstStyle/>
            <a:p>
              <a:r>
                <a:rPr kumimoji="1" lang="en-US" altLang="ja-JP" sz="1200" b="1" dirty="0">
                  <a:latin typeface="メイリオ" panose="020B0604030504040204" pitchFamily="50" charset="-128"/>
                  <a:ea typeface="メイリオ" panose="020B0604030504040204" pitchFamily="50" charset="-128"/>
                </a:rPr>
                <a:t>High</a:t>
              </a:r>
              <a:endParaRPr kumimoji="1" lang="ja-JP" altLang="en-US" sz="1200" b="1" dirty="0">
                <a:latin typeface="メイリオ" panose="020B0604030504040204" pitchFamily="50" charset="-128"/>
                <a:ea typeface="メイリオ" panose="020B0604030504040204" pitchFamily="50" charset="-128"/>
              </a:endParaRPr>
            </a:p>
          </p:txBody>
        </p:sp>
      </p:grpSp>
      <p:sp>
        <p:nvSpPr>
          <p:cNvPr id="108" name="テキスト ボックス 107">
            <a:extLst>
              <a:ext uri="{FF2B5EF4-FFF2-40B4-BE49-F238E27FC236}">
                <a16:creationId xmlns:a16="http://schemas.microsoft.com/office/drawing/2014/main" id="{6A020BCF-7021-4CD6-BF3D-0FAD762A77D5}"/>
              </a:ext>
            </a:extLst>
          </p:cNvPr>
          <p:cNvSpPr txBox="1"/>
          <p:nvPr/>
        </p:nvSpPr>
        <p:spPr>
          <a:xfrm>
            <a:off x="953444" y="5723437"/>
            <a:ext cx="2560039" cy="253916"/>
          </a:xfrm>
          <a:prstGeom prst="rect">
            <a:avLst/>
          </a:prstGeom>
          <a:noFill/>
        </p:spPr>
        <p:txBody>
          <a:bodyPr wrap="square">
            <a:spAutoFit/>
          </a:bodyPr>
          <a:lstStyle/>
          <a:p>
            <a:r>
              <a:rPr lang="en-US" altLang="ja-JP" sz="1050" b="1" dirty="0">
                <a:latin typeface="メイリオ" panose="020B0604030504040204" pitchFamily="50" charset="-128"/>
                <a:ea typeface="メイリオ" panose="020B0604030504040204" pitchFamily="50" charset="-128"/>
              </a:rPr>
              <a:t>Risk</a:t>
            </a:r>
            <a:r>
              <a:rPr lang="en-US" altLang="ja-JP" sz="1050" dirty="0">
                <a:latin typeface="メイリオ" panose="020B0604030504040204" pitchFamily="50" charset="-128"/>
                <a:ea typeface="メイリオ" panose="020B0604030504040204" pitchFamily="50" charset="-128"/>
              </a:rPr>
              <a:t>: ++ Fall, ++ Knee OA</a:t>
            </a:r>
            <a:endParaRPr lang="ja-JP" altLang="en-US" sz="1050" dirty="0">
              <a:latin typeface="メイリオ" panose="020B0604030504040204" pitchFamily="50" charset="-128"/>
              <a:ea typeface="メイリオ" panose="020B0604030504040204" pitchFamily="50" charset="-128"/>
            </a:endParaRPr>
          </a:p>
        </p:txBody>
      </p:sp>
      <p:graphicFrame>
        <p:nvGraphicFramePr>
          <p:cNvPr id="109" name="表 108">
            <a:extLst>
              <a:ext uri="{FF2B5EF4-FFF2-40B4-BE49-F238E27FC236}">
                <a16:creationId xmlns:a16="http://schemas.microsoft.com/office/drawing/2014/main" id="{EC8E13A6-A3B0-4D66-88B1-6C8B885DCE65}"/>
              </a:ext>
            </a:extLst>
          </p:cNvPr>
          <p:cNvGraphicFramePr>
            <a:graphicFrameLocks noGrp="1"/>
          </p:cNvGraphicFramePr>
          <p:nvPr>
            <p:extLst>
              <p:ext uri="{D42A27DB-BD31-4B8C-83A1-F6EECF244321}">
                <p14:modId xmlns:p14="http://schemas.microsoft.com/office/powerpoint/2010/main" val="459302485"/>
              </p:ext>
            </p:extLst>
          </p:nvPr>
        </p:nvGraphicFramePr>
        <p:xfrm>
          <a:off x="1049292" y="4764446"/>
          <a:ext cx="1189779" cy="716526"/>
        </p:xfrm>
        <a:graphic>
          <a:graphicData uri="http://schemas.openxmlformats.org/drawingml/2006/table">
            <a:tbl>
              <a:tblPr firstRow="1" bandRow="1">
                <a:tableStyleId>{8799B23B-EC83-4686-B30A-512413B5E67A}</a:tableStyleId>
              </a:tblPr>
              <a:tblGrid>
                <a:gridCol w="324887">
                  <a:extLst>
                    <a:ext uri="{9D8B030D-6E8A-4147-A177-3AD203B41FA5}">
                      <a16:colId xmlns:a16="http://schemas.microsoft.com/office/drawing/2014/main" val="3544890682"/>
                    </a:ext>
                  </a:extLst>
                </a:gridCol>
                <a:gridCol w="864892">
                  <a:extLst>
                    <a:ext uri="{9D8B030D-6E8A-4147-A177-3AD203B41FA5}">
                      <a16:colId xmlns:a16="http://schemas.microsoft.com/office/drawing/2014/main" val="4250031406"/>
                    </a:ext>
                  </a:extLst>
                </a:gridCol>
              </a:tblGrid>
              <a:tr h="716526">
                <a:tc>
                  <a:txBody>
                    <a:bodyPr/>
                    <a:lstStyle/>
                    <a:p>
                      <a:endParaRPr lang="ja-JP" altLang="en-US" sz="1100" dirty="0">
                        <a:latin typeface="メイリオ" panose="020B0604030504040204" pitchFamily="50" charset="-128"/>
                        <a:ea typeface="メイリオ" panose="020B0604030504040204" pitchFamily="50" charset="-128"/>
                      </a:endParaRPr>
                    </a:p>
                  </a:txBody>
                  <a:tcPr anchor="ctr"/>
                </a:tc>
                <a:tc>
                  <a:txBody>
                    <a:bodyPr/>
                    <a:lstStyle/>
                    <a:p>
                      <a:pPr>
                        <a:lnSpc>
                          <a:spcPct val="110000"/>
                        </a:lnSpc>
                      </a:pPr>
                      <a:r>
                        <a:rPr lang="en-US" altLang="ja-JP" sz="900" b="0" dirty="0">
                          <a:solidFill>
                            <a:srgbClr val="FF0000"/>
                          </a:solidFill>
                          <a:latin typeface="メイリオ" panose="020B0604030504040204" pitchFamily="50" charset="-128"/>
                          <a:ea typeface="メイリオ" panose="020B0604030504040204" pitchFamily="50" charset="-128"/>
                        </a:rPr>
                        <a:t>Adductors</a:t>
                      </a:r>
                    </a:p>
                    <a:p>
                      <a:pPr>
                        <a:lnSpc>
                          <a:spcPct val="110000"/>
                        </a:lnSpc>
                      </a:pPr>
                      <a:r>
                        <a:rPr lang="en-US" altLang="zh-TW" sz="900" b="0" dirty="0">
                          <a:solidFill>
                            <a:srgbClr val="FF0000"/>
                          </a:solidFill>
                          <a:latin typeface="メイリオ" panose="020B0604030504040204" pitchFamily="50" charset="-128"/>
                          <a:ea typeface="メイリオ" panose="020B0604030504040204" pitchFamily="50" charset="-128"/>
                        </a:rPr>
                        <a:t>Pectineus</a:t>
                      </a:r>
                    </a:p>
                    <a:p>
                      <a:pPr>
                        <a:lnSpc>
                          <a:spcPct val="110000"/>
                        </a:lnSpc>
                      </a:pPr>
                      <a:r>
                        <a:rPr lang="en-US" altLang="ja-JP" sz="900" b="0" dirty="0">
                          <a:solidFill>
                            <a:srgbClr val="FF0000"/>
                          </a:solidFill>
                          <a:latin typeface="メイリオ" panose="020B0604030504040204" pitchFamily="50" charset="-128"/>
                          <a:ea typeface="メイリオ" panose="020B0604030504040204" pitchFamily="50" charset="-128"/>
                        </a:rPr>
                        <a:t>Gracilis</a:t>
                      </a:r>
                    </a:p>
                    <a:p>
                      <a:pPr>
                        <a:lnSpc>
                          <a:spcPct val="110000"/>
                        </a:lnSpc>
                      </a:pPr>
                      <a:r>
                        <a:rPr lang="en-US" altLang="ja-JP" sz="900" b="0" dirty="0">
                          <a:solidFill>
                            <a:srgbClr val="FF0000"/>
                          </a:solidFill>
                          <a:latin typeface="メイリオ" panose="020B0604030504040204" pitchFamily="50" charset="-128"/>
                          <a:ea typeface="メイリオ" panose="020B0604030504040204" pitchFamily="50" charset="-128"/>
                        </a:rPr>
                        <a:t>Sartorius</a:t>
                      </a:r>
                      <a:endParaRPr lang="ja-JP" altLang="en-US" sz="900" b="0" dirty="0">
                        <a:solidFill>
                          <a:srgbClr val="FF0000"/>
                        </a:solidFill>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4066695419"/>
                  </a:ext>
                </a:extLst>
              </a:tr>
            </a:tbl>
          </a:graphicData>
        </a:graphic>
      </p:graphicFrame>
      <p:sp>
        <p:nvSpPr>
          <p:cNvPr id="110" name="テキスト ボックス 109">
            <a:extLst>
              <a:ext uri="{FF2B5EF4-FFF2-40B4-BE49-F238E27FC236}">
                <a16:creationId xmlns:a16="http://schemas.microsoft.com/office/drawing/2014/main" id="{EF17164F-7AB0-446D-89CE-1A9A79B71018}"/>
              </a:ext>
            </a:extLst>
          </p:cNvPr>
          <p:cNvSpPr txBox="1"/>
          <p:nvPr/>
        </p:nvSpPr>
        <p:spPr>
          <a:xfrm>
            <a:off x="957294" y="5526596"/>
            <a:ext cx="3079160" cy="253916"/>
          </a:xfrm>
          <a:prstGeom prst="rect">
            <a:avLst/>
          </a:prstGeom>
          <a:noFill/>
        </p:spPr>
        <p:txBody>
          <a:bodyPr wrap="square">
            <a:spAutoFit/>
          </a:bodyPr>
          <a:lstStyle/>
          <a:p>
            <a:r>
              <a:rPr lang="en-US" altLang="ja-JP" sz="1050" b="1" dirty="0">
                <a:latin typeface="メイリオ" panose="020B0604030504040204" pitchFamily="50" charset="-128"/>
                <a:ea typeface="メイリオ" panose="020B0604030504040204" pitchFamily="50" charset="-128"/>
              </a:rPr>
              <a:t>Function</a:t>
            </a:r>
            <a:r>
              <a:rPr lang="en-US" altLang="ja-JP" sz="1050" dirty="0">
                <a:latin typeface="メイリオ" panose="020B0604030504040204" pitchFamily="50" charset="-128"/>
                <a:ea typeface="メイリオ" panose="020B0604030504040204" pitchFamily="50" charset="-128"/>
              </a:rPr>
              <a:t>: Hip adduction, standing stability</a:t>
            </a:r>
            <a:endParaRPr lang="ja-JP" altLang="en-US" sz="1050" dirty="0">
              <a:latin typeface="メイリオ" panose="020B0604030504040204" pitchFamily="50" charset="-128"/>
              <a:ea typeface="メイリオ" panose="020B0604030504040204" pitchFamily="50" charset="-128"/>
            </a:endParaRPr>
          </a:p>
        </p:txBody>
      </p:sp>
      <p:sp>
        <p:nvSpPr>
          <p:cNvPr id="111" name="テキスト ボックス 110">
            <a:extLst>
              <a:ext uri="{FF2B5EF4-FFF2-40B4-BE49-F238E27FC236}">
                <a16:creationId xmlns:a16="http://schemas.microsoft.com/office/drawing/2014/main" id="{4E8B73D3-6AF6-4D9A-8C31-90B7C2BE271E}"/>
              </a:ext>
            </a:extLst>
          </p:cNvPr>
          <p:cNvSpPr txBox="1"/>
          <p:nvPr/>
        </p:nvSpPr>
        <p:spPr>
          <a:xfrm rot="5400000">
            <a:off x="798064" y="4956467"/>
            <a:ext cx="800323" cy="336952"/>
          </a:xfrm>
          <a:prstGeom prst="rect">
            <a:avLst/>
          </a:prstGeom>
          <a:noFill/>
        </p:spPr>
        <p:txBody>
          <a:bodyPr wrap="square" rtlCol="0">
            <a:spAutoFit/>
          </a:bodyPr>
          <a:lstStyle/>
          <a:p>
            <a:pPr>
              <a:lnSpc>
                <a:spcPct val="70000"/>
              </a:lnSpc>
            </a:pPr>
            <a:r>
              <a:rPr kumimoji="1" lang="en-US" altLang="ja-JP" sz="1100" b="1" dirty="0"/>
              <a:t>Inner</a:t>
            </a:r>
            <a:r>
              <a:rPr kumimoji="1" lang="ja-JP" altLang="en-US" sz="1100" b="1" dirty="0"/>
              <a:t>　</a:t>
            </a:r>
            <a:r>
              <a:rPr kumimoji="1" lang="en-US" altLang="ja-JP" sz="1100" b="1" dirty="0"/>
              <a:t>Thigh</a:t>
            </a:r>
            <a:endParaRPr kumimoji="1" lang="ja-JP" altLang="en-US" sz="1100" b="1" dirty="0"/>
          </a:p>
        </p:txBody>
      </p:sp>
      <p:sp>
        <p:nvSpPr>
          <p:cNvPr id="112" name="テキスト ボックス 111">
            <a:extLst>
              <a:ext uri="{FF2B5EF4-FFF2-40B4-BE49-F238E27FC236}">
                <a16:creationId xmlns:a16="http://schemas.microsoft.com/office/drawing/2014/main" id="{C342E62C-6E78-4C1E-A7C7-50F4946AFE18}"/>
              </a:ext>
            </a:extLst>
          </p:cNvPr>
          <p:cNvSpPr txBox="1"/>
          <p:nvPr/>
        </p:nvSpPr>
        <p:spPr>
          <a:xfrm>
            <a:off x="897457" y="6792741"/>
            <a:ext cx="3384419" cy="253916"/>
          </a:xfrm>
          <a:prstGeom prst="rect">
            <a:avLst/>
          </a:prstGeom>
          <a:noFill/>
        </p:spPr>
        <p:txBody>
          <a:bodyPr wrap="square">
            <a:spAutoFit/>
          </a:bodyPr>
          <a:lstStyle/>
          <a:p>
            <a:r>
              <a:rPr lang="en-US" altLang="ja-JP" sz="1050" b="1" dirty="0">
                <a:latin typeface="メイリオ" panose="020B0604030504040204" pitchFamily="50" charset="-128"/>
                <a:ea typeface="メイリオ" panose="020B0604030504040204" pitchFamily="50" charset="-128"/>
              </a:rPr>
              <a:t>Function: </a:t>
            </a:r>
            <a:r>
              <a:rPr lang="en-US" altLang="ja-JP" sz="1050" dirty="0">
                <a:latin typeface="メイリオ" panose="020B0604030504040204" pitchFamily="50" charset="-128"/>
                <a:ea typeface="メイリオ" panose="020B0604030504040204" pitchFamily="50" charset="-128"/>
              </a:rPr>
              <a:t>Knee extension/walking/standing up</a:t>
            </a:r>
          </a:p>
        </p:txBody>
      </p:sp>
      <p:graphicFrame>
        <p:nvGraphicFramePr>
          <p:cNvPr id="113" name="表 112">
            <a:extLst>
              <a:ext uri="{FF2B5EF4-FFF2-40B4-BE49-F238E27FC236}">
                <a16:creationId xmlns:a16="http://schemas.microsoft.com/office/drawing/2014/main" id="{C18C728A-9C33-4545-BDAE-533681D47F05}"/>
              </a:ext>
            </a:extLst>
          </p:cNvPr>
          <p:cNvGraphicFramePr>
            <a:graphicFrameLocks noGrp="1"/>
          </p:cNvGraphicFramePr>
          <p:nvPr>
            <p:extLst>
              <p:ext uri="{D42A27DB-BD31-4B8C-83A1-F6EECF244321}">
                <p14:modId xmlns:p14="http://schemas.microsoft.com/office/powerpoint/2010/main" val="1174958443"/>
              </p:ext>
            </p:extLst>
          </p:nvPr>
        </p:nvGraphicFramePr>
        <p:xfrm>
          <a:off x="1018741" y="6127165"/>
          <a:ext cx="1283204" cy="652970"/>
        </p:xfrm>
        <a:graphic>
          <a:graphicData uri="http://schemas.openxmlformats.org/drawingml/2006/table">
            <a:tbl>
              <a:tblPr firstRow="1" bandRow="1">
                <a:tableStyleId>{8799B23B-EC83-4686-B30A-512413B5E67A}</a:tableStyleId>
              </a:tblPr>
              <a:tblGrid>
                <a:gridCol w="332696">
                  <a:extLst>
                    <a:ext uri="{9D8B030D-6E8A-4147-A177-3AD203B41FA5}">
                      <a16:colId xmlns:a16="http://schemas.microsoft.com/office/drawing/2014/main" val="4009949933"/>
                    </a:ext>
                  </a:extLst>
                </a:gridCol>
                <a:gridCol w="950508">
                  <a:extLst>
                    <a:ext uri="{9D8B030D-6E8A-4147-A177-3AD203B41FA5}">
                      <a16:colId xmlns:a16="http://schemas.microsoft.com/office/drawing/2014/main" val="194728516"/>
                    </a:ext>
                  </a:extLst>
                </a:gridCol>
              </a:tblGrid>
              <a:tr h="652970">
                <a:tc>
                  <a:txBody>
                    <a:bodyPr/>
                    <a:lstStyle/>
                    <a:p>
                      <a:endParaRPr lang="en-US" altLang="ja-JP" sz="1100" dirty="0">
                        <a:latin typeface="メイリオ" panose="020B0604030504040204" pitchFamily="50" charset="-128"/>
                        <a:ea typeface="メイリオ" panose="020B0604030504040204" pitchFamily="50" charset="-128"/>
                      </a:endParaRPr>
                    </a:p>
                  </a:txBody>
                  <a:tcPr anchor="ctr"/>
                </a:tc>
                <a:tc>
                  <a:txBody>
                    <a:bodyPr/>
                    <a:lstStyle/>
                    <a:p>
                      <a:pPr>
                        <a:lnSpc>
                          <a:spcPct val="110000"/>
                        </a:lnSpc>
                      </a:pPr>
                      <a:r>
                        <a:rPr lang="en-US" altLang="ja-JP" sz="900" b="0" dirty="0">
                          <a:solidFill>
                            <a:srgbClr val="FF0000"/>
                          </a:solidFill>
                          <a:latin typeface="メイリオ" panose="020B0604030504040204" pitchFamily="50" charset="-128"/>
                          <a:ea typeface="メイリオ" panose="020B0604030504040204" pitchFamily="50" charset="-128"/>
                        </a:rPr>
                        <a:t>Rectus</a:t>
                      </a:r>
                      <a:r>
                        <a:rPr lang="ja-JP" altLang="en-US" sz="900" b="0" dirty="0">
                          <a:solidFill>
                            <a:srgbClr val="FF0000"/>
                          </a:solidFill>
                          <a:latin typeface="メイリオ" panose="020B0604030504040204" pitchFamily="50" charset="-128"/>
                          <a:ea typeface="メイリオ" panose="020B0604030504040204" pitchFamily="50" charset="-128"/>
                        </a:rPr>
                        <a:t> </a:t>
                      </a:r>
                      <a:r>
                        <a:rPr lang="en-US" altLang="ja-JP" sz="900" b="0" dirty="0">
                          <a:solidFill>
                            <a:srgbClr val="FF0000"/>
                          </a:solidFill>
                          <a:latin typeface="メイリオ" panose="020B0604030504040204" pitchFamily="50" charset="-128"/>
                          <a:ea typeface="メイリオ" panose="020B0604030504040204" pitchFamily="50" charset="-128"/>
                        </a:rPr>
                        <a:t>F.</a:t>
                      </a:r>
                    </a:p>
                    <a:p>
                      <a:pPr>
                        <a:lnSpc>
                          <a:spcPct val="110000"/>
                        </a:lnSpc>
                      </a:pPr>
                      <a:r>
                        <a:rPr lang="en-US" altLang="ja-JP" sz="900" b="0" dirty="0">
                          <a:solidFill>
                            <a:srgbClr val="FF0000"/>
                          </a:solidFill>
                          <a:latin typeface="メイリオ" panose="020B0604030504040204" pitchFamily="50" charset="-128"/>
                          <a:ea typeface="メイリオ" panose="020B0604030504040204" pitchFamily="50" charset="-128"/>
                        </a:rPr>
                        <a:t>Vastus Lat.</a:t>
                      </a:r>
                    </a:p>
                    <a:p>
                      <a:pPr>
                        <a:lnSpc>
                          <a:spcPct val="110000"/>
                        </a:lnSpc>
                      </a:pPr>
                      <a:r>
                        <a:rPr lang="en-US" altLang="ja-JP" sz="900" b="0" dirty="0">
                          <a:solidFill>
                            <a:srgbClr val="FF0000"/>
                          </a:solidFill>
                          <a:latin typeface="メイリオ" panose="020B0604030504040204" pitchFamily="50" charset="-128"/>
                          <a:ea typeface="メイリオ" panose="020B0604030504040204" pitchFamily="50" charset="-128"/>
                        </a:rPr>
                        <a:t>Vastus Med.</a:t>
                      </a:r>
                      <a:endParaRPr lang="ja-JP" altLang="en-US" sz="900" b="0" dirty="0">
                        <a:solidFill>
                          <a:srgbClr val="FF0000"/>
                        </a:solidFill>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3809921758"/>
                  </a:ext>
                </a:extLst>
              </a:tr>
            </a:tbl>
          </a:graphicData>
        </a:graphic>
      </p:graphicFrame>
      <p:sp>
        <p:nvSpPr>
          <p:cNvPr id="114" name="テキスト ボックス 113">
            <a:extLst>
              <a:ext uri="{FF2B5EF4-FFF2-40B4-BE49-F238E27FC236}">
                <a16:creationId xmlns:a16="http://schemas.microsoft.com/office/drawing/2014/main" id="{CCD25496-8816-4EF6-818E-454216822969}"/>
              </a:ext>
            </a:extLst>
          </p:cNvPr>
          <p:cNvSpPr txBox="1"/>
          <p:nvPr/>
        </p:nvSpPr>
        <p:spPr>
          <a:xfrm>
            <a:off x="903815" y="6981632"/>
            <a:ext cx="3446855" cy="253916"/>
          </a:xfrm>
          <a:prstGeom prst="rect">
            <a:avLst/>
          </a:prstGeom>
          <a:noFill/>
        </p:spPr>
        <p:txBody>
          <a:bodyPr wrap="square">
            <a:spAutoFit/>
          </a:bodyPr>
          <a:lstStyle/>
          <a:p>
            <a:r>
              <a:rPr lang="en-US" altLang="ja-JP" sz="1050" b="1" dirty="0">
                <a:latin typeface="メイリオ" panose="020B0604030504040204" pitchFamily="50" charset="-128"/>
                <a:ea typeface="メイリオ" panose="020B0604030504040204" pitchFamily="50" charset="-128"/>
              </a:rPr>
              <a:t>Risk</a:t>
            </a:r>
            <a:r>
              <a:rPr lang="en-US" altLang="ja-JP" sz="1050" dirty="0">
                <a:latin typeface="メイリオ" panose="020B0604030504040204" pitchFamily="50" charset="-128"/>
                <a:ea typeface="メイリオ" panose="020B0604030504040204" pitchFamily="50" charset="-128"/>
              </a:rPr>
              <a:t>: ++Fall, ++</a:t>
            </a:r>
            <a:r>
              <a:rPr lang="ja-JP" altLang="en-US" sz="1050" dirty="0">
                <a:latin typeface="メイリオ" panose="020B0604030504040204" pitchFamily="50" charset="-128"/>
                <a:ea typeface="メイリオ" panose="020B0604030504040204" pitchFamily="50" charset="-128"/>
              </a:rPr>
              <a:t> </a:t>
            </a:r>
            <a:r>
              <a:rPr lang="en-US" altLang="ja-JP" sz="1050" dirty="0">
                <a:latin typeface="メイリオ" panose="020B0604030504040204" pitchFamily="50" charset="-128"/>
                <a:ea typeface="メイリオ" panose="020B0604030504040204" pitchFamily="50" charset="-128"/>
              </a:rPr>
              <a:t>Knee OA, ++</a:t>
            </a:r>
            <a:r>
              <a:rPr lang="ja-JP" altLang="en-US" sz="1050" dirty="0">
                <a:latin typeface="メイリオ" panose="020B0604030504040204" pitchFamily="50" charset="-128"/>
                <a:ea typeface="メイリオ" panose="020B0604030504040204" pitchFamily="50" charset="-128"/>
              </a:rPr>
              <a:t> </a:t>
            </a:r>
            <a:r>
              <a:rPr lang="en-US" altLang="ja-JP" sz="1050" dirty="0">
                <a:latin typeface="メイリオ" panose="020B0604030504040204" pitchFamily="50" charset="-128"/>
                <a:ea typeface="メイリオ" panose="020B0604030504040204" pitchFamily="50" charset="-128"/>
              </a:rPr>
              <a:t>Femoral fracture</a:t>
            </a:r>
            <a:endParaRPr lang="ja-JP" altLang="en-US" sz="1050" dirty="0">
              <a:latin typeface="メイリオ" panose="020B0604030504040204" pitchFamily="50" charset="-128"/>
              <a:ea typeface="メイリオ" panose="020B0604030504040204" pitchFamily="50" charset="-128"/>
            </a:endParaRPr>
          </a:p>
        </p:txBody>
      </p:sp>
      <p:sp>
        <p:nvSpPr>
          <p:cNvPr id="116" name="テキスト ボックス 115">
            <a:extLst>
              <a:ext uri="{FF2B5EF4-FFF2-40B4-BE49-F238E27FC236}">
                <a16:creationId xmlns:a16="http://schemas.microsoft.com/office/drawing/2014/main" id="{8BE86420-FE25-406A-851D-6B3528DD415A}"/>
              </a:ext>
            </a:extLst>
          </p:cNvPr>
          <p:cNvSpPr txBox="1"/>
          <p:nvPr/>
        </p:nvSpPr>
        <p:spPr>
          <a:xfrm rot="5400000">
            <a:off x="825437" y="6257818"/>
            <a:ext cx="707681" cy="336952"/>
          </a:xfrm>
          <a:prstGeom prst="rect">
            <a:avLst/>
          </a:prstGeom>
          <a:noFill/>
        </p:spPr>
        <p:txBody>
          <a:bodyPr wrap="square" rtlCol="0">
            <a:spAutoFit/>
          </a:bodyPr>
          <a:lstStyle>
            <a:defPPr>
              <a:defRPr lang="en-US"/>
            </a:defPPr>
            <a:lvl1pPr>
              <a:lnSpc>
                <a:spcPct val="70000"/>
              </a:lnSpc>
              <a:defRPr kumimoji="1" sz="1100" b="1"/>
            </a:lvl1pPr>
          </a:lstStyle>
          <a:p>
            <a:r>
              <a:rPr lang="en-US" altLang="ja-JP" dirty="0"/>
              <a:t>Front</a:t>
            </a:r>
          </a:p>
          <a:p>
            <a:r>
              <a:rPr lang="en-US" altLang="ja-JP" dirty="0"/>
              <a:t>Thigh</a:t>
            </a:r>
            <a:endParaRPr lang="ja-JP" altLang="en-US" dirty="0"/>
          </a:p>
        </p:txBody>
      </p:sp>
      <p:graphicFrame>
        <p:nvGraphicFramePr>
          <p:cNvPr id="117" name="表 116">
            <a:extLst>
              <a:ext uri="{FF2B5EF4-FFF2-40B4-BE49-F238E27FC236}">
                <a16:creationId xmlns:a16="http://schemas.microsoft.com/office/drawing/2014/main" id="{2AA24F96-C9E0-491A-B663-B8E84B9A8C91}"/>
              </a:ext>
            </a:extLst>
          </p:cNvPr>
          <p:cNvGraphicFramePr>
            <a:graphicFrameLocks noGrp="1"/>
          </p:cNvGraphicFramePr>
          <p:nvPr>
            <p:extLst>
              <p:ext uri="{D42A27DB-BD31-4B8C-83A1-F6EECF244321}">
                <p14:modId xmlns:p14="http://schemas.microsoft.com/office/powerpoint/2010/main" val="1518337415"/>
              </p:ext>
            </p:extLst>
          </p:nvPr>
        </p:nvGraphicFramePr>
        <p:xfrm>
          <a:off x="4358497" y="2729180"/>
          <a:ext cx="1287811" cy="610509"/>
        </p:xfrm>
        <a:graphic>
          <a:graphicData uri="http://schemas.openxmlformats.org/drawingml/2006/table">
            <a:tbl>
              <a:tblPr firstRow="1" bandRow="1">
                <a:tableStyleId>{8799B23B-EC83-4686-B30A-512413B5E67A}</a:tableStyleId>
              </a:tblPr>
              <a:tblGrid>
                <a:gridCol w="388387">
                  <a:extLst>
                    <a:ext uri="{9D8B030D-6E8A-4147-A177-3AD203B41FA5}">
                      <a16:colId xmlns:a16="http://schemas.microsoft.com/office/drawing/2014/main" val="3601844147"/>
                    </a:ext>
                  </a:extLst>
                </a:gridCol>
                <a:gridCol w="899424">
                  <a:extLst>
                    <a:ext uri="{9D8B030D-6E8A-4147-A177-3AD203B41FA5}">
                      <a16:colId xmlns:a16="http://schemas.microsoft.com/office/drawing/2014/main" val="2066940135"/>
                    </a:ext>
                  </a:extLst>
                </a:gridCol>
              </a:tblGrid>
              <a:tr h="610509">
                <a:tc>
                  <a:txBody>
                    <a:bodyPr/>
                    <a:lstStyle/>
                    <a:p>
                      <a:endParaRPr lang="en-US" altLang="ja-JP" sz="1100" dirty="0">
                        <a:latin typeface="メイリオ" panose="020B0604030504040204" pitchFamily="50" charset="-128"/>
                        <a:ea typeface="メイリオ" panose="020B0604030504040204" pitchFamily="50" charset="-128"/>
                      </a:endParaRPr>
                    </a:p>
                  </a:txBody>
                  <a:tcPr anchor="ctr"/>
                </a:tc>
                <a:tc>
                  <a:txBody>
                    <a:bodyPr/>
                    <a:lstStyle/>
                    <a:p>
                      <a:pPr>
                        <a:lnSpc>
                          <a:spcPct val="110000"/>
                        </a:lnSpc>
                      </a:pPr>
                      <a:r>
                        <a:rPr lang="en-US" altLang="ja-JP" sz="900" b="0" dirty="0">
                          <a:solidFill>
                            <a:srgbClr val="FF0000"/>
                          </a:solidFill>
                          <a:latin typeface="メイリオ" panose="020B0604030504040204" pitchFamily="50" charset="-128"/>
                          <a:ea typeface="メイリオ" panose="020B0604030504040204" pitchFamily="50" charset="-128"/>
                        </a:rPr>
                        <a:t>Psoas Major</a:t>
                      </a:r>
                    </a:p>
                    <a:p>
                      <a:pPr>
                        <a:lnSpc>
                          <a:spcPct val="110000"/>
                        </a:lnSpc>
                      </a:pPr>
                      <a:r>
                        <a:rPr lang="en-US" altLang="ja-JP" sz="900" b="0" dirty="0">
                          <a:solidFill>
                            <a:srgbClr val="FF0000"/>
                          </a:solidFill>
                          <a:latin typeface="メイリオ" panose="020B0604030504040204" pitchFamily="50" charset="-128"/>
                          <a:ea typeface="メイリオ" panose="020B0604030504040204" pitchFamily="50" charset="-128"/>
                        </a:rPr>
                        <a:t>Iliacus</a:t>
                      </a:r>
                    </a:p>
                    <a:p>
                      <a:pPr>
                        <a:lnSpc>
                          <a:spcPct val="110000"/>
                        </a:lnSpc>
                      </a:pPr>
                      <a:r>
                        <a:rPr lang="en-US" altLang="ja-JP" sz="800" b="0" dirty="0" err="1">
                          <a:solidFill>
                            <a:srgbClr val="FF0000"/>
                          </a:solidFill>
                          <a:latin typeface="メイリオ" panose="020B0604030504040204" pitchFamily="50" charset="-128"/>
                          <a:ea typeface="メイリオ" panose="020B0604030504040204" pitchFamily="50" charset="-128"/>
                        </a:rPr>
                        <a:t>Q.Lumborum</a:t>
                      </a:r>
                      <a:endParaRPr lang="ja-JP" altLang="en-US" sz="800" b="0" dirty="0">
                        <a:solidFill>
                          <a:srgbClr val="FF0000"/>
                        </a:solidFill>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4135673603"/>
                  </a:ext>
                </a:extLst>
              </a:tr>
            </a:tbl>
          </a:graphicData>
        </a:graphic>
      </p:graphicFrame>
      <p:sp>
        <p:nvSpPr>
          <p:cNvPr id="118" name="テキスト ボックス 117">
            <a:extLst>
              <a:ext uri="{FF2B5EF4-FFF2-40B4-BE49-F238E27FC236}">
                <a16:creationId xmlns:a16="http://schemas.microsoft.com/office/drawing/2014/main" id="{11469FFB-BD55-4D75-9975-3C9DF43B383A}"/>
              </a:ext>
            </a:extLst>
          </p:cNvPr>
          <p:cNvSpPr txBox="1"/>
          <p:nvPr/>
        </p:nvSpPr>
        <p:spPr>
          <a:xfrm rot="5400000">
            <a:off x="4196772" y="2869909"/>
            <a:ext cx="657174" cy="359201"/>
          </a:xfrm>
          <a:prstGeom prst="rect">
            <a:avLst/>
          </a:prstGeom>
          <a:noFill/>
        </p:spPr>
        <p:txBody>
          <a:bodyPr wrap="square" rtlCol="0">
            <a:spAutoFit/>
          </a:bodyPr>
          <a:lstStyle/>
          <a:p>
            <a:pPr>
              <a:lnSpc>
                <a:spcPct val="70000"/>
              </a:lnSpc>
            </a:pPr>
            <a:r>
              <a:rPr kumimoji="1" lang="en-US" altLang="ja-JP" sz="1200" b="1" dirty="0"/>
              <a:t>Deep Hip</a:t>
            </a:r>
            <a:endParaRPr kumimoji="1" lang="ja-JP" altLang="en-US" sz="1200" b="1" dirty="0"/>
          </a:p>
        </p:txBody>
      </p:sp>
      <p:sp>
        <p:nvSpPr>
          <p:cNvPr id="119" name="テキスト ボックス 118">
            <a:extLst>
              <a:ext uri="{FF2B5EF4-FFF2-40B4-BE49-F238E27FC236}">
                <a16:creationId xmlns:a16="http://schemas.microsoft.com/office/drawing/2014/main" id="{A7CC75E3-F845-4D6D-A022-5223C2FE8543}"/>
              </a:ext>
            </a:extLst>
          </p:cNvPr>
          <p:cNvSpPr txBox="1"/>
          <p:nvPr/>
        </p:nvSpPr>
        <p:spPr>
          <a:xfrm>
            <a:off x="4281876" y="3571757"/>
            <a:ext cx="2455250" cy="253916"/>
          </a:xfrm>
          <a:prstGeom prst="rect">
            <a:avLst/>
          </a:prstGeom>
          <a:noFill/>
        </p:spPr>
        <p:txBody>
          <a:bodyPr wrap="square">
            <a:spAutoFit/>
          </a:bodyPr>
          <a:lstStyle/>
          <a:p>
            <a:r>
              <a:rPr lang="en-US" altLang="ja-JP" sz="1050" b="1" dirty="0">
                <a:latin typeface="メイリオ" panose="020B0604030504040204" pitchFamily="50" charset="-128"/>
                <a:ea typeface="メイリオ" panose="020B0604030504040204" pitchFamily="50" charset="-128"/>
              </a:rPr>
              <a:t>Risk</a:t>
            </a:r>
            <a:r>
              <a:rPr lang="en-US" altLang="ja-JP" sz="1050" dirty="0">
                <a:latin typeface="メイリオ" panose="020B0604030504040204" pitchFamily="50" charset="-128"/>
                <a:ea typeface="メイリオ" panose="020B0604030504040204" pitchFamily="50" charset="-128"/>
              </a:rPr>
              <a:t>: ++</a:t>
            </a:r>
            <a:r>
              <a:rPr lang="ja-JP" altLang="en-US" sz="1050" dirty="0">
                <a:latin typeface="メイリオ" panose="020B0604030504040204" pitchFamily="50" charset="-128"/>
                <a:ea typeface="メイリオ" panose="020B0604030504040204" pitchFamily="50" charset="-128"/>
              </a:rPr>
              <a:t> </a:t>
            </a:r>
            <a:r>
              <a:rPr lang="en-US" altLang="ja-JP" sz="1050" dirty="0">
                <a:latin typeface="メイリオ" panose="020B0604030504040204" pitchFamily="50" charset="-128"/>
                <a:ea typeface="メイリオ" panose="020B0604030504040204" pitchFamily="50" charset="-128"/>
              </a:rPr>
              <a:t>Knee OA, ++</a:t>
            </a:r>
            <a:r>
              <a:rPr lang="ja-JP" altLang="en-US" sz="1050" dirty="0">
                <a:latin typeface="メイリオ" panose="020B0604030504040204" pitchFamily="50" charset="-128"/>
                <a:ea typeface="メイリオ" panose="020B0604030504040204" pitchFamily="50" charset="-128"/>
              </a:rPr>
              <a:t> </a:t>
            </a:r>
            <a:r>
              <a:rPr lang="en-US" altLang="ja-JP" sz="1050" dirty="0">
                <a:latin typeface="メイリオ" panose="020B0604030504040204" pitchFamily="50" charset="-128"/>
                <a:ea typeface="メイリオ" panose="020B0604030504040204" pitchFamily="50" charset="-128"/>
              </a:rPr>
              <a:t>Fall</a:t>
            </a:r>
            <a:endParaRPr lang="ja-JP" altLang="en-US" sz="1050" dirty="0">
              <a:latin typeface="メイリオ" panose="020B0604030504040204" pitchFamily="50" charset="-128"/>
              <a:ea typeface="メイリオ" panose="020B0604030504040204" pitchFamily="50" charset="-128"/>
            </a:endParaRPr>
          </a:p>
        </p:txBody>
      </p:sp>
      <p:sp>
        <p:nvSpPr>
          <p:cNvPr id="120" name="テキスト ボックス 119">
            <a:extLst>
              <a:ext uri="{FF2B5EF4-FFF2-40B4-BE49-F238E27FC236}">
                <a16:creationId xmlns:a16="http://schemas.microsoft.com/office/drawing/2014/main" id="{35791CF2-263E-43B2-AB19-9835E468117F}"/>
              </a:ext>
            </a:extLst>
          </p:cNvPr>
          <p:cNvSpPr txBox="1"/>
          <p:nvPr/>
        </p:nvSpPr>
        <p:spPr>
          <a:xfrm>
            <a:off x="4272365" y="3386843"/>
            <a:ext cx="3093118" cy="261610"/>
          </a:xfrm>
          <a:prstGeom prst="rect">
            <a:avLst/>
          </a:prstGeom>
          <a:noFill/>
        </p:spPr>
        <p:txBody>
          <a:bodyPr wrap="square">
            <a:spAutoFit/>
          </a:bodyPr>
          <a:lstStyle/>
          <a:p>
            <a:r>
              <a:rPr lang="en-US" altLang="ja-JP" sz="1050" b="1" dirty="0">
                <a:latin typeface="メイリオ" panose="020B0604030504040204" pitchFamily="50" charset="-128"/>
                <a:ea typeface="メイリオ" panose="020B0604030504040204" pitchFamily="50" charset="-128"/>
              </a:rPr>
              <a:t>Function</a:t>
            </a:r>
            <a:r>
              <a:rPr lang="en-US" altLang="ja-JP" sz="1050" dirty="0">
                <a:latin typeface="メイリオ" panose="020B0604030504040204" pitchFamily="50" charset="-128"/>
                <a:ea typeface="メイリオ" panose="020B0604030504040204" pitchFamily="50" charset="-128"/>
              </a:rPr>
              <a:t>: Hip flexion, walking stability</a:t>
            </a:r>
            <a:endParaRPr lang="ja-JP" altLang="en-US" sz="1050" dirty="0">
              <a:latin typeface="メイリオ" panose="020B0604030504040204" pitchFamily="50" charset="-128"/>
              <a:ea typeface="メイリオ" panose="020B0604030504040204" pitchFamily="50" charset="-128"/>
            </a:endParaRPr>
          </a:p>
        </p:txBody>
      </p:sp>
      <p:graphicFrame>
        <p:nvGraphicFramePr>
          <p:cNvPr id="124" name="表 123">
            <a:extLst>
              <a:ext uri="{FF2B5EF4-FFF2-40B4-BE49-F238E27FC236}">
                <a16:creationId xmlns:a16="http://schemas.microsoft.com/office/drawing/2014/main" id="{BAFE5C21-6BFB-4191-9C31-11E9AE0B6272}"/>
              </a:ext>
            </a:extLst>
          </p:cNvPr>
          <p:cNvGraphicFramePr>
            <a:graphicFrameLocks noGrp="1"/>
          </p:cNvGraphicFramePr>
          <p:nvPr>
            <p:extLst>
              <p:ext uri="{D42A27DB-BD31-4B8C-83A1-F6EECF244321}">
                <p14:modId xmlns:p14="http://schemas.microsoft.com/office/powerpoint/2010/main" val="703779166"/>
              </p:ext>
            </p:extLst>
          </p:nvPr>
        </p:nvGraphicFramePr>
        <p:xfrm>
          <a:off x="1019561" y="7335075"/>
          <a:ext cx="1176409" cy="644937"/>
        </p:xfrm>
        <a:graphic>
          <a:graphicData uri="http://schemas.openxmlformats.org/drawingml/2006/table">
            <a:tbl>
              <a:tblPr firstRow="1" bandRow="1">
                <a:tableStyleId>{8799B23B-EC83-4686-B30A-512413B5E67A}</a:tableStyleId>
              </a:tblPr>
              <a:tblGrid>
                <a:gridCol w="398360">
                  <a:extLst>
                    <a:ext uri="{9D8B030D-6E8A-4147-A177-3AD203B41FA5}">
                      <a16:colId xmlns:a16="http://schemas.microsoft.com/office/drawing/2014/main" val="2069685764"/>
                    </a:ext>
                  </a:extLst>
                </a:gridCol>
                <a:gridCol w="778049">
                  <a:extLst>
                    <a:ext uri="{9D8B030D-6E8A-4147-A177-3AD203B41FA5}">
                      <a16:colId xmlns:a16="http://schemas.microsoft.com/office/drawing/2014/main" val="3304209401"/>
                    </a:ext>
                  </a:extLst>
                </a:gridCol>
              </a:tblGrid>
              <a:tr h="644937">
                <a:tc>
                  <a:txBody>
                    <a:bodyPr/>
                    <a:lstStyle/>
                    <a:p>
                      <a:endParaRPr lang="ja-JP" altLang="en-US" sz="1100" dirty="0">
                        <a:latin typeface="メイリオ" panose="020B0604030504040204" pitchFamily="50" charset="-128"/>
                        <a:ea typeface="メイリオ" panose="020B0604030504040204" pitchFamily="50" charset="-128"/>
                      </a:endParaRPr>
                    </a:p>
                  </a:txBody>
                  <a:tcPr anchor="ctr"/>
                </a:tc>
                <a:tc>
                  <a:txBody>
                    <a:bodyPr/>
                    <a:lstStyle/>
                    <a:p>
                      <a:pPr>
                        <a:lnSpc>
                          <a:spcPct val="110000"/>
                        </a:lnSpc>
                      </a:pPr>
                      <a:r>
                        <a:rPr lang="en-US" altLang="ja-JP" sz="900" b="0" dirty="0">
                          <a:solidFill>
                            <a:srgbClr val="FF0000"/>
                          </a:solidFill>
                          <a:latin typeface="メイリオ" panose="020B0604030504040204" pitchFamily="50" charset="-128"/>
                          <a:ea typeface="メイリオ" panose="020B0604030504040204" pitchFamily="50" charset="-128"/>
                        </a:rPr>
                        <a:t>Ant. Comp.</a:t>
                      </a:r>
                    </a:p>
                    <a:p>
                      <a:pPr>
                        <a:lnSpc>
                          <a:spcPct val="110000"/>
                        </a:lnSpc>
                      </a:pPr>
                      <a:r>
                        <a:rPr lang="en-US" altLang="ja-JP" sz="900" b="0" dirty="0">
                          <a:solidFill>
                            <a:srgbClr val="FF0000"/>
                          </a:solidFill>
                          <a:latin typeface="メイリオ" panose="020B0604030504040204" pitchFamily="50" charset="-128"/>
                          <a:ea typeface="メイリオ" panose="020B0604030504040204" pitchFamily="50" charset="-128"/>
                        </a:rPr>
                        <a:t>Lat. Comp.</a:t>
                      </a:r>
                    </a:p>
                  </a:txBody>
                  <a:tcPr anchor="ctr"/>
                </a:tc>
                <a:extLst>
                  <a:ext uri="{0D108BD9-81ED-4DB2-BD59-A6C34878D82A}">
                    <a16:rowId xmlns:a16="http://schemas.microsoft.com/office/drawing/2014/main" val="1058651088"/>
                  </a:ext>
                </a:extLst>
              </a:tr>
            </a:tbl>
          </a:graphicData>
        </a:graphic>
      </p:graphicFrame>
      <p:sp>
        <p:nvSpPr>
          <p:cNvPr id="125" name="テキスト ボックス 124">
            <a:extLst>
              <a:ext uri="{FF2B5EF4-FFF2-40B4-BE49-F238E27FC236}">
                <a16:creationId xmlns:a16="http://schemas.microsoft.com/office/drawing/2014/main" id="{0A2CAC6C-A8DB-497B-8D4E-121764B3A64E}"/>
              </a:ext>
            </a:extLst>
          </p:cNvPr>
          <p:cNvSpPr txBox="1"/>
          <p:nvPr/>
        </p:nvSpPr>
        <p:spPr>
          <a:xfrm>
            <a:off x="925613" y="7980012"/>
            <a:ext cx="3261792" cy="246221"/>
          </a:xfrm>
          <a:prstGeom prst="rect">
            <a:avLst/>
          </a:prstGeom>
          <a:noFill/>
        </p:spPr>
        <p:txBody>
          <a:bodyPr wrap="square">
            <a:spAutoFit/>
          </a:bodyPr>
          <a:lstStyle/>
          <a:p>
            <a:r>
              <a:rPr lang="en-US" altLang="ja-JP" sz="1000" b="1" dirty="0">
                <a:latin typeface="メイリオ" panose="020B0604030504040204" pitchFamily="50" charset="-128"/>
                <a:ea typeface="メイリオ" panose="020B0604030504040204" pitchFamily="50" charset="-128"/>
              </a:rPr>
              <a:t>Function: </a:t>
            </a:r>
            <a:r>
              <a:rPr lang="en-US" altLang="ja-JP" sz="1000" dirty="0">
                <a:latin typeface="メイリオ" panose="020B0604030504040204" pitchFamily="50" charset="-128"/>
                <a:ea typeface="メイリオ" panose="020B0604030504040204" pitchFamily="50" charset="-128"/>
              </a:rPr>
              <a:t>Ankle lift/foot stability/arch support</a:t>
            </a:r>
            <a:endParaRPr lang="ja-JP" altLang="en-US" sz="1000" dirty="0">
              <a:latin typeface="メイリオ" panose="020B0604030504040204" pitchFamily="50" charset="-128"/>
              <a:ea typeface="メイリオ" panose="020B0604030504040204" pitchFamily="50" charset="-128"/>
            </a:endParaRPr>
          </a:p>
        </p:txBody>
      </p:sp>
      <p:sp>
        <p:nvSpPr>
          <p:cNvPr id="126" name="テキスト ボックス 125">
            <a:extLst>
              <a:ext uri="{FF2B5EF4-FFF2-40B4-BE49-F238E27FC236}">
                <a16:creationId xmlns:a16="http://schemas.microsoft.com/office/drawing/2014/main" id="{8491CAC2-F182-41E4-AEA7-A7E949B13139}"/>
              </a:ext>
            </a:extLst>
          </p:cNvPr>
          <p:cNvSpPr txBox="1"/>
          <p:nvPr/>
        </p:nvSpPr>
        <p:spPr>
          <a:xfrm>
            <a:off x="925613" y="8161454"/>
            <a:ext cx="1428271" cy="253916"/>
          </a:xfrm>
          <a:prstGeom prst="rect">
            <a:avLst/>
          </a:prstGeom>
          <a:noFill/>
        </p:spPr>
        <p:txBody>
          <a:bodyPr wrap="square">
            <a:spAutoFit/>
          </a:bodyPr>
          <a:lstStyle/>
          <a:p>
            <a:r>
              <a:rPr lang="en-US" altLang="ja-JP" sz="1000" b="1" dirty="0">
                <a:latin typeface="メイリオ" panose="020B0604030504040204" pitchFamily="50" charset="-128"/>
                <a:ea typeface="メイリオ" panose="020B0604030504040204" pitchFamily="50" charset="-128"/>
              </a:rPr>
              <a:t>Risk</a:t>
            </a:r>
            <a:r>
              <a:rPr lang="en-US" altLang="ja-JP" sz="1000" dirty="0">
                <a:latin typeface="メイリオ" panose="020B0604030504040204" pitchFamily="50" charset="-128"/>
                <a:ea typeface="メイリオ" panose="020B0604030504040204" pitchFamily="50" charset="-128"/>
              </a:rPr>
              <a:t>: +++ Fall</a:t>
            </a:r>
            <a:endParaRPr lang="ja-JP" altLang="en-US" sz="700" dirty="0">
              <a:latin typeface="メイリオ" panose="020B0604030504040204" pitchFamily="50" charset="-128"/>
              <a:ea typeface="メイリオ" panose="020B0604030504040204" pitchFamily="50" charset="-128"/>
            </a:endParaRPr>
          </a:p>
        </p:txBody>
      </p:sp>
      <p:sp>
        <p:nvSpPr>
          <p:cNvPr id="127" name="テキスト ボックス 126">
            <a:extLst>
              <a:ext uri="{FF2B5EF4-FFF2-40B4-BE49-F238E27FC236}">
                <a16:creationId xmlns:a16="http://schemas.microsoft.com/office/drawing/2014/main" id="{FDD8BB38-C553-4810-A2A7-B87102118EF1}"/>
              </a:ext>
            </a:extLst>
          </p:cNvPr>
          <p:cNvSpPr txBox="1"/>
          <p:nvPr/>
        </p:nvSpPr>
        <p:spPr>
          <a:xfrm rot="5400000">
            <a:off x="837855" y="7470941"/>
            <a:ext cx="750511" cy="455446"/>
          </a:xfrm>
          <a:prstGeom prst="rect">
            <a:avLst/>
          </a:prstGeom>
          <a:noFill/>
        </p:spPr>
        <p:txBody>
          <a:bodyPr wrap="square" rtlCol="0">
            <a:spAutoFit/>
          </a:bodyPr>
          <a:lstStyle/>
          <a:p>
            <a:pPr>
              <a:lnSpc>
                <a:spcPct val="70000"/>
              </a:lnSpc>
            </a:pPr>
            <a:r>
              <a:rPr kumimoji="1" lang="en-US" altLang="ja-JP" sz="1100" b="1" dirty="0"/>
              <a:t>Lower</a:t>
            </a:r>
          </a:p>
          <a:p>
            <a:pPr>
              <a:lnSpc>
                <a:spcPct val="70000"/>
              </a:lnSpc>
            </a:pPr>
            <a:r>
              <a:rPr kumimoji="1" lang="en-US" altLang="ja-JP" sz="1100" b="1" dirty="0"/>
              <a:t>Leg (Front)</a:t>
            </a:r>
            <a:endParaRPr kumimoji="1" lang="ja-JP" altLang="en-US" sz="1100" b="1" dirty="0"/>
          </a:p>
        </p:txBody>
      </p:sp>
      <p:graphicFrame>
        <p:nvGraphicFramePr>
          <p:cNvPr id="128" name="表 127">
            <a:extLst>
              <a:ext uri="{FF2B5EF4-FFF2-40B4-BE49-F238E27FC236}">
                <a16:creationId xmlns:a16="http://schemas.microsoft.com/office/drawing/2014/main" id="{FA4AEE41-C829-4790-996B-76936ED83F34}"/>
              </a:ext>
            </a:extLst>
          </p:cNvPr>
          <p:cNvGraphicFramePr>
            <a:graphicFrameLocks noGrp="1"/>
          </p:cNvGraphicFramePr>
          <p:nvPr>
            <p:extLst>
              <p:ext uri="{D42A27DB-BD31-4B8C-83A1-F6EECF244321}">
                <p14:modId xmlns:p14="http://schemas.microsoft.com/office/powerpoint/2010/main" val="2081464850"/>
              </p:ext>
            </p:extLst>
          </p:nvPr>
        </p:nvGraphicFramePr>
        <p:xfrm>
          <a:off x="8656558" y="2884189"/>
          <a:ext cx="1231944" cy="1373552"/>
        </p:xfrm>
        <a:graphic>
          <a:graphicData uri="http://schemas.openxmlformats.org/drawingml/2006/table">
            <a:tbl>
              <a:tblPr firstRow="1" bandRow="1">
                <a:tableStyleId>{8799B23B-EC83-4686-B30A-512413B5E67A}</a:tableStyleId>
              </a:tblPr>
              <a:tblGrid>
                <a:gridCol w="297448">
                  <a:extLst>
                    <a:ext uri="{9D8B030D-6E8A-4147-A177-3AD203B41FA5}">
                      <a16:colId xmlns:a16="http://schemas.microsoft.com/office/drawing/2014/main" val="258627500"/>
                    </a:ext>
                  </a:extLst>
                </a:gridCol>
                <a:gridCol w="934496">
                  <a:extLst>
                    <a:ext uri="{9D8B030D-6E8A-4147-A177-3AD203B41FA5}">
                      <a16:colId xmlns:a16="http://schemas.microsoft.com/office/drawing/2014/main" val="2293094048"/>
                    </a:ext>
                  </a:extLst>
                </a:gridCol>
              </a:tblGrid>
              <a:tr h="1373552">
                <a:tc>
                  <a:txBody>
                    <a:bodyPr/>
                    <a:lstStyle/>
                    <a:p>
                      <a:endParaRPr lang="ja-JP" altLang="en-US" sz="1100" dirty="0">
                        <a:latin typeface="メイリオ" panose="020B0604030504040204" pitchFamily="50" charset="-128"/>
                        <a:ea typeface="メイリオ" panose="020B0604030504040204" pitchFamily="50" charset="-128"/>
                      </a:endParaRPr>
                    </a:p>
                  </a:txBody>
                  <a:tcPr anchor="ctr"/>
                </a:tc>
                <a:tc>
                  <a:txBody>
                    <a:bodyPr/>
                    <a:lstStyle/>
                    <a:p>
                      <a:pPr>
                        <a:lnSpc>
                          <a:spcPct val="100000"/>
                        </a:lnSpc>
                      </a:pPr>
                      <a:r>
                        <a:rPr lang="en-US" altLang="ja-JP" sz="900" b="0" dirty="0">
                          <a:solidFill>
                            <a:srgbClr val="FF0000"/>
                          </a:solidFill>
                          <a:latin typeface="メイリオ" panose="020B0604030504040204" pitchFamily="50" charset="-128"/>
                          <a:ea typeface="メイリオ" panose="020B0604030504040204" pitchFamily="50" charset="-128"/>
                        </a:rPr>
                        <a:t>Erector Sp.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900" b="0" dirty="0">
                          <a:solidFill>
                            <a:srgbClr val="FF0000"/>
                          </a:solidFill>
                          <a:latin typeface="メイリオ" panose="020B0604030504040204" pitchFamily="50" charset="-128"/>
                          <a:ea typeface="メイリオ" panose="020B0604030504040204" pitchFamily="50" charset="-128"/>
                        </a:rPr>
                        <a:t>Latissimus</a:t>
                      </a:r>
                    </a:p>
                    <a:p>
                      <a:pPr>
                        <a:lnSpc>
                          <a:spcPct val="100000"/>
                        </a:lnSpc>
                      </a:pPr>
                      <a:r>
                        <a:rPr lang="en-US" altLang="ja-JP" sz="900" b="0" dirty="0">
                          <a:latin typeface="メイリオ" panose="020B0604030504040204" pitchFamily="50" charset="-128"/>
                          <a:ea typeface="メイリオ" panose="020B0604030504040204" pitchFamily="50" charset="-128"/>
                        </a:rPr>
                        <a:t>Trapezius</a:t>
                      </a:r>
                    </a:p>
                    <a:p>
                      <a:pPr>
                        <a:lnSpc>
                          <a:spcPct val="100000"/>
                        </a:lnSpc>
                      </a:pPr>
                      <a:r>
                        <a:rPr lang="en-US" altLang="ja-JP" sz="900" b="0" dirty="0">
                          <a:latin typeface="メイリオ" panose="020B0604030504040204" pitchFamily="50" charset="-128"/>
                          <a:ea typeface="メイリオ" panose="020B0604030504040204" pitchFamily="50" charset="-128"/>
                        </a:rPr>
                        <a:t>Supra.</a:t>
                      </a:r>
                    </a:p>
                    <a:p>
                      <a:pPr>
                        <a:lnSpc>
                          <a:spcPct val="100000"/>
                        </a:lnSpc>
                      </a:pPr>
                      <a:r>
                        <a:rPr lang="en-US" altLang="ja-JP" sz="900" b="0" dirty="0">
                          <a:latin typeface="メイリオ" panose="020B0604030504040204" pitchFamily="50" charset="-128"/>
                          <a:ea typeface="メイリオ" panose="020B0604030504040204" pitchFamily="50" charset="-128"/>
                        </a:rPr>
                        <a:t>Infra.</a:t>
                      </a:r>
                    </a:p>
                    <a:p>
                      <a:pPr>
                        <a:lnSpc>
                          <a:spcPct val="100000"/>
                        </a:lnSpc>
                      </a:pPr>
                      <a:r>
                        <a:rPr lang="en-US" altLang="ja-JP" sz="900" b="0" dirty="0">
                          <a:latin typeface="メイリオ" panose="020B0604030504040204" pitchFamily="50" charset="-128"/>
                          <a:ea typeface="メイリオ" panose="020B0604030504040204" pitchFamily="50" charset="-128"/>
                        </a:rPr>
                        <a:t>Serratus Ant.</a:t>
                      </a:r>
                    </a:p>
                    <a:p>
                      <a:pPr>
                        <a:lnSpc>
                          <a:spcPct val="100000"/>
                        </a:lnSpc>
                      </a:pPr>
                      <a:r>
                        <a:rPr lang="en-US" altLang="ja-JP" sz="900" b="0" dirty="0" err="1">
                          <a:latin typeface="メイリオ" panose="020B0604030504040204" pitchFamily="50" charset="-128"/>
                          <a:ea typeface="メイリオ" panose="020B0604030504040204" pitchFamily="50" charset="-128"/>
                        </a:rPr>
                        <a:t>Subscap</a:t>
                      </a:r>
                      <a:r>
                        <a:rPr lang="en-US" altLang="ja-JP" sz="900" b="0" dirty="0">
                          <a:latin typeface="メイリオ" panose="020B0604030504040204" pitchFamily="50" charset="-128"/>
                          <a:ea typeface="メイリオ" panose="020B0604030504040204" pitchFamily="50" charset="-128"/>
                        </a:rPr>
                        <a:t>.</a:t>
                      </a:r>
                    </a:p>
                    <a:p>
                      <a:pPr>
                        <a:lnSpc>
                          <a:spcPct val="100000"/>
                        </a:lnSpc>
                      </a:pPr>
                      <a:r>
                        <a:rPr lang="en-US" altLang="ja-JP" sz="900" b="0" dirty="0">
                          <a:latin typeface="メイリオ" panose="020B0604030504040204" pitchFamily="50" charset="-128"/>
                          <a:ea typeface="メイリオ" panose="020B0604030504040204" pitchFamily="50" charset="-128"/>
                        </a:rPr>
                        <a:t>Teres Maj.</a:t>
                      </a:r>
                    </a:p>
                    <a:p>
                      <a:pPr>
                        <a:lnSpc>
                          <a:spcPct val="100000"/>
                        </a:lnSpc>
                      </a:pPr>
                      <a:r>
                        <a:rPr lang="en-US" altLang="ja-JP" sz="900" b="0" dirty="0">
                          <a:latin typeface="メイリオ" panose="020B0604030504040204" pitchFamily="50" charset="-128"/>
                          <a:ea typeface="メイリオ" panose="020B0604030504040204" pitchFamily="50" charset="-128"/>
                        </a:rPr>
                        <a:t>Teres Min.</a:t>
                      </a:r>
                    </a:p>
                  </a:txBody>
                  <a:tcPr anchor="ctr"/>
                </a:tc>
                <a:extLst>
                  <a:ext uri="{0D108BD9-81ED-4DB2-BD59-A6C34878D82A}">
                    <a16:rowId xmlns:a16="http://schemas.microsoft.com/office/drawing/2014/main" val="1882783772"/>
                  </a:ext>
                </a:extLst>
              </a:tr>
            </a:tbl>
          </a:graphicData>
        </a:graphic>
      </p:graphicFrame>
      <p:sp>
        <p:nvSpPr>
          <p:cNvPr id="129" name="テキスト ボックス 128">
            <a:extLst>
              <a:ext uri="{FF2B5EF4-FFF2-40B4-BE49-F238E27FC236}">
                <a16:creationId xmlns:a16="http://schemas.microsoft.com/office/drawing/2014/main" id="{29DDA7A6-4974-4E2F-9E5B-856366EC7D99}"/>
              </a:ext>
            </a:extLst>
          </p:cNvPr>
          <p:cNvSpPr txBox="1"/>
          <p:nvPr/>
        </p:nvSpPr>
        <p:spPr>
          <a:xfrm>
            <a:off x="8592796" y="4307448"/>
            <a:ext cx="3894770" cy="253916"/>
          </a:xfrm>
          <a:prstGeom prst="rect">
            <a:avLst/>
          </a:prstGeom>
          <a:noFill/>
        </p:spPr>
        <p:txBody>
          <a:bodyPr wrap="square">
            <a:spAutoFit/>
          </a:bodyPr>
          <a:lstStyle/>
          <a:p>
            <a:r>
              <a:rPr lang="en-US" altLang="ja-JP" sz="1050" b="1" dirty="0">
                <a:latin typeface="メイリオ" panose="020B0604030504040204" pitchFamily="50" charset="-128"/>
                <a:ea typeface="メイリオ" panose="020B0604030504040204" pitchFamily="50" charset="-128"/>
              </a:rPr>
              <a:t>Function</a:t>
            </a:r>
            <a:r>
              <a:rPr lang="en-US" altLang="ja-JP" sz="1050" dirty="0">
                <a:latin typeface="メイリオ" panose="020B0604030504040204" pitchFamily="50" charset="-128"/>
                <a:ea typeface="メイリオ" panose="020B0604030504040204" pitchFamily="50" charset="-128"/>
              </a:rPr>
              <a:t>: Posture / arm movement / shoulder stability</a:t>
            </a:r>
            <a:endParaRPr lang="ja-JP" altLang="en-US" sz="1050" dirty="0">
              <a:latin typeface="メイリオ" panose="020B0604030504040204" pitchFamily="50" charset="-128"/>
              <a:ea typeface="メイリオ" panose="020B0604030504040204" pitchFamily="50" charset="-128"/>
            </a:endParaRPr>
          </a:p>
        </p:txBody>
      </p:sp>
      <p:sp>
        <p:nvSpPr>
          <p:cNvPr id="130" name="テキスト ボックス 129">
            <a:extLst>
              <a:ext uri="{FF2B5EF4-FFF2-40B4-BE49-F238E27FC236}">
                <a16:creationId xmlns:a16="http://schemas.microsoft.com/office/drawing/2014/main" id="{FE9B970A-A1CD-44B6-A84A-22BE8EAB7CCE}"/>
              </a:ext>
            </a:extLst>
          </p:cNvPr>
          <p:cNvSpPr txBox="1"/>
          <p:nvPr/>
        </p:nvSpPr>
        <p:spPr>
          <a:xfrm rot="5400000">
            <a:off x="8001063" y="3531576"/>
            <a:ext cx="1634748" cy="218458"/>
          </a:xfrm>
          <a:prstGeom prst="rect">
            <a:avLst/>
          </a:prstGeom>
          <a:noFill/>
        </p:spPr>
        <p:txBody>
          <a:bodyPr wrap="square" rtlCol="0">
            <a:spAutoFit/>
          </a:bodyPr>
          <a:lstStyle/>
          <a:p>
            <a:pPr>
              <a:lnSpc>
                <a:spcPct val="70000"/>
              </a:lnSpc>
            </a:pPr>
            <a:r>
              <a:rPr kumimoji="1" lang="en-US" altLang="ja-JP" sz="1100" b="1" dirty="0"/>
              <a:t>Back &amp; Shoulder</a:t>
            </a:r>
            <a:endParaRPr kumimoji="1" lang="ja-JP" altLang="en-US" sz="1100" b="1" dirty="0"/>
          </a:p>
        </p:txBody>
      </p:sp>
      <p:sp>
        <p:nvSpPr>
          <p:cNvPr id="131" name="テキスト ボックス 130">
            <a:extLst>
              <a:ext uri="{FF2B5EF4-FFF2-40B4-BE49-F238E27FC236}">
                <a16:creationId xmlns:a16="http://schemas.microsoft.com/office/drawing/2014/main" id="{13BE66F0-1C6A-41FA-8AD9-61B29367A0C4}"/>
              </a:ext>
            </a:extLst>
          </p:cNvPr>
          <p:cNvSpPr txBox="1"/>
          <p:nvPr/>
        </p:nvSpPr>
        <p:spPr>
          <a:xfrm>
            <a:off x="8589161" y="4490187"/>
            <a:ext cx="3898405" cy="253916"/>
          </a:xfrm>
          <a:prstGeom prst="rect">
            <a:avLst/>
          </a:prstGeom>
          <a:noFill/>
        </p:spPr>
        <p:txBody>
          <a:bodyPr wrap="square">
            <a:spAutoFit/>
          </a:bodyPr>
          <a:lstStyle/>
          <a:p>
            <a:r>
              <a:rPr lang="en-US" altLang="ja-JP" sz="1050" b="1" dirty="0">
                <a:latin typeface="メイリオ" panose="020B0604030504040204" pitchFamily="50" charset="-128"/>
                <a:ea typeface="メイリオ" panose="020B0604030504040204" pitchFamily="50" charset="-128"/>
              </a:rPr>
              <a:t>Risk</a:t>
            </a:r>
            <a:r>
              <a:rPr lang="en-US" altLang="ja-JP" sz="1050" dirty="0">
                <a:latin typeface="メイリオ" panose="020B0604030504040204" pitchFamily="50" charset="-128"/>
                <a:ea typeface="メイリオ" panose="020B0604030504040204" pitchFamily="50" charset="-128"/>
              </a:rPr>
              <a:t>: ++ Fall, ++ Spine conditions (fracture / stenosis)</a:t>
            </a:r>
            <a:endParaRPr lang="ja-JP" altLang="en-US" sz="800" dirty="0">
              <a:latin typeface="メイリオ" panose="020B0604030504040204" pitchFamily="50" charset="-128"/>
              <a:ea typeface="メイリオ" panose="020B0604030504040204" pitchFamily="50" charset="-128"/>
            </a:endParaRPr>
          </a:p>
        </p:txBody>
      </p:sp>
      <p:graphicFrame>
        <p:nvGraphicFramePr>
          <p:cNvPr id="133" name="表 132">
            <a:extLst>
              <a:ext uri="{FF2B5EF4-FFF2-40B4-BE49-F238E27FC236}">
                <a16:creationId xmlns:a16="http://schemas.microsoft.com/office/drawing/2014/main" id="{0407BA4C-52C2-4875-AB56-90415930396A}"/>
              </a:ext>
            </a:extLst>
          </p:cNvPr>
          <p:cNvGraphicFramePr>
            <a:graphicFrameLocks noGrp="1"/>
          </p:cNvGraphicFramePr>
          <p:nvPr>
            <p:extLst>
              <p:ext uri="{D42A27DB-BD31-4B8C-83A1-F6EECF244321}">
                <p14:modId xmlns:p14="http://schemas.microsoft.com/office/powerpoint/2010/main" val="3984848614"/>
              </p:ext>
            </p:extLst>
          </p:nvPr>
        </p:nvGraphicFramePr>
        <p:xfrm>
          <a:off x="8690469" y="4885025"/>
          <a:ext cx="1227756" cy="640080"/>
        </p:xfrm>
        <a:graphic>
          <a:graphicData uri="http://schemas.openxmlformats.org/drawingml/2006/table">
            <a:tbl>
              <a:tblPr firstRow="1" bandRow="1">
                <a:tableStyleId>{8799B23B-EC83-4686-B30A-512413B5E67A}</a:tableStyleId>
              </a:tblPr>
              <a:tblGrid>
                <a:gridCol w="266867">
                  <a:extLst>
                    <a:ext uri="{9D8B030D-6E8A-4147-A177-3AD203B41FA5}">
                      <a16:colId xmlns:a16="http://schemas.microsoft.com/office/drawing/2014/main" val="631247754"/>
                    </a:ext>
                  </a:extLst>
                </a:gridCol>
                <a:gridCol w="960889">
                  <a:extLst>
                    <a:ext uri="{9D8B030D-6E8A-4147-A177-3AD203B41FA5}">
                      <a16:colId xmlns:a16="http://schemas.microsoft.com/office/drawing/2014/main" val="4231436098"/>
                    </a:ext>
                  </a:extLst>
                </a:gridCol>
              </a:tblGrid>
              <a:tr h="624840">
                <a:tc>
                  <a:txBody>
                    <a:bodyPr/>
                    <a:lstStyle/>
                    <a:p>
                      <a:endParaRPr lang="ja-JP" altLang="en-US" sz="1100" dirty="0">
                        <a:latin typeface="メイリオ" panose="020B0604030504040204" pitchFamily="50" charset="-128"/>
                        <a:ea typeface="メイリオ" panose="020B0604030504040204" pitchFamily="50" charset="-128"/>
                      </a:endParaRPr>
                    </a:p>
                  </a:txBody>
                  <a:tcPr anchor="ctr"/>
                </a:tc>
                <a:tc>
                  <a:txBody>
                    <a:bodyPr/>
                    <a:lstStyle/>
                    <a:p>
                      <a:r>
                        <a:rPr lang="en-US" altLang="zh-TW" sz="900" b="0" dirty="0">
                          <a:solidFill>
                            <a:srgbClr val="FF0000"/>
                          </a:solidFill>
                          <a:latin typeface="メイリオ" panose="020B0604030504040204" pitchFamily="50" charset="-128"/>
                          <a:ea typeface="メイリオ" panose="020B0604030504040204" pitchFamily="50" charset="-128"/>
                        </a:rPr>
                        <a:t>Glut. Max.</a:t>
                      </a:r>
                      <a:endParaRPr lang="en-US" altLang="ja-JP" sz="900" b="0" dirty="0">
                        <a:solidFill>
                          <a:srgbClr val="FF0000"/>
                        </a:solidFill>
                        <a:latin typeface="メイリオ" panose="020B0604030504040204" pitchFamily="50" charset="-128"/>
                        <a:ea typeface="メイリオ" panose="020B0604030504040204" pitchFamily="50" charset="-128"/>
                      </a:endParaRPr>
                    </a:p>
                    <a:p>
                      <a:r>
                        <a:rPr lang="en-US" altLang="ja-JP" sz="900" b="0" dirty="0">
                          <a:solidFill>
                            <a:srgbClr val="FF0000"/>
                          </a:solidFill>
                          <a:latin typeface="メイリオ" panose="020B0604030504040204" pitchFamily="50" charset="-128"/>
                          <a:ea typeface="メイリオ" panose="020B0604030504040204" pitchFamily="50" charset="-128"/>
                        </a:rPr>
                        <a:t>Glut. Med</a:t>
                      </a:r>
                    </a:p>
                    <a:p>
                      <a:r>
                        <a:rPr lang="en-US" altLang="zh-TW" sz="900" b="0" dirty="0">
                          <a:solidFill>
                            <a:srgbClr val="FF0000"/>
                          </a:solidFill>
                          <a:latin typeface="メイリオ" panose="020B0604030504040204" pitchFamily="50" charset="-128"/>
                          <a:ea typeface="メイリオ" panose="020B0604030504040204" pitchFamily="50" charset="-128"/>
                        </a:rPr>
                        <a:t>Glut.</a:t>
                      </a:r>
                      <a:r>
                        <a:rPr lang="zh-TW" altLang="en-US" sz="900" b="0" dirty="0">
                          <a:solidFill>
                            <a:srgbClr val="FF0000"/>
                          </a:solidFill>
                          <a:latin typeface="メイリオ" panose="020B0604030504040204" pitchFamily="50" charset="-128"/>
                          <a:ea typeface="メイリオ" panose="020B0604030504040204" pitchFamily="50" charset="-128"/>
                        </a:rPr>
                        <a:t> </a:t>
                      </a:r>
                      <a:r>
                        <a:rPr lang="en-US" altLang="zh-TW" sz="900" b="0" dirty="0">
                          <a:solidFill>
                            <a:srgbClr val="FF0000"/>
                          </a:solidFill>
                          <a:latin typeface="メイリオ" panose="020B0604030504040204" pitchFamily="50" charset="-128"/>
                          <a:ea typeface="メイリオ" panose="020B0604030504040204" pitchFamily="50" charset="-128"/>
                        </a:rPr>
                        <a:t>Ming</a:t>
                      </a:r>
                    </a:p>
                    <a:p>
                      <a:r>
                        <a:rPr lang="en-US" altLang="zh-TW" sz="900" b="0" dirty="0">
                          <a:solidFill>
                            <a:srgbClr val="FF0000"/>
                          </a:solidFill>
                          <a:latin typeface="メイリオ" panose="020B0604030504040204" pitchFamily="50" charset="-128"/>
                          <a:ea typeface="メイリオ" panose="020B0604030504040204" pitchFamily="50" charset="-128"/>
                        </a:rPr>
                        <a:t>TLF</a:t>
                      </a:r>
                      <a:endParaRPr lang="zh-TW" altLang="en-US" sz="900" b="0" dirty="0">
                        <a:solidFill>
                          <a:srgbClr val="FF0000"/>
                        </a:solidFill>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2017471924"/>
                  </a:ext>
                </a:extLst>
              </a:tr>
            </a:tbl>
          </a:graphicData>
        </a:graphic>
      </p:graphicFrame>
      <p:sp>
        <p:nvSpPr>
          <p:cNvPr id="135" name="テキスト ボックス 134">
            <a:extLst>
              <a:ext uri="{FF2B5EF4-FFF2-40B4-BE49-F238E27FC236}">
                <a16:creationId xmlns:a16="http://schemas.microsoft.com/office/drawing/2014/main" id="{6ADEB163-CE95-4EAD-BF80-63E0DBDDD6AF}"/>
              </a:ext>
            </a:extLst>
          </p:cNvPr>
          <p:cNvSpPr txBox="1"/>
          <p:nvPr/>
        </p:nvSpPr>
        <p:spPr>
          <a:xfrm rot="5400000">
            <a:off x="8468613" y="5033797"/>
            <a:ext cx="696538" cy="252826"/>
          </a:xfrm>
          <a:prstGeom prst="rect">
            <a:avLst/>
          </a:prstGeom>
          <a:noFill/>
        </p:spPr>
        <p:txBody>
          <a:bodyPr wrap="square" rtlCol="0">
            <a:spAutoFit/>
          </a:bodyPr>
          <a:lstStyle/>
          <a:p>
            <a:pPr>
              <a:lnSpc>
                <a:spcPct val="70000"/>
              </a:lnSpc>
            </a:pPr>
            <a:r>
              <a:rPr kumimoji="1" lang="en-US" altLang="ja-JP" sz="1400" b="1" dirty="0"/>
              <a:t>Hip</a:t>
            </a:r>
            <a:endParaRPr kumimoji="1" lang="ja-JP" altLang="en-US" sz="1400" b="1" dirty="0"/>
          </a:p>
        </p:txBody>
      </p:sp>
      <p:sp>
        <p:nvSpPr>
          <p:cNvPr id="140" name="テキスト ボックス 139">
            <a:extLst>
              <a:ext uri="{FF2B5EF4-FFF2-40B4-BE49-F238E27FC236}">
                <a16:creationId xmlns:a16="http://schemas.microsoft.com/office/drawing/2014/main" id="{AEE7C69F-1739-4BF6-B3DD-69E5587923B3}"/>
              </a:ext>
            </a:extLst>
          </p:cNvPr>
          <p:cNvSpPr txBox="1"/>
          <p:nvPr/>
        </p:nvSpPr>
        <p:spPr>
          <a:xfrm>
            <a:off x="8630074" y="5718688"/>
            <a:ext cx="3446855" cy="253916"/>
          </a:xfrm>
          <a:prstGeom prst="rect">
            <a:avLst/>
          </a:prstGeom>
          <a:noFill/>
        </p:spPr>
        <p:txBody>
          <a:bodyPr wrap="square">
            <a:spAutoFit/>
          </a:bodyPr>
          <a:lstStyle/>
          <a:p>
            <a:r>
              <a:rPr lang="en-US" altLang="ja-JP" sz="1050" b="1" dirty="0">
                <a:latin typeface="メイリオ" panose="020B0604030504040204" pitchFamily="50" charset="-128"/>
                <a:ea typeface="メイリオ" panose="020B0604030504040204" pitchFamily="50" charset="-128"/>
              </a:rPr>
              <a:t>Risk</a:t>
            </a:r>
            <a:r>
              <a:rPr lang="en-US" altLang="ja-JP" sz="1050" dirty="0">
                <a:latin typeface="メイリオ" panose="020B0604030504040204" pitchFamily="50" charset="-128"/>
                <a:ea typeface="メイリオ" panose="020B0604030504040204" pitchFamily="50" charset="-128"/>
              </a:rPr>
              <a:t>: ++Fall, ++</a:t>
            </a:r>
            <a:r>
              <a:rPr lang="ja-JP" altLang="en-US" sz="1050" dirty="0">
                <a:latin typeface="メイリオ" panose="020B0604030504040204" pitchFamily="50" charset="-128"/>
                <a:ea typeface="メイリオ" panose="020B0604030504040204" pitchFamily="50" charset="-128"/>
              </a:rPr>
              <a:t> </a:t>
            </a:r>
            <a:r>
              <a:rPr lang="en-US" altLang="ja-JP" sz="1050" dirty="0">
                <a:latin typeface="メイリオ" panose="020B0604030504040204" pitchFamily="50" charset="-128"/>
                <a:ea typeface="メイリオ" panose="020B0604030504040204" pitchFamily="50" charset="-128"/>
              </a:rPr>
              <a:t>Knee OA, ++</a:t>
            </a:r>
            <a:r>
              <a:rPr lang="ja-JP" altLang="en-US" sz="1050" dirty="0">
                <a:latin typeface="メイリオ" panose="020B0604030504040204" pitchFamily="50" charset="-128"/>
                <a:ea typeface="メイリオ" panose="020B0604030504040204" pitchFamily="50" charset="-128"/>
              </a:rPr>
              <a:t> </a:t>
            </a:r>
            <a:r>
              <a:rPr lang="en-US" altLang="ja-JP" sz="1050" dirty="0">
                <a:latin typeface="メイリオ" panose="020B0604030504040204" pitchFamily="50" charset="-128"/>
                <a:ea typeface="メイリオ" panose="020B0604030504040204" pitchFamily="50" charset="-128"/>
              </a:rPr>
              <a:t>Femoral fracture</a:t>
            </a:r>
            <a:endParaRPr lang="ja-JP" altLang="en-US" sz="1050" dirty="0">
              <a:latin typeface="メイリオ" panose="020B0604030504040204" pitchFamily="50" charset="-128"/>
              <a:ea typeface="メイリオ" panose="020B0604030504040204" pitchFamily="50" charset="-128"/>
            </a:endParaRPr>
          </a:p>
        </p:txBody>
      </p:sp>
      <p:sp>
        <p:nvSpPr>
          <p:cNvPr id="141" name="テキスト ボックス 140">
            <a:extLst>
              <a:ext uri="{FF2B5EF4-FFF2-40B4-BE49-F238E27FC236}">
                <a16:creationId xmlns:a16="http://schemas.microsoft.com/office/drawing/2014/main" id="{50ADB73C-2002-4850-BA15-D97E5A4C8D5C}"/>
              </a:ext>
            </a:extLst>
          </p:cNvPr>
          <p:cNvSpPr txBox="1"/>
          <p:nvPr/>
        </p:nvSpPr>
        <p:spPr>
          <a:xfrm>
            <a:off x="8630074" y="5526025"/>
            <a:ext cx="3391321" cy="253916"/>
          </a:xfrm>
          <a:prstGeom prst="rect">
            <a:avLst/>
          </a:prstGeom>
          <a:noFill/>
        </p:spPr>
        <p:txBody>
          <a:bodyPr wrap="square">
            <a:spAutoFit/>
          </a:bodyPr>
          <a:lstStyle/>
          <a:p>
            <a:r>
              <a:rPr lang="en-US" altLang="ja-JP" sz="1050" b="1" dirty="0">
                <a:latin typeface="メイリオ" panose="020B0604030504040204" pitchFamily="50" charset="-128"/>
                <a:ea typeface="メイリオ" panose="020B0604030504040204" pitchFamily="50" charset="-128"/>
              </a:rPr>
              <a:t>Function</a:t>
            </a:r>
            <a:r>
              <a:rPr lang="en-US" altLang="ja-JP" sz="1050" dirty="0">
                <a:latin typeface="メイリオ" panose="020B0604030504040204" pitchFamily="50" charset="-128"/>
                <a:ea typeface="メイリオ" panose="020B0604030504040204" pitchFamily="50" charset="-128"/>
              </a:rPr>
              <a:t>: Hip movement, single-leg stability</a:t>
            </a:r>
            <a:endParaRPr lang="ja-JP" altLang="en-US" sz="1050" dirty="0">
              <a:latin typeface="メイリオ" panose="020B0604030504040204" pitchFamily="50" charset="-128"/>
              <a:ea typeface="メイリオ" panose="020B0604030504040204" pitchFamily="50" charset="-128"/>
            </a:endParaRPr>
          </a:p>
        </p:txBody>
      </p:sp>
      <p:graphicFrame>
        <p:nvGraphicFramePr>
          <p:cNvPr id="142" name="表 141">
            <a:extLst>
              <a:ext uri="{FF2B5EF4-FFF2-40B4-BE49-F238E27FC236}">
                <a16:creationId xmlns:a16="http://schemas.microsoft.com/office/drawing/2014/main" id="{ED7FD838-AEAA-4512-86C6-A3F8C7E7AD08}"/>
              </a:ext>
            </a:extLst>
          </p:cNvPr>
          <p:cNvGraphicFramePr>
            <a:graphicFrameLocks noGrp="1"/>
          </p:cNvGraphicFramePr>
          <p:nvPr>
            <p:extLst>
              <p:ext uri="{D42A27DB-BD31-4B8C-83A1-F6EECF244321}">
                <p14:modId xmlns:p14="http://schemas.microsoft.com/office/powerpoint/2010/main" val="1859248795"/>
              </p:ext>
            </p:extLst>
          </p:nvPr>
        </p:nvGraphicFramePr>
        <p:xfrm>
          <a:off x="8691906" y="6171237"/>
          <a:ext cx="1231941" cy="574358"/>
        </p:xfrm>
        <a:graphic>
          <a:graphicData uri="http://schemas.openxmlformats.org/drawingml/2006/table">
            <a:tbl>
              <a:tblPr firstRow="1" bandRow="1">
                <a:tableStyleId>{8799B23B-EC83-4686-B30A-512413B5E67A}</a:tableStyleId>
              </a:tblPr>
              <a:tblGrid>
                <a:gridCol w="290478">
                  <a:extLst>
                    <a:ext uri="{9D8B030D-6E8A-4147-A177-3AD203B41FA5}">
                      <a16:colId xmlns:a16="http://schemas.microsoft.com/office/drawing/2014/main" val="1039484250"/>
                    </a:ext>
                  </a:extLst>
                </a:gridCol>
                <a:gridCol w="941463">
                  <a:extLst>
                    <a:ext uri="{9D8B030D-6E8A-4147-A177-3AD203B41FA5}">
                      <a16:colId xmlns:a16="http://schemas.microsoft.com/office/drawing/2014/main" val="2116401510"/>
                    </a:ext>
                  </a:extLst>
                </a:gridCol>
              </a:tblGrid>
              <a:tr h="574358">
                <a:tc>
                  <a:txBody>
                    <a:bodyPr/>
                    <a:lstStyle/>
                    <a:p>
                      <a:endParaRPr lang="ja-JP" altLang="en-US" sz="1100" dirty="0">
                        <a:latin typeface="メイリオ" panose="020B0604030504040204" pitchFamily="50" charset="-128"/>
                        <a:ea typeface="メイリオ" panose="020B0604030504040204" pitchFamily="50" charset="-128"/>
                      </a:endParaRPr>
                    </a:p>
                  </a:txBody>
                  <a:tcPr anchor="ctr"/>
                </a:tc>
                <a:tc>
                  <a:txBody>
                    <a:bodyPr/>
                    <a:lstStyle/>
                    <a:p>
                      <a:r>
                        <a:rPr lang="en-US" altLang="ja-JP" sz="900" b="0" dirty="0">
                          <a:solidFill>
                            <a:srgbClr val="FF0000"/>
                          </a:solidFill>
                          <a:latin typeface="メイリオ" panose="020B0604030504040204" pitchFamily="50" charset="-128"/>
                          <a:ea typeface="メイリオ" panose="020B0604030504040204" pitchFamily="50" charset="-128"/>
                        </a:rPr>
                        <a:t>Biceps Fem.</a:t>
                      </a:r>
                    </a:p>
                    <a:p>
                      <a:r>
                        <a:rPr lang="en-US" altLang="ja-JP" sz="900" b="0" dirty="0">
                          <a:solidFill>
                            <a:srgbClr val="FF0000"/>
                          </a:solidFill>
                          <a:latin typeface="メイリオ" panose="020B0604030504040204" pitchFamily="50" charset="-128"/>
                          <a:ea typeface="メイリオ" panose="020B0604030504040204" pitchFamily="50" charset="-128"/>
                        </a:rPr>
                        <a:t>Semi-tend.</a:t>
                      </a:r>
                    </a:p>
                    <a:p>
                      <a:r>
                        <a:rPr lang="en-US" altLang="ja-JP" sz="900" b="0" dirty="0">
                          <a:solidFill>
                            <a:srgbClr val="FF0000"/>
                          </a:solidFill>
                          <a:latin typeface="メイリオ" panose="020B0604030504040204" pitchFamily="50" charset="-128"/>
                          <a:ea typeface="メイリオ" panose="020B0604030504040204" pitchFamily="50" charset="-128"/>
                        </a:rPr>
                        <a:t>Semi-mem.</a:t>
                      </a:r>
                      <a:endParaRPr lang="ja-JP" altLang="en-US" sz="900" b="0" dirty="0">
                        <a:solidFill>
                          <a:srgbClr val="FF0000"/>
                        </a:solidFill>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2785691566"/>
                  </a:ext>
                </a:extLst>
              </a:tr>
            </a:tbl>
          </a:graphicData>
        </a:graphic>
      </p:graphicFrame>
      <p:sp>
        <p:nvSpPr>
          <p:cNvPr id="143" name="テキスト ボックス 142">
            <a:extLst>
              <a:ext uri="{FF2B5EF4-FFF2-40B4-BE49-F238E27FC236}">
                <a16:creationId xmlns:a16="http://schemas.microsoft.com/office/drawing/2014/main" id="{23AFB08F-077F-4FCE-9823-BB3959C3ED5F}"/>
              </a:ext>
            </a:extLst>
          </p:cNvPr>
          <p:cNvSpPr txBox="1"/>
          <p:nvPr/>
        </p:nvSpPr>
        <p:spPr>
          <a:xfrm rot="5400000">
            <a:off x="8396198" y="6380451"/>
            <a:ext cx="865410" cy="336952"/>
          </a:xfrm>
          <a:prstGeom prst="rect">
            <a:avLst/>
          </a:prstGeom>
          <a:noFill/>
        </p:spPr>
        <p:txBody>
          <a:bodyPr wrap="square" rtlCol="0">
            <a:spAutoFit/>
          </a:bodyPr>
          <a:lstStyle/>
          <a:p>
            <a:pPr>
              <a:lnSpc>
                <a:spcPct val="70000"/>
              </a:lnSpc>
            </a:pPr>
            <a:r>
              <a:rPr kumimoji="1" lang="en-US" altLang="ja-JP" sz="1100" b="1" dirty="0"/>
              <a:t>Ham-</a:t>
            </a:r>
          </a:p>
          <a:p>
            <a:pPr>
              <a:lnSpc>
                <a:spcPct val="70000"/>
              </a:lnSpc>
            </a:pPr>
            <a:r>
              <a:rPr kumimoji="1" lang="en-US" altLang="ja-JP" sz="1100" b="1" dirty="0"/>
              <a:t>strings</a:t>
            </a:r>
            <a:endParaRPr kumimoji="1" lang="ja-JP" altLang="en-US" sz="1100" b="1" dirty="0"/>
          </a:p>
        </p:txBody>
      </p:sp>
      <p:graphicFrame>
        <p:nvGraphicFramePr>
          <p:cNvPr id="147" name="表 146">
            <a:extLst>
              <a:ext uri="{FF2B5EF4-FFF2-40B4-BE49-F238E27FC236}">
                <a16:creationId xmlns:a16="http://schemas.microsoft.com/office/drawing/2014/main" id="{98AD0F96-65AA-42B6-8FA4-49BEE2D8A235}"/>
              </a:ext>
            </a:extLst>
          </p:cNvPr>
          <p:cNvGraphicFramePr>
            <a:graphicFrameLocks noGrp="1"/>
          </p:cNvGraphicFramePr>
          <p:nvPr>
            <p:extLst>
              <p:ext uri="{D42A27DB-BD31-4B8C-83A1-F6EECF244321}">
                <p14:modId xmlns:p14="http://schemas.microsoft.com/office/powerpoint/2010/main" val="1884946905"/>
              </p:ext>
            </p:extLst>
          </p:nvPr>
        </p:nvGraphicFramePr>
        <p:xfrm>
          <a:off x="8662119" y="7505048"/>
          <a:ext cx="1313122" cy="574358"/>
        </p:xfrm>
        <a:graphic>
          <a:graphicData uri="http://schemas.openxmlformats.org/drawingml/2006/table">
            <a:tbl>
              <a:tblPr firstRow="1" bandRow="1">
                <a:tableStyleId>{8799B23B-EC83-4686-B30A-512413B5E67A}</a:tableStyleId>
              </a:tblPr>
              <a:tblGrid>
                <a:gridCol w="436848">
                  <a:extLst>
                    <a:ext uri="{9D8B030D-6E8A-4147-A177-3AD203B41FA5}">
                      <a16:colId xmlns:a16="http://schemas.microsoft.com/office/drawing/2014/main" val="4203512896"/>
                    </a:ext>
                  </a:extLst>
                </a:gridCol>
                <a:gridCol w="876274">
                  <a:extLst>
                    <a:ext uri="{9D8B030D-6E8A-4147-A177-3AD203B41FA5}">
                      <a16:colId xmlns:a16="http://schemas.microsoft.com/office/drawing/2014/main" val="3556321484"/>
                    </a:ext>
                  </a:extLst>
                </a:gridCol>
              </a:tblGrid>
              <a:tr h="574358">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1" lang="ja-JP" altLang="en-US" sz="1100" b="1" i="0" u="none" strike="noStrike" kern="120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cs typeface="+mn-cs"/>
                      </a:endParaRPr>
                    </a:p>
                  </a:txBody>
                  <a:tcPr anchor="ctr"/>
                </a:tc>
                <a:tc>
                  <a:txBody>
                    <a:bodyPr/>
                    <a:lstStyle/>
                    <a:p>
                      <a:r>
                        <a:rPr lang="en-US" altLang="ja-JP" sz="900" b="0" dirty="0">
                          <a:solidFill>
                            <a:srgbClr val="FF0000"/>
                          </a:solidFill>
                          <a:latin typeface="メイリオ" panose="020B0604030504040204" pitchFamily="50" charset="-128"/>
                          <a:ea typeface="メイリオ" panose="020B0604030504040204" pitchFamily="50" charset="-128"/>
                        </a:rPr>
                        <a:t>Post. Superficial</a:t>
                      </a:r>
                    </a:p>
                    <a:p>
                      <a:r>
                        <a:rPr lang="en-US" altLang="ja-JP" sz="900" b="0" dirty="0">
                          <a:solidFill>
                            <a:srgbClr val="FF0000"/>
                          </a:solidFill>
                          <a:latin typeface="メイリオ" panose="020B0604030504040204" pitchFamily="50" charset="-128"/>
                          <a:ea typeface="メイリオ" panose="020B0604030504040204" pitchFamily="50" charset="-128"/>
                        </a:rPr>
                        <a:t>Post. deep</a:t>
                      </a:r>
                    </a:p>
                  </a:txBody>
                  <a:tcPr anchor="ctr"/>
                </a:tc>
                <a:extLst>
                  <a:ext uri="{0D108BD9-81ED-4DB2-BD59-A6C34878D82A}">
                    <a16:rowId xmlns:a16="http://schemas.microsoft.com/office/drawing/2014/main" val="3050180509"/>
                  </a:ext>
                </a:extLst>
              </a:tr>
            </a:tbl>
          </a:graphicData>
        </a:graphic>
      </p:graphicFrame>
      <p:sp>
        <p:nvSpPr>
          <p:cNvPr id="148" name="テキスト ボックス 147">
            <a:extLst>
              <a:ext uri="{FF2B5EF4-FFF2-40B4-BE49-F238E27FC236}">
                <a16:creationId xmlns:a16="http://schemas.microsoft.com/office/drawing/2014/main" id="{3DB19BEE-9A6E-48AF-9EA7-BD33E34570CF}"/>
              </a:ext>
            </a:extLst>
          </p:cNvPr>
          <p:cNvSpPr txBox="1"/>
          <p:nvPr/>
        </p:nvSpPr>
        <p:spPr>
          <a:xfrm>
            <a:off x="8571202" y="8089443"/>
            <a:ext cx="3176601" cy="253916"/>
          </a:xfrm>
          <a:prstGeom prst="rect">
            <a:avLst/>
          </a:prstGeom>
          <a:noFill/>
        </p:spPr>
        <p:txBody>
          <a:bodyPr wrap="square">
            <a:spAutoFit/>
          </a:bodyPr>
          <a:lstStyle/>
          <a:p>
            <a:r>
              <a:rPr lang="en-US" altLang="ja-JP" sz="1050" b="1" dirty="0">
                <a:latin typeface="メイリオ" panose="020B0604030504040204" pitchFamily="50" charset="-128"/>
                <a:ea typeface="メイリオ" panose="020B0604030504040204" pitchFamily="50" charset="-128"/>
              </a:rPr>
              <a:t>Function</a:t>
            </a:r>
            <a:r>
              <a:rPr lang="en-US" altLang="ja-JP" sz="1050" dirty="0">
                <a:latin typeface="メイリオ" panose="020B0604030504040204" pitchFamily="50" charset="-128"/>
                <a:ea typeface="メイリオ" panose="020B0604030504040204" pitchFamily="50" charset="-128"/>
              </a:rPr>
              <a:t>: Plantarflexion/gait/standing</a:t>
            </a:r>
            <a:endParaRPr lang="zh-TW" altLang="en-US" sz="1050" dirty="0">
              <a:latin typeface="メイリオ" panose="020B0604030504040204" pitchFamily="50" charset="-128"/>
              <a:ea typeface="メイリオ" panose="020B0604030504040204" pitchFamily="50" charset="-128"/>
            </a:endParaRPr>
          </a:p>
        </p:txBody>
      </p:sp>
      <p:sp>
        <p:nvSpPr>
          <p:cNvPr id="149" name="テキスト ボックス 148">
            <a:extLst>
              <a:ext uri="{FF2B5EF4-FFF2-40B4-BE49-F238E27FC236}">
                <a16:creationId xmlns:a16="http://schemas.microsoft.com/office/drawing/2014/main" id="{844D84F3-A0CF-4A99-82ED-1D67A2BF112B}"/>
              </a:ext>
            </a:extLst>
          </p:cNvPr>
          <p:cNvSpPr txBox="1"/>
          <p:nvPr/>
        </p:nvSpPr>
        <p:spPr>
          <a:xfrm rot="5400000">
            <a:off x="8531974" y="7569984"/>
            <a:ext cx="693820" cy="455446"/>
          </a:xfrm>
          <a:prstGeom prst="rect">
            <a:avLst/>
          </a:prstGeom>
          <a:noFill/>
        </p:spPr>
        <p:txBody>
          <a:bodyPr wrap="square" rtlCol="0">
            <a:spAutoFit/>
          </a:bodyPr>
          <a:lstStyle/>
          <a:p>
            <a:pPr>
              <a:lnSpc>
                <a:spcPct val="70000"/>
              </a:lnSpc>
            </a:pPr>
            <a:r>
              <a:rPr kumimoji="1" lang="en-US" altLang="ja-JP" sz="1100" b="1" dirty="0"/>
              <a:t>Lower Leg (Back)</a:t>
            </a:r>
            <a:endParaRPr kumimoji="1" lang="ja-JP" altLang="en-US" sz="1100" b="1" dirty="0"/>
          </a:p>
        </p:txBody>
      </p:sp>
      <p:sp>
        <p:nvSpPr>
          <p:cNvPr id="150" name="テキスト ボックス 149">
            <a:extLst>
              <a:ext uri="{FF2B5EF4-FFF2-40B4-BE49-F238E27FC236}">
                <a16:creationId xmlns:a16="http://schemas.microsoft.com/office/drawing/2014/main" id="{B93B4B78-7BB7-41AE-9BDB-0024706F2F25}"/>
              </a:ext>
            </a:extLst>
          </p:cNvPr>
          <p:cNvSpPr txBox="1"/>
          <p:nvPr/>
        </p:nvSpPr>
        <p:spPr>
          <a:xfrm>
            <a:off x="8573890" y="8288771"/>
            <a:ext cx="2498218" cy="253916"/>
          </a:xfrm>
          <a:prstGeom prst="rect">
            <a:avLst/>
          </a:prstGeom>
          <a:noFill/>
        </p:spPr>
        <p:txBody>
          <a:bodyPr wrap="square">
            <a:spAutoFit/>
          </a:bodyPr>
          <a:lstStyle/>
          <a:p>
            <a:r>
              <a:rPr lang="en-US" altLang="ja-JP" sz="1050" b="1" dirty="0">
                <a:latin typeface="メイリオ" panose="020B0604030504040204" pitchFamily="50" charset="-128"/>
                <a:ea typeface="メイリオ" panose="020B0604030504040204" pitchFamily="50" charset="-128"/>
              </a:rPr>
              <a:t>Risk</a:t>
            </a:r>
            <a:r>
              <a:rPr lang="en-US" altLang="ja-JP" sz="1050" dirty="0">
                <a:latin typeface="メイリオ" panose="020B0604030504040204" pitchFamily="50" charset="-128"/>
                <a:ea typeface="メイリオ" panose="020B0604030504040204" pitchFamily="50" charset="-128"/>
              </a:rPr>
              <a:t>: ++Fall, ++</a:t>
            </a:r>
            <a:r>
              <a:rPr lang="ja-JP" altLang="en-US" sz="1050" dirty="0">
                <a:latin typeface="メイリオ" panose="020B0604030504040204" pitchFamily="50" charset="-128"/>
                <a:ea typeface="メイリオ" panose="020B0604030504040204" pitchFamily="50" charset="-128"/>
              </a:rPr>
              <a:t> </a:t>
            </a:r>
            <a:r>
              <a:rPr lang="en-US" altLang="ja-JP" sz="1050" dirty="0">
                <a:latin typeface="メイリオ" panose="020B0604030504040204" pitchFamily="50" charset="-128"/>
                <a:ea typeface="メイリオ" panose="020B0604030504040204" pitchFamily="50" charset="-128"/>
              </a:rPr>
              <a:t>Knee OA</a:t>
            </a:r>
            <a:endParaRPr lang="ja-JP" altLang="en-US" sz="1050" dirty="0">
              <a:latin typeface="メイリオ" panose="020B0604030504040204" pitchFamily="50" charset="-128"/>
              <a:ea typeface="メイリオ" panose="020B0604030504040204" pitchFamily="50" charset="-128"/>
            </a:endParaRPr>
          </a:p>
        </p:txBody>
      </p:sp>
      <p:sp>
        <p:nvSpPr>
          <p:cNvPr id="151" name="テキスト ボックス 150">
            <a:extLst>
              <a:ext uri="{FF2B5EF4-FFF2-40B4-BE49-F238E27FC236}">
                <a16:creationId xmlns:a16="http://schemas.microsoft.com/office/drawing/2014/main" id="{3A1429DC-4219-4067-95EB-5ED126B7D2B1}"/>
              </a:ext>
            </a:extLst>
          </p:cNvPr>
          <p:cNvSpPr txBox="1"/>
          <p:nvPr/>
        </p:nvSpPr>
        <p:spPr>
          <a:xfrm>
            <a:off x="8633952" y="6805990"/>
            <a:ext cx="3034229" cy="253916"/>
          </a:xfrm>
          <a:prstGeom prst="rect">
            <a:avLst/>
          </a:prstGeom>
          <a:noFill/>
        </p:spPr>
        <p:txBody>
          <a:bodyPr wrap="square">
            <a:spAutoFit/>
          </a:bodyPr>
          <a:lstStyle/>
          <a:p>
            <a:r>
              <a:rPr lang="en-US" altLang="ja-JP" sz="1050" b="1" dirty="0">
                <a:latin typeface="メイリオ" panose="020B0604030504040204" pitchFamily="50" charset="-128"/>
                <a:ea typeface="メイリオ" panose="020B0604030504040204" pitchFamily="50" charset="-128"/>
              </a:rPr>
              <a:t>Function</a:t>
            </a:r>
            <a:r>
              <a:rPr lang="en-US" altLang="ja-JP" sz="1050" dirty="0">
                <a:latin typeface="メイリオ" panose="020B0604030504040204" pitchFamily="50" charset="-128"/>
                <a:ea typeface="メイリオ" panose="020B0604030504040204" pitchFamily="50" charset="-128"/>
              </a:rPr>
              <a:t>:</a:t>
            </a:r>
            <a:r>
              <a:rPr lang="en-US" altLang="ja-JP" sz="1050" b="1" dirty="0">
                <a:latin typeface="メイリオ" panose="020B0604030504040204" pitchFamily="50" charset="-128"/>
                <a:ea typeface="メイリオ" panose="020B0604030504040204" pitchFamily="50" charset="-128"/>
              </a:rPr>
              <a:t> </a:t>
            </a:r>
            <a:r>
              <a:rPr lang="en-US" altLang="ja-JP" sz="1050" dirty="0">
                <a:latin typeface="メイリオ" panose="020B0604030504040204" pitchFamily="50" charset="-128"/>
                <a:ea typeface="メイリオ" panose="020B0604030504040204" pitchFamily="50" charset="-128"/>
              </a:rPr>
              <a:t>Hip extension / knee flexion</a:t>
            </a:r>
            <a:endParaRPr lang="ja-JP" altLang="en-US" sz="1050" dirty="0">
              <a:latin typeface="メイリオ" panose="020B0604030504040204" pitchFamily="50" charset="-128"/>
              <a:ea typeface="メイリオ" panose="020B0604030504040204" pitchFamily="50" charset="-128"/>
            </a:endParaRPr>
          </a:p>
        </p:txBody>
      </p:sp>
      <p:sp>
        <p:nvSpPr>
          <p:cNvPr id="152" name="テキスト ボックス 151">
            <a:extLst>
              <a:ext uri="{FF2B5EF4-FFF2-40B4-BE49-F238E27FC236}">
                <a16:creationId xmlns:a16="http://schemas.microsoft.com/office/drawing/2014/main" id="{65D55AEF-1CB0-4877-A192-54BC4A7277F3}"/>
              </a:ext>
            </a:extLst>
          </p:cNvPr>
          <p:cNvSpPr txBox="1"/>
          <p:nvPr/>
        </p:nvSpPr>
        <p:spPr>
          <a:xfrm>
            <a:off x="8638006" y="7005093"/>
            <a:ext cx="2242209" cy="253916"/>
          </a:xfrm>
          <a:prstGeom prst="rect">
            <a:avLst/>
          </a:prstGeom>
          <a:noFill/>
        </p:spPr>
        <p:txBody>
          <a:bodyPr wrap="square">
            <a:spAutoFit/>
          </a:bodyPr>
          <a:lstStyle/>
          <a:p>
            <a:r>
              <a:rPr lang="en-US" altLang="ja-JP" sz="1050" b="1" dirty="0">
                <a:latin typeface="メイリオ" panose="020B0604030504040204" pitchFamily="50" charset="-128"/>
                <a:ea typeface="メイリオ" panose="020B0604030504040204" pitchFamily="50" charset="-128"/>
              </a:rPr>
              <a:t>Risk</a:t>
            </a:r>
            <a:r>
              <a:rPr lang="en-US" altLang="ja-JP" sz="1050" dirty="0">
                <a:latin typeface="メイリオ" panose="020B0604030504040204" pitchFamily="50" charset="-128"/>
                <a:ea typeface="メイリオ" panose="020B0604030504040204" pitchFamily="50" charset="-128"/>
              </a:rPr>
              <a:t>: ++Fall, ++</a:t>
            </a:r>
            <a:r>
              <a:rPr lang="ja-JP" altLang="en-US" sz="1050" dirty="0">
                <a:latin typeface="メイリオ" panose="020B0604030504040204" pitchFamily="50" charset="-128"/>
                <a:ea typeface="メイリオ" panose="020B0604030504040204" pitchFamily="50" charset="-128"/>
              </a:rPr>
              <a:t> </a:t>
            </a:r>
            <a:r>
              <a:rPr lang="en-US" altLang="ja-JP" sz="1050" dirty="0">
                <a:latin typeface="メイリオ" panose="020B0604030504040204" pitchFamily="50" charset="-128"/>
                <a:ea typeface="メイリオ" panose="020B0604030504040204" pitchFamily="50" charset="-128"/>
              </a:rPr>
              <a:t>Knee OA</a:t>
            </a:r>
            <a:endParaRPr lang="ja-JP" altLang="en-US" sz="1050" dirty="0">
              <a:latin typeface="メイリオ" panose="020B0604030504040204" pitchFamily="50" charset="-128"/>
              <a:ea typeface="メイリオ" panose="020B0604030504040204" pitchFamily="50" charset="-128"/>
            </a:endParaRPr>
          </a:p>
        </p:txBody>
      </p:sp>
      <p:graphicFrame>
        <p:nvGraphicFramePr>
          <p:cNvPr id="153" name="表 152">
            <a:extLst>
              <a:ext uri="{FF2B5EF4-FFF2-40B4-BE49-F238E27FC236}">
                <a16:creationId xmlns:a16="http://schemas.microsoft.com/office/drawing/2014/main" id="{5DBD2E58-1BC7-4748-8072-671CC7E6CEE1}"/>
              </a:ext>
            </a:extLst>
          </p:cNvPr>
          <p:cNvGraphicFramePr>
            <a:graphicFrameLocks noGrp="1"/>
          </p:cNvGraphicFramePr>
          <p:nvPr>
            <p:extLst>
              <p:ext uri="{D42A27DB-BD31-4B8C-83A1-F6EECF244321}">
                <p14:modId xmlns:p14="http://schemas.microsoft.com/office/powerpoint/2010/main" val="2629188634"/>
              </p:ext>
            </p:extLst>
          </p:nvPr>
        </p:nvGraphicFramePr>
        <p:xfrm>
          <a:off x="4384331" y="7577178"/>
          <a:ext cx="1261977" cy="744284"/>
        </p:xfrm>
        <a:graphic>
          <a:graphicData uri="http://schemas.openxmlformats.org/drawingml/2006/table">
            <a:tbl>
              <a:tblPr firstRow="1" bandRow="1">
                <a:tableStyleId>{8799B23B-EC83-4686-B30A-512413B5E67A}</a:tableStyleId>
              </a:tblPr>
              <a:tblGrid>
                <a:gridCol w="315348">
                  <a:extLst>
                    <a:ext uri="{9D8B030D-6E8A-4147-A177-3AD203B41FA5}">
                      <a16:colId xmlns:a16="http://schemas.microsoft.com/office/drawing/2014/main" val="4158246356"/>
                    </a:ext>
                  </a:extLst>
                </a:gridCol>
                <a:gridCol w="946629">
                  <a:extLst>
                    <a:ext uri="{9D8B030D-6E8A-4147-A177-3AD203B41FA5}">
                      <a16:colId xmlns:a16="http://schemas.microsoft.com/office/drawing/2014/main" val="1856257267"/>
                    </a:ext>
                  </a:extLst>
                </a:gridCol>
              </a:tblGrid>
              <a:tr h="744284">
                <a:tc>
                  <a:txBody>
                    <a:bodyPr/>
                    <a:lstStyle/>
                    <a:p>
                      <a:endParaRPr lang="ja-JP" altLang="en-US" sz="1100" dirty="0">
                        <a:latin typeface="メイリオ" panose="020B0604030504040204" pitchFamily="50" charset="-128"/>
                        <a:ea typeface="メイリオ" panose="020B0604030504040204" pitchFamily="50" charset="-128"/>
                      </a:endParaRPr>
                    </a:p>
                  </a:txBody>
                  <a:tcPr anchor="ctr"/>
                </a:tc>
                <a:tc>
                  <a:txBody>
                    <a:bodyPr/>
                    <a:lstStyle/>
                    <a:p>
                      <a:pPr>
                        <a:lnSpc>
                          <a:spcPct val="110000"/>
                        </a:lnSpc>
                      </a:pPr>
                      <a:r>
                        <a:rPr lang="en-US" altLang="ja-JP" sz="900" b="0" dirty="0">
                          <a:solidFill>
                            <a:srgbClr val="FF0000"/>
                          </a:solidFill>
                          <a:latin typeface="メイリオ" panose="020B0604030504040204" pitchFamily="50" charset="-128"/>
                          <a:ea typeface="メイリオ" panose="020B0604030504040204" pitchFamily="50" charset="-128"/>
                        </a:rPr>
                        <a:t>Int. </a:t>
                      </a:r>
                      <a:r>
                        <a:rPr lang="en-US" altLang="ja-JP" sz="800" b="0" dirty="0">
                          <a:solidFill>
                            <a:srgbClr val="FF0000"/>
                          </a:solidFill>
                          <a:latin typeface="メイリオ" panose="020B0604030504040204" pitchFamily="50" charset="-128"/>
                          <a:ea typeface="メイリオ" panose="020B0604030504040204" pitchFamily="50" charset="-128"/>
                        </a:rPr>
                        <a:t>Obturator</a:t>
                      </a:r>
                    </a:p>
                    <a:p>
                      <a:pPr>
                        <a:lnSpc>
                          <a:spcPct val="110000"/>
                        </a:lnSpc>
                      </a:pPr>
                      <a:r>
                        <a:rPr lang="en-US" altLang="ja-JP" sz="900" b="0" dirty="0">
                          <a:solidFill>
                            <a:srgbClr val="FF0000"/>
                          </a:solidFill>
                          <a:latin typeface="メイリオ" panose="020B0604030504040204" pitchFamily="50" charset="-128"/>
                          <a:ea typeface="メイリオ" panose="020B0604030504040204" pitchFamily="50" charset="-128"/>
                        </a:rPr>
                        <a:t>Ext. </a:t>
                      </a:r>
                      <a:r>
                        <a:rPr lang="en-US" altLang="ja-JP" sz="800" b="0" dirty="0">
                          <a:solidFill>
                            <a:srgbClr val="FF0000"/>
                          </a:solidFill>
                          <a:latin typeface="メイリオ" panose="020B0604030504040204" pitchFamily="50" charset="-128"/>
                          <a:ea typeface="メイリオ" panose="020B0604030504040204" pitchFamily="50" charset="-128"/>
                        </a:rPr>
                        <a:t>Obturator</a:t>
                      </a:r>
                    </a:p>
                    <a:p>
                      <a:pPr>
                        <a:lnSpc>
                          <a:spcPct val="110000"/>
                        </a:lnSpc>
                      </a:pPr>
                      <a:r>
                        <a:rPr lang="en-US" altLang="zh-TW" sz="1000" b="0" dirty="0">
                          <a:solidFill>
                            <a:srgbClr val="FF0000"/>
                          </a:solidFill>
                          <a:latin typeface="メイリオ" panose="020B0604030504040204" pitchFamily="50" charset="-128"/>
                          <a:ea typeface="メイリオ" panose="020B0604030504040204" pitchFamily="50" charset="-128"/>
                        </a:rPr>
                        <a:t>Piriformis</a:t>
                      </a:r>
                    </a:p>
                  </a:txBody>
                  <a:tcPr anchor="ctr"/>
                </a:tc>
                <a:extLst>
                  <a:ext uri="{0D108BD9-81ED-4DB2-BD59-A6C34878D82A}">
                    <a16:rowId xmlns:a16="http://schemas.microsoft.com/office/drawing/2014/main" val="1759646536"/>
                  </a:ext>
                </a:extLst>
              </a:tr>
            </a:tbl>
          </a:graphicData>
        </a:graphic>
      </p:graphicFrame>
      <p:sp>
        <p:nvSpPr>
          <p:cNvPr id="154" name="テキスト ボックス 153">
            <a:extLst>
              <a:ext uri="{FF2B5EF4-FFF2-40B4-BE49-F238E27FC236}">
                <a16:creationId xmlns:a16="http://schemas.microsoft.com/office/drawing/2014/main" id="{F7DE0856-A31E-4A28-865A-CCF8941956F2}"/>
              </a:ext>
            </a:extLst>
          </p:cNvPr>
          <p:cNvSpPr txBox="1"/>
          <p:nvPr/>
        </p:nvSpPr>
        <p:spPr>
          <a:xfrm>
            <a:off x="4328349" y="8341005"/>
            <a:ext cx="3139027" cy="253916"/>
          </a:xfrm>
          <a:prstGeom prst="rect">
            <a:avLst/>
          </a:prstGeom>
          <a:noFill/>
        </p:spPr>
        <p:txBody>
          <a:bodyPr wrap="square">
            <a:spAutoFit/>
          </a:bodyPr>
          <a:lstStyle/>
          <a:p>
            <a:r>
              <a:rPr lang="en-US" altLang="ja-JP" sz="1050" b="1" dirty="0">
                <a:latin typeface="メイリオ" panose="020B0604030504040204" pitchFamily="50" charset="-128"/>
                <a:ea typeface="メイリオ" panose="020B0604030504040204" pitchFamily="50" charset="-128"/>
              </a:rPr>
              <a:t>Function</a:t>
            </a:r>
            <a:r>
              <a:rPr lang="en-US" altLang="ja-JP" sz="1050" dirty="0">
                <a:latin typeface="メイリオ" panose="020B0604030504040204" pitchFamily="50" charset="-128"/>
                <a:ea typeface="メイリオ" panose="020B0604030504040204" pitchFamily="50" charset="-128"/>
              </a:rPr>
              <a:t>:</a:t>
            </a:r>
            <a:r>
              <a:rPr lang="en-US" altLang="ja-JP" sz="1050" b="1" dirty="0">
                <a:latin typeface="メイリオ" panose="020B0604030504040204" pitchFamily="50" charset="-128"/>
                <a:ea typeface="メイリオ" panose="020B0604030504040204" pitchFamily="50" charset="-128"/>
              </a:rPr>
              <a:t> </a:t>
            </a:r>
            <a:r>
              <a:rPr lang="en-US" altLang="ja-JP" sz="1050" dirty="0">
                <a:latin typeface="メイリオ" panose="020B0604030504040204" pitchFamily="50" charset="-128"/>
                <a:ea typeface="メイリオ" panose="020B0604030504040204" pitchFamily="50" charset="-128"/>
              </a:rPr>
              <a:t>Deep hip stability / fall protection</a:t>
            </a:r>
            <a:endParaRPr lang="ja-JP" altLang="en-US" sz="1050" dirty="0">
              <a:latin typeface="メイリオ" panose="020B0604030504040204" pitchFamily="50" charset="-128"/>
              <a:ea typeface="メイリオ" panose="020B0604030504040204" pitchFamily="50" charset="-128"/>
            </a:endParaRPr>
          </a:p>
        </p:txBody>
      </p:sp>
      <p:sp>
        <p:nvSpPr>
          <p:cNvPr id="155" name="テキスト ボックス 154">
            <a:extLst>
              <a:ext uri="{FF2B5EF4-FFF2-40B4-BE49-F238E27FC236}">
                <a16:creationId xmlns:a16="http://schemas.microsoft.com/office/drawing/2014/main" id="{5FB1BBE2-9A7F-49E0-90B4-B9784694EA9B}"/>
              </a:ext>
            </a:extLst>
          </p:cNvPr>
          <p:cNvSpPr txBox="1"/>
          <p:nvPr/>
        </p:nvSpPr>
        <p:spPr>
          <a:xfrm rot="5400000">
            <a:off x="4042415" y="7814973"/>
            <a:ext cx="987785" cy="359201"/>
          </a:xfrm>
          <a:prstGeom prst="rect">
            <a:avLst/>
          </a:prstGeom>
          <a:noFill/>
        </p:spPr>
        <p:txBody>
          <a:bodyPr wrap="square" rtlCol="0">
            <a:spAutoFit/>
          </a:bodyPr>
          <a:lstStyle/>
          <a:p>
            <a:pPr>
              <a:lnSpc>
                <a:spcPct val="70000"/>
              </a:lnSpc>
            </a:pPr>
            <a:r>
              <a:rPr kumimoji="1" lang="en-US" altLang="ja-JP" sz="1200" b="1" dirty="0"/>
              <a:t>Deep</a:t>
            </a:r>
          </a:p>
          <a:p>
            <a:pPr>
              <a:lnSpc>
                <a:spcPct val="70000"/>
              </a:lnSpc>
            </a:pPr>
            <a:r>
              <a:rPr kumimoji="1" lang="en-US" altLang="ja-JP" sz="1200" b="1" dirty="0"/>
              <a:t>Hip</a:t>
            </a:r>
            <a:endParaRPr kumimoji="1" lang="ja-JP" altLang="en-US" sz="1200" b="1" dirty="0"/>
          </a:p>
        </p:txBody>
      </p:sp>
      <p:sp>
        <p:nvSpPr>
          <p:cNvPr id="156" name="テキスト ボックス 155">
            <a:extLst>
              <a:ext uri="{FF2B5EF4-FFF2-40B4-BE49-F238E27FC236}">
                <a16:creationId xmlns:a16="http://schemas.microsoft.com/office/drawing/2014/main" id="{1C2DAECB-B97D-484E-A888-CE81DD7C41F7}"/>
              </a:ext>
            </a:extLst>
          </p:cNvPr>
          <p:cNvSpPr txBox="1"/>
          <p:nvPr/>
        </p:nvSpPr>
        <p:spPr>
          <a:xfrm>
            <a:off x="4328349" y="8488465"/>
            <a:ext cx="2750900" cy="253916"/>
          </a:xfrm>
          <a:prstGeom prst="rect">
            <a:avLst/>
          </a:prstGeom>
          <a:noFill/>
        </p:spPr>
        <p:txBody>
          <a:bodyPr wrap="square">
            <a:spAutoFit/>
          </a:bodyPr>
          <a:lstStyle/>
          <a:p>
            <a:r>
              <a:rPr lang="en-US" altLang="ja-JP" sz="1050" b="1" dirty="0">
                <a:latin typeface="メイリオ" panose="020B0604030504040204" pitchFamily="50" charset="-128"/>
                <a:ea typeface="メイリオ" panose="020B0604030504040204" pitchFamily="50" charset="-128"/>
              </a:rPr>
              <a:t>Risk</a:t>
            </a:r>
            <a:r>
              <a:rPr lang="en-US" altLang="ja-JP" sz="1050" dirty="0">
                <a:latin typeface="メイリオ" panose="020B0604030504040204" pitchFamily="50" charset="-128"/>
                <a:ea typeface="メイリオ" panose="020B0604030504040204" pitchFamily="50" charset="-128"/>
              </a:rPr>
              <a:t>: ++Fall, ++</a:t>
            </a:r>
            <a:r>
              <a:rPr lang="ja-JP" altLang="en-US" sz="1050" dirty="0">
                <a:latin typeface="メイリオ" panose="020B0604030504040204" pitchFamily="50" charset="-128"/>
                <a:ea typeface="メイリオ" panose="020B0604030504040204" pitchFamily="50" charset="-128"/>
              </a:rPr>
              <a:t> </a:t>
            </a:r>
            <a:r>
              <a:rPr lang="en-US" altLang="ja-JP" sz="1050" dirty="0">
                <a:latin typeface="メイリオ" panose="020B0604030504040204" pitchFamily="50" charset="-128"/>
                <a:ea typeface="メイリオ" panose="020B0604030504040204" pitchFamily="50" charset="-128"/>
              </a:rPr>
              <a:t>Femoral fracture</a:t>
            </a:r>
            <a:endParaRPr lang="ja-JP" altLang="en-US" sz="1050" dirty="0">
              <a:latin typeface="メイリオ" panose="020B0604030504040204" pitchFamily="50" charset="-128"/>
              <a:ea typeface="メイリオ" panose="020B0604030504040204" pitchFamily="50" charset="-128"/>
            </a:endParaRPr>
          </a:p>
        </p:txBody>
      </p:sp>
      <p:pic>
        <p:nvPicPr>
          <p:cNvPr id="3" name="図 2">
            <a:extLst>
              <a:ext uri="{FF2B5EF4-FFF2-40B4-BE49-F238E27FC236}">
                <a16:creationId xmlns:a16="http://schemas.microsoft.com/office/drawing/2014/main" id="{B23E6293-A8D0-4A08-B8B6-7BC00D7324BB}"/>
              </a:ext>
            </a:extLst>
          </p:cNvPr>
          <p:cNvPicPr>
            <a:picLocks noChangeAspect="1"/>
          </p:cNvPicPr>
          <p:nvPr/>
        </p:nvPicPr>
        <p:blipFill>
          <a:blip r:embed="rId3"/>
          <a:stretch>
            <a:fillRect/>
          </a:stretch>
        </p:blipFill>
        <p:spPr>
          <a:xfrm>
            <a:off x="12112538" y="8908943"/>
            <a:ext cx="689062" cy="693076"/>
          </a:xfrm>
          <a:prstGeom prst="rect">
            <a:avLst/>
          </a:prstGeom>
        </p:spPr>
      </p:pic>
      <p:sp>
        <p:nvSpPr>
          <p:cNvPr id="4" name="IMG: 24">
            <a:extLst>
              <a:ext uri="{FF2B5EF4-FFF2-40B4-BE49-F238E27FC236}">
                <a16:creationId xmlns:a16="http://schemas.microsoft.com/office/drawing/2014/main" id="{35D20660-6DA8-CD01-349C-878686B0C042}"/>
              </a:ext>
            </a:extLst>
          </p:cNvPr>
          <p:cNvSpPr/>
          <p:nvPr/>
        </p:nvSpPr>
        <p:spPr>
          <a:xfrm>
            <a:off x="11747803" y="7419131"/>
            <a:ext cx="982615" cy="107876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IMG: 23">
            <a:extLst>
              <a:ext uri="{FF2B5EF4-FFF2-40B4-BE49-F238E27FC236}">
                <a16:creationId xmlns:a16="http://schemas.microsoft.com/office/drawing/2014/main" id="{6563DFF3-ECCD-5B3F-6F23-35FDD27842FA}"/>
              </a:ext>
            </a:extLst>
          </p:cNvPr>
          <p:cNvSpPr/>
          <p:nvPr/>
        </p:nvSpPr>
        <p:spPr>
          <a:xfrm>
            <a:off x="11747804" y="6096274"/>
            <a:ext cx="977140" cy="114853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7" name="IMG: 22">
            <a:extLst>
              <a:ext uri="{FF2B5EF4-FFF2-40B4-BE49-F238E27FC236}">
                <a16:creationId xmlns:a16="http://schemas.microsoft.com/office/drawing/2014/main" id="{FD482E1D-950A-DA0B-6CF0-EAE7A9D877C6}"/>
              </a:ext>
            </a:extLst>
          </p:cNvPr>
          <p:cNvSpPr/>
          <p:nvPr/>
        </p:nvSpPr>
        <p:spPr>
          <a:xfrm>
            <a:off x="11747803" y="4802901"/>
            <a:ext cx="982615" cy="96668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9" name="IMG: 21">
            <a:extLst>
              <a:ext uri="{FF2B5EF4-FFF2-40B4-BE49-F238E27FC236}">
                <a16:creationId xmlns:a16="http://schemas.microsoft.com/office/drawing/2014/main" id="{AF87081B-0810-DA4B-F0B3-CF584AF1C0C4}"/>
              </a:ext>
            </a:extLst>
          </p:cNvPr>
          <p:cNvSpPr/>
          <p:nvPr/>
        </p:nvSpPr>
        <p:spPr>
          <a:xfrm>
            <a:off x="11747804" y="2869135"/>
            <a:ext cx="950976" cy="146213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0" name="IMG: 20">
            <a:extLst>
              <a:ext uri="{FF2B5EF4-FFF2-40B4-BE49-F238E27FC236}">
                <a16:creationId xmlns:a16="http://schemas.microsoft.com/office/drawing/2014/main" id="{E6709516-6BFF-68FB-43DF-7C0A5D06605A}"/>
              </a:ext>
            </a:extLst>
          </p:cNvPr>
          <p:cNvSpPr/>
          <p:nvPr/>
        </p:nvSpPr>
        <p:spPr>
          <a:xfrm>
            <a:off x="7330860" y="7569051"/>
            <a:ext cx="1162984" cy="112004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 name="IMG: 19">
            <a:extLst>
              <a:ext uri="{FF2B5EF4-FFF2-40B4-BE49-F238E27FC236}">
                <a16:creationId xmlns:a16="http://schemas.microsoft.com/office/drawing/2014/main" id="{8DD37CDD-8CD7-F0BB-4362-17FF4658D37B}"/>
              </a:ext>
            </a:extLst>
          </p:cNvPr>
          <p:cNvSpPr/>
          <p:nvPr/>
        </p:nvSpPr>
        <p:spPr>
          <a:xfrm>
            <a:off x="7330859" y="2702934"/>
            <a:ext cx="1150324" cy="10654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2" name="IMG: 18">
            <a:extLst>
              <a:ext uri="{FF2B5EF4-FFF2-40B4-BE49-F238E27FC236}">
                <a16:creationId xmlns:a16="http://schemas.microsoft.com/office/drawing/2014/main" id="{4206D8DF-FF89-0BC9-061B-7088AF00AB3F}"/>
              </a:ext>
            </a:extLst>
          </p:cNvPr>
          <p:cNvSpPr/>
          <p:nvPr/>
        </p:nvSpPr>
        <p:spPr>
          <a:xfrm>
            <a:off x="48771" y="7305899"/>
            <a:ext cx="950976" cy="107258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3" name="IMG: 17">
            <a:extLst>
              <a:ext uri="{FF2B5EF4-FFF2-40B4-BE49-F238E27FC236}">
                <a16:creationId xmlns:a16="http://schemas.microsoft.com/office/drawing/2014/main" id="{F3BBFE83-EB6A-ED18-5239-E4CB1EC2A67B}"/>
              </a:ext>
            </a:extLst>
          </p:cNvPr>
          <p:cNvSpPr/>
          <p:nvPr/>
        </p:nvSpPr>
        <p:spPr>
          <a:xfrm>
            <a:off x="58931" y="6116505"/>
            <a:ext cx="950976" cy="105463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4" name="IMG: 16">
            <a:extLst>
              <a:ext uri="{FF2B5EF4-FFF2-40B4-BE49-F238E27FC236}">
                <a16:creationId xmlns:a16="http://schemas.microsoft.com/office/drawing/2014/main" id="{91E20CFE-C5C9-B6AC-EA35-634FE6C09AF9}"/>
              </a:ext>
            </a:extLst>
          </p:cNvPr>
          <p:cNvSpPr/>
          <p:nvPr/>
        </p:nvSpPr>
        <p:spPr>
          <a:xfrm>
            <a:off x="58931" y="4716898"/>
            <a:ext cx="950976" cy="122352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5" name="IMG: 15">
            <a:extLst>
              <a:ext uri="{FF2B5EF4-FFF2-40B4-BE49-F238E27FC236}">
                <a16:creationId xmlns:a16="http://schemas.microsoft.com/office/drawing/2014/main" id="{A2D38540-39B3-F34B-C619-9C5C2D11C232}"/>
              </a:ext>
            </a:extLst>
          </p:cNvPr>
          <p:cNvSpPr/>
          <p:nvPr/>
        </p:nvSpPr>
        <p:spPr>
          <a:xfrm>
            <a:off x="58045" y="2858875"/>
            <a:ext cx="952749" cy="174456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 name="IMG: 14">
            <a:extLst>
              <a:ext uri="{FF2B5EF4-FFF2-40B4-BE49-F238E27FC236}">
                <a16:creationId xmlns:a16="http://schemas.microsoft.com/office/drawing/2014/main" id="{5EC4082D-DD31-99A4-3055-669B0D7A2A95}"/>
              </a:ext>
            </a:extLst>
          </p:cNvPr>
          <p:cNvSpPr/>
          <p:nvPr/>
        </p:nvSpPr>
        <p:spPr>
          <a:xfrm>
            <a:off x="5999977" y="5820834"/>
            <a:ext cx="850392" cy="73670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ysClr val="windowText" lastClr="000000"/>
              </a:solidFill>
            </a:endParaRPr>
          </a:p>
        </p:txBody>
      </p:sp>
      <p:sp>
        <p:nvSpPr>
          <p:cNvPr id="17" name="IMG: 13">
            <a:extLst>
              <a:ext uri="{FF2B5EF4-FFF2-40B4-BE49-F238E27FC236}">
                <a16:creationId xmlns:a16="http://schemas.microsoft.com/office/drawing/2014/main" id="{E8A4526F-62AF-A59A-1FDB-3579E3B463E8}"/>
              </a:ext>
            </a:extLst>
          </p:cNvPr>
          <p:cNvSpPr/>
          <p:nvPr/>
        </p:nvSpPr>
        <p:spPr>
          <a:xfrm>
            <a:off x="5999069" y="4799799"/>
            <a:ext cx="852209" cy="75063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ysClr val="windowText" lastClr="000000"/>
              </a:solidFill>
            </a:endParaRPr>
          </a:p>
        </p:txBody>
      </p:sp>
      <p:sp>
        <p:nvSpPr>
          <p:cNvPr id="18" name="IMG: 12">
            <a:extLst>
              <a:ext uri="{FF2B5EF4-FFF2-40B4-BE49-F238E27FC236}">
                <a16:creationId xmlns:a16="http://schemas.microsoft.com/office/drawing/2014/main" id="{EF5F8EA3-7A8D-8EE8-1C62-7A80603FDBAF}"/>
              </a:ext>
            </a:extLst>
          </p:cNvPr>
          <p:cNvSpPr/>
          <p:nvPr/>
        </p:nvSpPr>
        <p:spPr>
          <a:xfrm>
            <a:off x="6773443" y="4342919"/>
            <a:ext cx="1293570" cy="305842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ysClr val="windowText" lastClr="000000"/>
              </a:solidFill>
            </a:endParaRPr>
          </a:p>
        </p:txBody>
      </p:sp>
      <p:sp>
        <p:nvSpPr>
          <p:cNvPr id="19" name="IMG: 11">
            <a:extLst>
              <a:ext uri="{FF2B5EF4-FFF2-40B4-BE49-F238E27FC236}">
                <a16:creationId xmlns:a16="http://schemas.microsoft.com/office/drawing/2014/main" id="{1414B097-F306-6F59-A2F2-667420C7D881}"/>
              </a:ext>
            </a:extLst>
          </p:cNvPr>
          <p:cNvSpPr/>
          <p:nvPr/>
        </p:nvSpPr>
        <p:spPr>
          <a:xfrm>
            <a:off x="4790567" y="4342919"/>
            <a:ext cx="1293570" cy="305842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ysClr val="windowText" lastClr="000000"/>
              </a:solidFill>
            </a:endParaRPr>
          </a:p>
        </p:txBody>
      </p:sp>
      <p:sp>
        <p:nvSpPr>
          <p:cNvPr id="22" name="IMG: 10">
            <a:extLst>
              <a:ext uri="{FF2B5EF4-FFF2-40B4-BE49-F238E27FC236}">
                <a16:creationId xmlns:a16="http://schemas.microsoft.com/office/drawing/2014/main" id="{5C344A40-A53F-9312-DDED-97F4844815D8}"/>
              </a:ext>
            </a:extLst>
          </p:cNvPr>
          <p:cNvSpPr/>
          <p:nvPr/>
        </p:nvSpPr>
        <p:spPr>
          <a:xfrm>
            <a:off x="10014751" y="7435660"/>
            <a:ext cx="1708186" cy="70085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4" name="IMG: 09">
            <a:extLst>
              <a:ext uri="{FF2B5EF4-FFF2-40B4-BE49-F238E27FC236}">
                <a16:creationId xmlns:a16="http://schemas.microsoft.com/office/drawing/2014/main" id="{BCA46211-5C04-7568-5CA3-143B7BF710F0}"/>
              </a:ext>
            </a:extLst>
          </p:cNvPr>
          <p:cNvSpPr/>
          <p:nvPr/>
        </p:nvSpPr>
        <p:spPr>
          <a:xfrm>
            <a:off x="9965317" y="6105127"/>
            <a:ext cx="1768570" cy="76108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IMG: 08">
            <a:extLst>
              <a:ext uri="{FF2B5EF4-FFF2-40B4-BE49-F238E27FC236}">
                <a16:creationId xmlns:a16="http://schemas.microsoft.com/office/drawing/2014/main" id="{DAD10421-EE50-FC2E-E000-AD779B58429B}"/>
              </a:ext>
            </a:extLst>
          </p:cNvPr>
          <p:cNvSpPr/>
          <p:nvPr/>
        </p:nvSpPr>
        <p:spPr>
          <a:xfrm>
            <a:off x="9955200" y="4802100"/>
            <a:ext cx="1794828" cy="75063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6" name="IMG: 07">
            <a:extLst>
              <a:ext uri="{FF2B5EF4-FFF2-40B4-BE49-F238E27FC236}">
                <a16:creationId xmlns:a16="http://schemas.microsoft.com/office/drawing/2014/main" id="{4BC56555-F857-B7AD-1D24-F35B7A57D9C3}"/>
              </a:ext>
            </a:extLst>
          </p:cNvPr>
          <p:cNvSpPr/>
          <p:nvPr/>
        </p:nvSpPr>
        <p:spPr>
          <a:xfrm>
            <a:off x="9939693" y="2875670"/>
            <a:ext cx="1770640" cy="147385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7" name="IMG: 06">
            <a:extLst>
              <a:ext uri="{FF2B5EF4-FFF2-40B4-BE49-F238E27FC236}">
                <a16:creationId xmlns:a16="http://schemas.microsoft.com/office/drawing/2014/main" id="{A29BFC55-C615-4841-1994-164B1CCFADE3}"/>
              </a:ext>
            </a:extLst>
          </p:cNvPr>
          <p:cNvSpPr/>
          <p:nvPr/>
        </p:nvSpPr>
        <p:spPr>
          <a:xfrm>
            <a:off x="5695592" y="7580300"/>
            <a:ext cx="1618007" cy="73409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0" name="IMG: 05">
            <a:extLst>
              <a:ext uri="{FF2B5EF4-FFF2-40B4-BE49-F238E27FC236}">
                <a16:creationId xmlns:a16="http://schemas.microsoft.com/office/drawing/2014/main" id="{EB9B7D95-EBB9-B595-3140-076FE0D1EB33}"/>
              </a:ext>
            </a:extLst>
          </p:cNvPr>
          <p:cNvSpPr/>
          <p:nvPr/>
        </p:nvSpPr>
        <p:spPr>
          <a:xfrm>
            <a:off x="5696175" y="2719404"/>
            <a:ext cx="1622023" cy="66404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1" name="IMG: 04">
            <a:extLst>
              <a:ext uri="{FF2B5EF4-FFF2-40B4-BE49-F238E27FC236}">
                <a16:creationId xmlns:a16="http://schemas.microsoft.com/office/drawing/2014/main" id="{EFB13323-5518-E59A-A7CC-4429263F808B}"/>
              </a:ext>
            </a:extLst>
          </p:cNvPr>
          <p:cNvSpPr/>
          <p:nvPr/>
        </p:nvSpPr>
        <p:spPr>
          <a:xfrm>
            <a:off x="2204288" y="7318572"/>
            <a:ext cx="2009396" cy="68242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2" name="IMG: 03">
            <a:extLst>
              <a:ext uri="{FF2B5EF4-FFF2-40B4-BE49-F238E27FC236}">
                <a16:creationId xmlns:a16="http://schemas.microsoft.com/office/drawing/2014/main" id="{38701845-AFD4-FF54-EBA7-556CAAA9341A}"/>
              </a:ext>
            </a:extLst>
          </p:cNvPr>
          <p:cNvSpPr/>
          <p:nvPr/>
        </p:nvSpPr>
        <p:spPr>
          <a:xfrm>
            <a:off x="2338578" y="6110266"/>
            <a:ext cx="1856521" cy="68247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3" name="IMG: 02">
            <a:extLst>
              <a:ext uri="{FF2B5EF4-FFF2-40B4-BE49-F238E27FC236}">
                <a16:creationId xmlns:a16="http://schemas.microsoft.com/office/drawing/2014/main" id="{3EED0877-DBAA-11B5-5CD4-D78002D306FE}"/>
              </a:ext>
            </a:extLst>
          </p:cNvPr>
          <p:cNvSpPr/>
          <p:nvPr/>
        </p:nvSpPr>
        <p:spPr>
          <a:xfrm>
            <a:off x="2273735" y="4766597"/>
            <a:ext cx="1928572" cy="79530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4" name="IMG: 01">
            <a:extLst>
              <a:ext uri="{FF2B5EF4-FFF2-40B4-BE49-F238E27FC236}">
                <a16:creationId xmlns:a16="http://schemas.microsoft.com/office/drawing/2014/main" id="{1D4F801D-2BA4-5134-A2C9-056E16146F27}"/>
              </a:ext>
            </a:extLst>
          </p:cNvPr>
          <p:cNvSpPr/>
          <p:nvPr/>
        </p:nvSpPr>
        <p:spPr>
          <a:xfrm>
            <a:off x="2288696" y="2864784"/>
            <a:ext cx="1891911" cy="138720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Tree>
    <p:extLst>
      <p:ext uri="{BB962C8B-B14F-4D97-AF65-F5344CB8AC3E}">
        <p14:creationId xmlns:p14="http://schemas.microsoft.com/office/powerpoint/2010/main" val="2296865499"/>
      </p:ext>
    </p:extLst>
  </p:cSld>
  <p:clrMapOvr>
    <a:masterClrMapping/>
  </p:clrMapOvr>
</p:sld>
</file>

<file path=ppt/theme/theme1.xml><?xml version="1.0" encoding="utf-8"?>
<a:theme xmlns:a="http://schemas.openxmlformats.org/drawingml/2006/main" name="Office テーマ">
  <a:themeElements>
    <a:clrScheme name="Office テーマ">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テーマ">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3736</TotalTime>
  <Words>8477</Words>
  <Application>Microsoft Office PowerPoint</Application>
  <PresentationFormat>A3 Paper (297x420 mm)</PresentationFormat>
  <Paragraphs>392</Paragraphs>
  <Slides>4</Slides>
  <Notes>4</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vt:i4>
      </vt:variant>
    </vt:vector>
  </HeadingPairs>
  <TitlesOfParts>
    <vt:vector size="11" baseType="lpstr">
      <vt:lpstr>メイリオ</vt:lpstr>
      <vt:lpstr>メイリオ</vt:lpstr>
      <vt:lpstr>游ゴシック</vt:lpstr>
      <vt:lpstr>Arial</vt:lpstr>
      <vt:lpstr>Calibri</vt:lpstr>
      <vt:lpstr>Calibri Light</vt:lpstr>
      <vt:lpstr>Office テーマ</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Yoshinobu Sato</dc:creator>
  <cp:lastModifiedBy>Yi Gu</cp:lastModifiedBy>
  <cp:revision>194</cp:revision>
  <dcterms:created xsi:type="dcterms:W3CDTF">2025-09-16T03:39:11Z</dcterms:created>
  <dcterms:modified xsi:type="dcterms:W3CDTF">2025-12-17T11:18:26Z</dcterms:modified>
</cp:coreProperties>
</file>