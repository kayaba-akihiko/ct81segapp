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74" r:id="rId2"/>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92" autoAdjust="0"/>
    <p:restoredTop sz="96949" autoAdjust="0"/>
  </p:normalViewPr>
  <p:slideViewPr>
    <p:cSldViewPr snapToGrid="0">
      <p:cViewPr varScale="1">
        <p:scale>
          <a:sx n="116" d="100"/>
          <a:sy n="116" d="100"/>
        </p:scale>
        <p:origin x="1392" y="60"/>
      </p:cViewPr>
      <p:guideLst/>
    </p:cSldViewPr>
  </p:slideViewPr>
  <p:notesTextViewPr>
    <p:cViewPr>
      <p:scale>
        <a:sx n="1" d="1"/>
        <a:sy n="1" d="1"/>
      </p:scale>
      <p:origin x="0" y="0"/>
    </p:cViewPr>
  </p:notesTextViewPr>
  <p:notesViewPr>
    <p:cSldViewPr snapToGrid="0">
      <p:cViewPr varScale="1">
        <p:scale>
          <a:sx n="111" d="100"/>
          <a:sy n="111" d="100"/>
        </p:scale>
        <p:origin x="2796" y="96"/>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223F4-285F-48E4-B180-6F8ABAA9B4D6}" type="datetimeFigureOut">
              <a:rPr kumimoji="1" lang="ja-JP" altLang="en-US" smtClean="0"/>
              <a:t>2025/12/16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A57BE4-F087-4889-83FB-F4BC38C7D812}" type="slidenum">
              <a:rPr kumimoji="1" lang="ja-JP" altLang="en-US" smtClean="0"/>
              <a:t>‹#›</a:t>
            </a:fld>
            <a:endParaRPr kumimoji="1" lang="ja-JP" altLang="en-US"/>
          </a:p>
        </p:txBody>
      </p:sp>
    </p:spTree>
    <p:extLst>
      <p:ext uri="{BB962C8B-B14F-4D97-AF65-F5344CB8AC3E}">
        <p14:creationId xmlns:p14="http://schemas.microsoft.com/office/powerpoint/2010/main" val="32071053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所見文の欄については、筋肉の測定値に基づいて、以下の３つのパターンのどれかを挿入する。</a:t>
            </a:r>
          </a:p>
          <a:p>
            <a:r>
              <a:rPr kumimoji="1" lang="ja-JP" altLang="en-US" dirty="0"/>
              <a:t>１．良好／標準的な場合「あなたの筋肉の質は、同性・同年代と比べて良好あるいは標準的な範囲にあります。ただし、高齢になると平均的な値でも筋力低下や転倒リスクが高まることがありますので、今後もバランスの良い食事と（できるだけお医者様や専門家指導の下で）適度な運動を続けることが大切です。」</a:t>
            </a:r>
          </a:p>
          <a:p>
            <a:r>
              <a:rPr kumimoji="1" lang="ja-JP" altLang="en-US" dirty="0"/>
              <a:t>２．やや低めの場合（例えば、２割以上の筋肉で標準偏差範囲外）「あなたの筋肉の質は、同性・同年代と比べるとやや低めの傾向があります。高齢期には筋肉の質のわずかな低下でも生活機能に影響が出ることがありますので、（できるだけお医者様や専門家指導の下で）食事・運動を工夫し、必要に応じて専門家のアドバイスを受けることをおすすめします。」</a:t>
            </a:r>
          </a:p>
          <a:p>
            <a:r>
              <a:rPr kumimoji="1" lang="ja-JP" altLang="en-US" dirty="0"/>
              <a:t>３．かなり低めの場合（例えば、５割以上の筋肉で標準偏差範囲外）「あなたの筋肉の質は、同性・同年代と比べて低い傾向が見られます。高齢期では平均的な水準でも転倒や要介護のリスクが高まることが知られています。早めに医療・リハビリ専門家にご相談されることをおすすめします。」</a:t>
            </a:r>
          </a:p>
          <a:p>
            <a:endParaRPr kumimoji="1" lang="en-US" altLang="ja-JP" dirty="0"/>
          </a:p>
          <a:p>
            <a:r>
              <a:rPr kumimoji="1" lang="ja-JP" altLang="en-US" dirty="0"/>
              <a:t>各３</a:t>
            </a:r>
            <a:r>
              <a:rPr kumimoji="1" lang="en-US" altLang="ja-JP" dirty="0"/>
              <a:t>D</a:t>
            </a:r>
            <a:r>
              <a:rPr kumimoji="1" lang="ja-JP" altLang="en-US" dirty="0"/>
              <a:t>可視化は、被験者のものではなく、説明用で固定した可視化にする。</a:t>
            </a:r>
            <a:endParaRPr kumimoji="1" lang="en-US" altLang="ja-JP" dirty="0"/>
          </a:p>
          <a:p>
            <a:r>
              <a:rPr kumimoji="1" lang="ja-JP" altLang="en-US" dirty="0"/>
              <a:t>各部位の拡大可視化像は、対象とする個別筋肉のみ、対応する色のカラー表示し、その他は、白の半透明表示とする。</a:t>
            </a:r>
            <a:endParaRPr kumimoji="1" lang="en-US" altLang="ja-JP" dirty="0"/>
          </a:p>
          <a:p>
            <a:r>
              <a:rPr kumimoji="1" lang="ja-JP" altLang="en-US" dirty="0"/>
              <a:t>筋質スコアは、筋肉領域内平均</a:t>
            </a:r>
            <a:r>
              <a:rPr kumimoji="1" lang="en-US" altLang="ja-JP" dirty="0"/>
              <a:t>HU</a:t>
            </a:r>
            <a:r>
              <a:rPr kumimoji="1" lang="ja-JP" altLang="en-US" dirty="0"/>
              <a:t>値とする。各プロットの平均・標準偏差範囲のボックスの色は、各個別筋肉に割り当てられた色にする。</a:t>
            </a:r>
            <a:endParaRPr kumimoji="1" lang="en-US" altLang="ja-JP" dirty="0"/>
          </a:p>
          <a:p>
            <a:endParaRPr kumimoji="1" lang="en-US" altLang="ja-JP" dirty="0"/>
          </a:p>
          <a:p>
            <a:r>
              <a:rPr kumimoji="1" lang="ja-JP" altLang="en-US" dirty="0"/>
              <a:t>なお、赤フォントの筋肉名は、太秦</a:t>
            </a:r>
            <a:r>
              <a:rPr kumimoji="1" lang="en-US" altLang="ja-JP" dirty="0"/>
              <a:t>CT</a:t>
            </a:r>
            <a:r>
              <a:rPr kumimoji="1" lang="ja-JP" altLang="en-US" dirty="0"/>
              <a:t>の撮影範囲内と思われますが、黒フォントは撮影範囲外（あるいは、入っていても十分に含まれていない）ので、対象外として、そもそも、プロットにおいて、平均・標準偏差範囲のボックスおよび被験者の値のプロットは、非表示にすることを想定します。</a:t>
            </a:r>
            <a:endParaRPr kumimoji="1" lang="en-US" altLang="ja-JP" dirty="0"/>
          </a:p>
          <a:p>
            <a:endParaRPr kumimoji="1" lang="en-US" altLang="ja-JP" dirty="0"/>
          </a:p>
          <a:p>
            <a:r>
              <a:rPr kumimoji="1" lang="ja-JP" altLang="en-US" dirty="0"/>
              <a:t>平均・標準偏差ボックスについては、各筋肉毎に、年齢</a:t>
            </a:r>
            <a:r>
              <a:rPr kumimoji="1" lang="en-US" altLang="ja-JP" dirty="0"/>
              <a:t>(</a:t>
            </a:r>
            <a:r>
              <a:rPr kumimoji="1" lang="ja-JP" altLang="en-US" dirty="0"/>
              <a:t>横軸</a:t>
            </a:r>
            <a:r>
              <a:rPr kumimoji="1" lang="en-US" altLang="ja-JP" dirty="0"/>
              <a:t>)</a:t>
            </a:r>
            <a:r>
              <a:rPr kumimoji="1" lang="ja-JP" altLang="en-US" dirty="0"/>
              <a:t>・</a:t>
            </a:r>
            <a:r>
              <a:rPr kumimoji="1" lang="en-US" altLang="ja-JP" dirty="0"/>
              <a:t>HU</a:t>
            </a:r>
            <a:r>
              <a:rPr kumimoji="1" lang="ja-JP" altLang="en-US" dirty="0"/>
              <a:t>値</a:t>
            </a:r>
            <a:r>
              <a:rPr kumimoji="1" lang="en-US" altLang="ja-JP" dirty="0"/>
              <a:t>(</a:t>
            </a:r>
            <a:r>
              <a:rPr kumimoji="1" lang="ja-JP" altLang="en-US" dirty="0"/>
              <a:t>縦軸</a:t>
            </a:r>
            <a:r>
              <a:rPr kumimoji="1" lang="en-US" altLang="ja-JP" dirty="0"/>
              <a:t>)</a:t>
            </a:r>
            <a:r>
              <a:rPr kumimoji="1" lang="ja-JP" altLang="en-US" dirty="0"/>
              <a:t>の散布図に対しての男性１次（直線）、女性２次曲線当てはめ（はずれ値は判別し除去）により求めた各年齢の平均値と標準偏差を用いる（アインさんがやっていたもの）。それらの結果から、各筋肉毎に、年齢毎に、平均値と標準偏差をエクセルで、テーブルにしておくのがよいでしょうか？</a:t>
            </a:r>
            <a:endParaRPr kumimoji="1" lang="en-US" altLang="ja-JP" dirty="0"/>
          </a:p>
          <a:p>
            <a:endParaRPr kumimoji="1" lang="en-US" altLang="ja-JP" dirty="0"/>
          </a:p>
          <a:p>
            <a:r>
              <a:rPr kumimoji="1" lang="ja-JP" altLang="en-US" dirty="0"/>
              <a:t>中央の３</a:t>
            </a:r>
            <a:r>
              <a:rPr kumimoji="1" lang="en-US" altLang="ja-JP" dirty="0"/>
              <a:t>D</a:t>
            </a:r>
            <a:r>
              <a:rPr kumimoji="1" lang="ja-JP" altLang="en-US" dirty="0"/>
              <a:t>可視化像は、上の表示では、可視化像の透明度を調整して薄めの色にしています。深部の筋肉については、対象筋肉以外の骨・対象・その他の筋肉は、色なし半透明にするのがよいと思います。</a:t>
            </a:r>
            <a:endParaRPr kumimoji="1" lang="en-US" altLang="ja-JP" dirty="0"/>
          </a:p>
          <a:p>
            <a:r>
              <a:rPr kumimoji="1" lang="ja-JP" altLang="en-US" dirty="0"/>
              <a:t>体幹～下肢全体はないと思うのですが、</a:t>
            </a:r>
            <a:endParaRPr kumimoji="1" lang="en-US" altLang="ja-JP" dirty="0"/>
          </a:p>
          <a:p>
            <a:endParaRPr kumimoji="1" lang="en-US" altLang="ja-JP" dirty="0"/>
          </a:p>
          <a:p>
            <a:r>
              <a:rPr kumimoji="1" lang="ja-JP" altLang="en-US" dirty="0"/>
              <a:t>各部位毎の拡大可視化像は、ある対象筋肉が別の対象筋肉を隠して見えなくなる場合があると思いますので、その場合、左右で別の可視化像にして、一方で、隠している筋肉の色なし半透明にしてください。例えば、「お尻」については、なかなか難しいのですが、右は、４つの筋肉をそのまま表示、左は、大殿筋のみ色なし半透明にして、中殿筋は色付きでやや半透明、小殿筋と大腿筋膜張筋は不透明にするなど、工夫がいると思います。「胸・お腹」や「背中・肩」も、かなり工夫がいると思いますが、特に、腹部は、複数の筋肉が層状になっていて、今回は、完璧にはできなくてもよいと考えます。（今後、改良を重ねることは必要です。）</a:t>
            </a:r>
            <a:endParaRPr kumimoji="1" lang="en-US" altLang="ja-JP" dirty="0"/>
          </a:p>
          <a:p>
            <a:endParaRPr kumimoji="1" lang="en-US" altLang="ja-JP"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6A57BE4-F087-4889-83FB-F4BC38C7D812}" type="slidenum">
              <a:rPr kumimoji="1" lang="ja-JP" altLang="en-US" smtClean="0"/>
              <a:t>1</a:t>
            </a:fld>
            <a:endParaRPr kumimoji="1" lang="ja-JP" altLang="en-US"/>
          </a:p>
        </p:txBody>
      </p:sp>
    </p:spTree>
    <p:extLst>
      <p:ext uri="{BB962C8B-B14F-4D97-AF65-F5344CB8AC3E}">
        <p14:creationId xmlns:p14="http://schemas.microsoft.com/office/powerpoint/2010/main" val="3429022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ja-JP" altLang="en-US"/>
              <a:t>マスター タイトルの書式設定</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30A795C-D186-49F8-922E-213650C331BD}"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557675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6EB9AB5-D71E-43BD-BA98-95F977FA3B14}"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572497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D4B354A-0F1D-4772-A25A-2558BBD7A195}"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317789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4E27273-7879-4DE1-8BC1-2E415FDB7924}"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661172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4" name="Content Placeholder 3"/>
          <p:cNvSpPr>
            <a:spLocks noGrp="1"/>
          </p:cNvSpPr>
          <p:nvPr>
            <p:ph sz="half" idx="2"/>
          </p:nvPr>
        </p:nvSpPr>
        <p:spPr>
          <a:xfrm>
            <a:off x="881779" y="3507105"/>
            <a:ext cx="5415676"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6" name="Content Placeholder 5"/>
          <p:cNvSpPr>
            <a:spLocks noGrp="1"/>
          </p:cNvSpPr>
          <p:nvPr>
            <p:ph sz="quarter" idx="4"/>
          </p:nvPr>
        </p:nvSpPr>
        <p:spPr>
          <a:xfrm>
            <a:off x="6480811" y="3507105"/>
            <a:ext cx="5442347"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B50778B-C442-4A4E-8AB2-8D383DDDEF70}" type="datetime1">
              <a:rPr kumimoji="1" lang="ja-JP" altLang="en-US" smtClean="0"/>
              <a:t>2025/12/16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89738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FDB9525-9DA6-4E33-AD5D-1D7E5209AFE6}" type="datetime1">
              <a:rPr kumimoji="1" lang="ja-JP" altLang="en-US" smtClean="0"/>
              <a:t>2025/12/16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66511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0FF00-CC9E-486D-902A-471A4DB57A7C}" type="datetime1">
              <a:rPr kumimoji="1" lang="ja-JP" altLang="en-US" smtClean="0"/>
              <a:t>2025/12/16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320582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461820C-21E9-4339-B5F3-2597C3FD13FD}"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45186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4DCBEFE-AD8F-4658-846A-0BDBA76D6A89}"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022650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212287D-55E0-4FF4-8F2A-1F80FEF07307}"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241893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2D2BA95-82B4-42A7-9B67-E08D70EC37B9}"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497341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DEC8E0CC-7FA6-473E-874E-5BE9EA49E8F5}" type="datetime1">
              <a:rPr kumimoji="1" lang="ja-JP" altLang="en-US" smtClean="0"/>
              <a:t>2025/12/16</a:t>
            </a:fld>
            <a:endParaRPr kumimoji="1" lang="ja-JP" altLang="en-US"/>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0" y="-3151"/>
            <a:ext cx="542334" cy="561250"/>
          </a:xfrm>
          <a:prstGeom prst="rect">
            <a:avLst/>
          </a:prstGeom>
        </p:spPr>
        <p:txBody>
          <a:bodyPr vert="horz" lIns="91440" tIns="45720" rIns="91440" bIns="45720" rtlCol="0" anchor="ctr"/>
          <a:lstStyle>
            <a:lvl1pPr algn="r">
              <a:defRPr sz="2400">
                <a:solidFill>
                  <a:schemeClr val="tx1">
                    <a:tint val="75000"/>
                  </a:schemeClr>
                </a:solidFill>
              </a:defRPr>
            </a:lvl1pPr>
          </a:lstStyle>
          <a:p>
            <a:fld id="{AD811822-4739-4079-91F6-9F51ED4B0761}" type="slidenum">
              <a:rPr kumimoji="1" lang="ja-JP" altLang="en-US" smtClean="0"/>
              <a:pPr/>
              <a:t>‹#›</a:t>
            </a:fld>
            <a:endParaRPr kumimoji="1" lang="ja-JP" altLang="en-US"/>
          </a:p>
        </p:txBody>
      </p:sp>
    </p:spTree>
    <p:extLst>
      <p:ext uri="{BB962C8B-B14F-4D97-AF65-F5344CB8AC3E}">
        <p14:creationId xmlns:p14="http://schemas.microsoft.com/office/powerpoint/2010/main" val="3539762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1280160" rtl="0" eaLnBrk="1" latinLnBrk="0" hangingPunct="1">
        <a:lnSpc>
          <a:spcPct val="90000"/>
        </a:lnSpc>
        <a:spcBef>
          <a:spcPct val="0"/>
        </a:spcBef>
        <a:buNone/>
        <a:defRPr kumimoji="1"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kumimoji="1"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kumimoji="1"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kumimoji="1"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9pPr>
    </p:bodyStyle>
    <p:otherStyle>
      <a:defPPr>
        <a:defRPr lang="en-US"/>
      </a:defPPr>
      <a:lvl1pPr marL="0" algn="l" defTabSz="1280160" rtl="0" eaLnBrk="1" latinLnBrk="0" hangingPunct="1">
        <a:defRPr kumimoji="1" sz="2520" kern="1200">
          <a:solidFill>
            <a:schemeClr val="tx1"/>
          </a:solidFill>
          <a:latin typeface="+mn-lt"/>
          <a:ea typeface="+mn-ea"/>
          <a:cs typeface="+mn-cs"/>
        </a:defRPr>
      </a:lvl1pPr>
      <a:lvl2pPr marL="640080" algn="l" defTabSz="1280160" rtl="0" eaLnBrk="1" latinLnBrk="0" hangingPunct="1">
        <a:defRPr kumimoji="1" sz="2520" kern="1200">
          <a:solidFill>
            <a:schemeClr val="tx1"/>
          </a:solidFill>
          <a:latin typeface="+mn-lt"/>
          <a:ea typeface="+mn-ea"/>
          <a:cs typeface="+mn-cs"/>
        </a:defRPr>
      </a:lvl2pPr>
      <a:lvl3pPr marL="1280160" algn="l" defTabSz="1280160" rtl="0" eaLnBrk="1" latinLnBrk="0" hangingPunct="1">
        <a:defRPr kumimoji="1" sz="2520" kern="1200">
          <a:solidFill>
            <a:schemeClr val="tx1"/>
          </a:solidFill>
          <a:latin typeface="+mn-lt"/>
          <a:ea typeface="+mn-ea"/>
          <a:cs typeface="+mn-cs"/>
        </a:defRPr>
      </a:lvl3pPr>
      <a:lvl4pPr marL="1920240" algn="l" defTabSz="1280160" rtl="0" eaLnBrk="1" latinLnBrk="0" hangingPunct="1">
        <a:defRPr kumimoji="1" sz="2520" kern="1200">
          <a:solidFill>
            <a:schemeClr val="tx1"/>
          </a:solidFill>
          <a:latin typeface="+mn-lt"/>
          <a:ea typeface="+mn-ea"/>
          <a:cs typeface="+mn-cs"/>
        </a:defRPr>
      </a:lvl4pPr>
      <a:lvl5pPr marL="2560320" algn="l" defTabSz="1280160" rtl="0" eaLnBrk="1" latinLnBrk="0" hangingPunct="1">
        <a:defRPr kumimoji="1" sz="2520" kern="1200">
          <a:solidFill>
            <a:schemeClr val="tx1"/>
          </a:solidFill>
          <a:latin typeface="+mn-lt"/>
          <a:ea typeface="+mn-ea"/>
          <a:cs typeface="+mn-cs"/>
        </a:defRPr>
      </a:lvl5pPr>
      <a:lvl6pPr marL="3200400" algn="l" defTabSz="1280160" rtl="0" eaLnBrk="1" latinLnBrk="0" hangingPunct="1">
        <a:defRPr kumimoji="1" sz="2520" kern="1200">
          <a:solidFill>
            <a:schemeClr val="tx1"/>
          </a:solidFill>
          <a:latin typeface="+mn-lt"/>
          <a:ea typeface="+mn-ea"/>
          <a:cs typeface="+mn-cs"/>
        </a:defRPr>
      </a:lvl6pPr>
      <a:lvl7pPr marL="3840480" algn="l" defTabSz="1280160" rtl="0" eaLnBrk="1" latinLnBrk="0" hangingPunct="1">
        <a:defRPr kumimoji="1" sz="2520" kern="1200">
          <a:solidFill>
            <a:schemeClr val="tx1"/>
          </a:solidFill>
          <a:latin typeface="+mn-lt"/>
          <a:ea typeface="+mn-ea"/>
          <a:cs typeface="+mn-cs"/>
        </a:defRPr>
      </a:lvl7pPr>
      <a:lvl8pPr marL="4480560" algn="l" defTabSz="1280160" rtl="0" eaLnBrk="1" latinLnBrk="0" hangingPunct="1">
        <a:defRPr kumimoji="1" sz="2520" kern="1200">
          <a:solidFill>
            <a:schemeClr val="tx1"/>
          </a:solidFill>
          <a:latin typeface="+mn-lt"/>
          <a:ea typeface="+mn-ea"/>
          <a:cs typeface="+mn-cs"/>
        </a:defRPr>
      </a:lvl8pPr>
      <a:lvl9pPr marL="5120640" algn="l" defTabSz="1280160" rtl="0" eaLnBrk="1" latinLnBrk="0" hangingPunct="1">
        <a:defRPr kumimoji="1"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テキスト ボックス 41">
            <a:extLst>
              <a:ext uri="{FF2B5EF4-FFF2-40B4-BE49-F238E27FC236}">
                <a16:creationId xmlns:a16="http://schemas.microsoft.com/office/drawing/2014/main" id="{6B58A8E9-6F04-48E1-B671-603C55DA9669}"/>
              </a:ext>
            </a:extLst>
          </p:cNvPr>
          <p:cNvSpPr txBox="1"/>
          <p:nvPr/>
        </p:nvSpPr>
        <p:spPr>
          <a:xfrm>
            <a:off x="654943" y="690428"/>
            <a:ext cx="11494402" cy="707886"/>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所見文</a:t>
            </a:r>
            <a:endParaRPr lang="en-US" altLang="ja-JP" sz="1400" b="1" dirty="0">
              <a:latin typeface="メイリオ" panose="020B0604030504040204" pitchFamily="50" charset="-128"/>
              <a:ea typeface="メイリオ" panose="020B0604030504040204" pitchFamily="50" charset="-128"/>
            </a:endParaRPr>
          </a:p>
          <a:p>
            <a:r>
              <a:rPr lang="en-US" altLang="ja-JP" sz="1400" b="1"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{{OBSERVATIONS}}</a:t>
            </a:r>
          </a:p>
          <a:p>
            <a:endParaRPr lang="en-US" altLang="ja-JP" sz="1200"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E23FBE1F-1B96-4235-ABE5-DC87006575B8}"/>
              </a:ext>
            </a:extLst>
          </p:cNvPr>
          <p:cNvSpPr txBox="1"/>
          <p:nvPr/>
        </p:nvSpPr>
        <p:spPr>
          <a:xfrm>
            <a:off x="645524" y="197405"/>
            <a:ext cx="4210336" cy="400110"/>
          </a:xfrm>
          <a:prstGeom prst="rect">
            <a:avLst/>
          </a:prstGeom>
          <a:noFill/>
        </p:spPr>
        <p:txBody>
          <a:bodyPr wrap="square" rtlCol="0">
            <a:spAutoFit/>
          </a:bodyPr>
          <a:lstStyle/>
          <a:p>
            <a:r>
              <a:rPr kumimoji="1" lang="ja-JP" altLang="en-US" sz="2000" b="1" dirty="0">
                <a:solidFill>
                  <a:srgbClr val="C00000"/>
                </a:solidFill>
                <a:latin typeface="メイリオ" panose="020B0604030504040204" pitchFamily="50" charset="-128"/>
                <a:ea typeface="メイリオ" panose="020B0604030504040204" pitchFamily="50" charset="-128"/>
              </a:rPr>
              <a:t>筋質（筋肉の質）</a:t>
            </a:r>
            <a:r>
              <a:rPr kumimoji="1" lang="ja-JP" altLang="en-US" b="1" dirty="0">
                <a:latin typeface="メイリオ" panose="020B0604030504040204" pitchFamily="50" charset="-128"/>
                <a:ea typeface="メイリオ" panose="020B0604030504040204" pitchFamily="50" charset="-128"/>
              </a:rPr>
              <a:t>の測定結果シート</a:t>
            </a:r>
          </a:p>
        </p:txBody>
      </p:sp>
      <p:sp>
        <p:nvSpPr>
          <p:cNvPr id="45" name="テキスト ボックス 44">
            <a:extLst>
              <a:ext uri="{FF2B5EF4-FFF2-40B4-BE49-F238E27FC236}">
                <a16:creationId xmlns:a16="http://schemas.microsoft.com/office/drawing/2014/main" id="{30C1F6BC-DFC6-4383-A644-7703B82FB81D}"/>
              </a:ext>
            </a:extLst>
          </p:cNvPr>
          <p:cNvSpPr txBox="1"/>
          <p:nvPr/>
        </p:nvSpPr>
        <p:spPr>
          <a:xfrm>
            <a:off x="645524" y="1527280"/>
            <a:ext cx="11545078" cy="1015663"/>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測定結果シートの見方</a:t>
            </a:r>
            <a:endParaRPr lang="en-US" altLang="ja-JP" sz="1400" b="1"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あなたの各筋肉の</a:t>
            </a:r>
            <a:r>
              <a:rPr lang="ja-JP" altLang="en-US" sz="1200" b="1" dirty="0">
                <a:latin typeface="メイリオ" panose="020B0604030504040204" pitchFamily="50" charset="-128"/>
                <a:ea typeface="メイリオ" panose="020B0604030504040204" pitchFamily="50" charset="-128"/>
              </a:rPr>
              <a:t>筋質スコア（健康状態の数値）</a:t>
            </a:r>
            <a:r>
              <a:rPr lang="ja-JP" altLang="en-US" sz="1200" dirty="0">
                <a:latin typeface="メイリオ" panose="020B0604030504040204" pitchFamily="50" charset="-128"/>
                <a:ea typeface="メイリオ" panose="020B0604030504040204" pitchFamily="50" charset="-128"/>
              </a:rPr>
              <a:t>を「★印」で示しています。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筋肉毎に、同性・同年齢の「普通の範囲」を色のついた帯で示しています。★印がその帯より左に出ている場合は、同年代と比べて筋質が低めです。</a:t>
            </a:r>
            <a:endParaRPr lang="en-US" altLang="ja-JP" sz="1100"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b="1" dirty="0">
                <a:latin typeface="メイリオ" panose="020B0604030504040204" pitchFamily="50" charset="-128"/>
                <a:ea typeface="メイリオ" panose="020B0604030504040204" pitchFamily="50" charset="-128"/>
              </a:rPr>
              <a:t>筋質スコア</a:t>
            </a:r>
            <a:r>
              <a:rPr lang="ja-JP" altLang="en-US" sz="1200" dirty="0">
                <a:latin typeface="メイリオ" panose="020B0604030504040204" pitchFamily="50" charset="-128"/>
                <a:ea typeface="メイリオ" panose="020B0604030504040204" pitchFamily="50" charset="-128"/>
              </a:rPr>
              <a:t>とは、</a:t>
            </a:r>
            <a:r>
              <a:rPr lang="en-US" altLang="ja-JP" sz="1200" dirty="0">
                <a:latin typeface="メイリオ" panose="020B0604030504040204" pitchFamily="50" charset="-128"/>
                <a:ea typeface="メイリオ" panose="020B0604030504040204" pitchFamily="50" charset="-128"/>
              </a:rPr>
              <a:t>CT</a:t>
            </a:r>
            <a:r>
              <a:rPr lang="ja-JP" altLang="en-US" sz="1200" dirty="0">
                <a:latin typeface="メイリオ" panose="020B0604030504040204" pitchFamily="50" charset="-128"/>
                <a:ea typeface="メイリオ" panose="020B0604030504040204" pitchFamily="50" charset="-128"/>
              </a:rPr>
              <a:t>画像から計算した数字で、筋肉の中に脂肪がどれくらい混ざっているかを表しています。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数値が低いほど、筋肉に脂肪が多く入り込み（いわゆる「霜降り状態」）、筋力が弱くなり、転倒や骨折などのリスクが高くなる可能性があります。</a:t>
            </a:r>
            <a:endParaRPr lang="en-US" altLang="ja-JP" sz="1100"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45FBF326-3E42-40C4-8E2A-483A9F689195}"/>
              </a:ext>
            </a:extLst>
          </p:cNvPr>
          <p:cNvSpPr txBox="1"/>
          <p:nvPr/>
        </p:nvSpPr>
        <p:spPr>
          <a:xfrm>
            <a:off x="5884194" y="5584183"/>
            <a:ext cx="973423" cy="276999"/>
          </a:xfrm>
          <a:prstGeom prst="rect">
            <a:avLst/>
          </a:prstGeom>
          <a:noFill/>
        </p:spPr>
        <p:txBody>
          <a:bodyPr wrap="square" rtlCol="0">
            <a:spAutoFit/>
          </a:bodyPr>
          <a:lstStyle/>
          <a:p>
            <a:pPr algn="ctr"/>
            <a:r>
              <a:rPr kumimoji="1" lang="ja-JP" altLang="en-US" sz="1200" b="1" dirty="0">
                <a:latin typeface="メイリオ" panose="020B0604030504040204" pitchFamily="50" charset="-128"/>
                <a:ea typeface="メイリオ" panose="020B0604030504040204" pitchFamily="50" charset="-128"/>
              </a:rPr>
              <a:t>深部の筋肉</a:t>
            </a:r>
          </a:p>
        </p:txBody>
      </p:sp>
      <p:sp>
        <p:nvSpPr>
          <p:cNvPr id="48" name="テキスト ボックス 47">
            <a:extLst>
              <a:ext uri="{FF2B5EF4-FFF2-40B4-BE49-F238E27FC236}">
                <a16:creationId xmlns:a16="http://schemas.microsoft.com/office/drawing/2014/main" id="{3D2032BD-8774-416E-AFEE-827E56F888CD}"/>
              </a:ext>
            </a:extLst>
          </p:cNvPr>
          <p:cNvSpPr txBox="1"/>
          <p:nvPr/>
        </p:nvSpPr>
        <p:spPr>
          <a:xfrm>
            <a:off x="6844180" y="4047016"/>
            <a:ext cx="974690"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後面の筋肉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56C6CEDB-01BD-49B0-A007-78947852A564}"/>
              </a:ext>
            </a:extLst>
          </p:cNvPr>
          <p:cNvSpPr txBox="1"/>
          <p:nvPr/>
        </p:nvSpPr>
        <p:spPr>
          <a:xfrm>
            <a:off x="4949044" y="4047017"/>
            <a:ext cx="972072"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前面の筋肉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50" name="楕円 49">
            <a:extLst>
              <a:ext uri="{FF2B5EF4-FFF2-40B4-BE49-F238E27FC236}">
                <a16:creationId xmlns:a16="http://schemas.microsoft.com/office/drawing/2014/main" id="{DAD5D763-463A-4A2C-BFD8-78B83F9A7EA0}"/>
              </a:ext>
            </a:extLst>
          </p:cNvPr>
          <p:cNvSpPr/>
          <p:nvPr/>
        </p:nvSpPr>
        <p:spPr>
          <a:xfrm>
            <a:off x="5448378" y="5066391"/>
            <a:ext cx="278741" cy="423579"/>
          </a:xfrm>
          <a:prstGeom prst="ellipse">
            <a:avLst/>
          </a:prstGeom>
          <a:noFill/>
          <a:ln w="952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p>
        </p:txBody>
      </p:sp>
      <p:sp>
        <p:nvSpPr>
          <p:cNvPr id="51" name="矢印: 上 50">
            <a:extLst>
              <a:ext uri="{FF2B5EF4-FFF2-40B4-BE49-F238E27FC236}">
                <a16:creationId xmlns:a16="http://schemas.microsoft.com/office/drawing/2014/main" id="{3A703B42-0A66-4E76-A84F-9E5A88F42BA2}"/>
              </a:ext>
            </a:extLst>
          </p:cNvPr>
          <p:cNvSpPr/>
          <p:nvPr/>
        </p:nvSpPr>
        <p:spPr>
          <a:xfrm rot="18006218" flipH="1">
            <a:off x="4546789" y="3859236"/>
            <a:ext cx="173687" cy="978618"/>
          </a:xfrm>
          <a:prstGeom prst="upArrow">
            <a:avLst>
              <a:gd name="adj1" fmla="val 37275"/>
              <a:gd name="adj2" fmla="val 9453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2" name="矢印: 上 51">
            <a:extLst>
              <a:ext uri="{FF2B5EF4-FFF2-40B4-BE49-F238E27FC236}">
                <a16:creationId xmlns:a16="http://schemas.microsoft.com/office/drawing/2014/main" id="{A2B87521-D875-4DB6-BAC0-1FA6F509025C}"/>
              </a:ext>
            </a:extLst>
          </p:cNvPr>
          <p:cNvSpPr/>
          <p:nvPr/>
        </p:nvSpPr>
        <p:spPr>
          <a:xfrm rot="14367962" flipH="1">
            <a:off x="4572259" y="5635691"/>
            <a:ext cx="189811" cy="1027343"/>
          </a:xfrm>
          <a:prstGeom prst="upArrow">
            <a:avLst>
              <a:gd name="adj1" fmla="val 31066"/>
              <a:gd name="adj2" fmla="val 834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3" name="矢印: 上 52">
            <a:extLst>
              <a:ext uri="{FF2B5EF4-FFF2-40B4-BE49-F238E27FC236}">
                <a16:creationId xmlns:a16="http://schemas.microsoft.com/office/drawing/2014/main" id="{4CFCD161-3D2F-40A6-9091-BBC1CB5416E1}"/>
              </a:ext>
            </a:extLst>
          </p:cNvPr>
          <p:cNvSpPr/>
          <p:nvPr/>
        </p:nvSpPr>
        <p:spPr>
          <a:xfrm rot="13793996" flipH="1">
            <a:off x="4587991" y="6492373"/>
            <a:ext cx="236494" cy="1157419"/>
          </a:xfrm>
          <a:prstGeom prst="upArrow">
            <a:avLst>
              <a:gd name="adj1" fmla="val 28572"/>
              <a:gd name="adj2" fmla="val 91392"/>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5" name="矢印: 上 54">
            <a:extLst>
              <a:ext uri="{FF2B5EF4-FFF2-40B4-BE49-F238E27FC236}">
                <a16:creationId xmlns:a16="http://schemas.microsoft.com/office/drawing/2014/main" id="{2AACCFE0-B00E-496A-A77F-B48A48D7B02E}"/>
              </a:ext>
            </a:extLst>
          </p:cNvPr>
          <p:cNvSpPr/>
          <p:nvPr/>
        </p:nvSpPr>
        <p:spPr>
          <a:xfrm rot="15931656" flipH="1">
            <a:off x="4731573" y="4726020"/>
            <a:ext cx="180570" cy="1180113"/>
          </a:xfrm>
          <a:prstGeom prst="upArrow">
            <a:avLst>
              <a:gd name="adj1" fmla="val 37996"/>
              <a:gd name="adj2" fmla="val 80009"/>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6" name="矢印: 上 55">
            <a:extLst>
              <a:ext uri="{FF2B5EF4-FFF2-40B4-BE49-F238E27FC236}">
                <a16:creationId xmlns:a16="http://schemas.microsoft.com/office/drawing/2014/main" id="{28E6489F-3293-4DAF-BB53-A59EF0219A0D}"/>
              </a:ext>
            </a:extLst>
          </p:cNvPr>
          <p:cNvSpPr/>
          <p:nvPr/>
        </p:nvSpPr>
        <p:spPr>
          <a:xfrm rot="3496225">
            <a:off x="8005060" y="3805047"/>
            <a:ext cx="205315" cy="1101344"/>
          </a:xfrm>
          <a:prstGeom prst="upArrow">
            <a:avLst>
              <a:gd name="adj1" fmla="val 32758"/>
              <a:gd name="adj2" fmla="val 9609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7" name="矢印: 上 56">
            <a:extLst>
              <a:ext uri="{FF2B5EF4-FFF2-40B4-BE49-F238E27FC236}">
                <a16:creationId xmlns:a16="http://schemas.microsoft.com/office/drawing/2014/main" id="{809A1C8F-1CDB-42D7-8562-38E967FB4874}"/>
              </a:ext>
            </a:extLst>
          </p:cNvPr>
          <p:cNvSpPr/>
          <p:nvPr/>
        </p:nvSpPr>
        <p:spPr>
          <a:xfrm rot="5915836">
            <a:off x="7996432" y="4918652"/>
            <a:ext cx="216315" cy="1030208"/>
          </a:xfrm>
          <a:prstGeom prst="upArrow">
            <a:avLst>
              <a:gd name="adj1" fmla="val 31681"/>
              <a:gd name="adj2" fmla="val 10190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8" name="矢印: 上 57">
            <a:extLst>
              <a:ext uri="{FF2B5EF4-FFF2-40B4-BE49-F238E27FC236}">
                <a16:creationId xmlns:a16="http://schemas.microsoft.com/office/drawing/2014/main" id="{0042D3E8-791F-4C2D-B0A1-5C9474BF7ADF}"/>
              </a:ext>
            </a:extLst>
          </p:cNvPr>
          <p:cNvSpPr/>
          <p:nvPr/>
        </p:nvSpPr>
        <p:spPr>
          <a:xfrm rot="7671784">
            <a:off x="8007058" y="6427374"/>
            <a:ext cx="174184" cy="1286081"/>
          </a:xfrm>
          <a:prstGeom prst="upArrow">
            <a:avLst>
              <a:gd name="adj1" fmla="val 38500"/>
              <a:gd name="adj2" fmla="val 10183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9" name="矢印: 上 58">
            <a:extLst>
              <a:ext uri="{FF2B5EF4-FFF2-40B4-BE49-F238E27FC236}">
                <a16:creationId xmlns:a16="http://schemas.microsoft.com/office/drawing/2014/main" id="{D31160A7-32C5-4E43-8C4B-7A3D4B20B5E8}"/>
              </a:ext>
            </a:extLst>
          </p:cNvPr>
          <p:cNvSpPr/>
          <p:nvPr/>
        </p:nvSpPr>
        <p:spPr>
          <a:xfrm rot="6540629">
            <a:off x="8031413" y="5725794"/>
            <a:ext cx="202627" cy="1086912"/>
          </a:xfrm>
          <a:prstGeom prst="upArrow">
            <a:avLst>
              <a:gd name="adj1" fmla="val 32666"/>
              <a:gd name="adj2" fmla="val 10457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63" name="テキスト ボックス 62">
            <a:extLst>
              <a:ext uri="{FF2B5EF4-FFF2-40B4-BE49-F238E27FC236}">
                <a16:creationId xmlns:a16="http://schemas.microsoft.com/office/drawing/2014/main" id="{70557EF8-D01E-4E88-AD0E-9267E7A201C3}"/>
              </a:ext>
            </a:extLst>
          </p:cNvPr>
          <p:cNvSpPr txBox="1"/>
          <p:nvPr/>
        </p:nvSpPr>
        <p:spPr>
          <a:xfrm>
            <a:off x="816623" y="8930917"/>
            <a:ext cx="8816896" cy="707886"/>
          </a:xfrm>
          <a:prstGeom prst="rect">
            <a:avLst/>
          </a:prstGeom>
          <a:noFill/>
          <a:ln>
            <a:noFill/>
          </a:ln>
        </p:spPr>
        <p:txBody>
          <a:bodyPr wrap="square">
            <a:spAutoFit/>
          </a:bodyPr>
          <a:lstStyle/>
          <a:p>
            <a:r>
              <a:rPr lang="ja-JP" altLang="en-US" sz="1200" dirty="0">
                <a:latin typeface="メイリオ" panose="020B0604030504040204" pitchFamily="50" charset="-128"/>
                <a:ea typeface="メイリオ" panose="020B0604030504040204" pitchFamily="50" charset="-128"/>
              </a:rPr>
              <a:t>各筋肉の転倒や骨折のリスクとの関係を、</a:t>
            </a:r>
            <a:r>
              <a:rPr lang="ja-JP" altLang="en-US" sz="16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：強く関係あり　○：関係あり　△：間接的に関係あり、として示しています。このリスクは独自調査によるもので参考程度の利用にとどめてください。なお、膝</a:t>
            </a:r>
            <a:r>
              <a:rPr lang="en-US" altLang="ja-JP" sz="1200" dirty="0">
                <a:latin typeface="メイリオ" panose="020B0604030504040204" pitchFamily="50" charset="-128"/>
                <a:ea typeface="メイリオ" panose="020B0604030504040204" pitchFamily="50" charset="-128"/>
              </a:rPr>
              <a:t>OA</a:t>
            </a:r>
            <a:r>
              <a:rPr lang="ja-JP" altLang="en-US" sz="1200" dirty="0">
                <a:latin typeface="メイリオ" panose="020B0604030504040204" pitchFamily="50" charset="-128"/>
                <a:ea typeface="メイリオ" panose="020B0604030504040204" pitchFamily="50" charset="-128"/>
              </a:rPr>
              <a:t>は「変形性ひざ関節症」（膝の軟骨がすり減って痛みや変形が出てくる病気で、筋質の低下が発症や進行に関連すると言われています）のことです。</a:t>
            </a:r>
          </a:p>
        </p:txBody>
      </p:sp>
      <p:sp>
        <p:nvSpPr>
          <p:cNvPr id="76" name="矢印: 上 75">
            <a:extLst>
              <a:ext uri="{FF2B5EF4-FFF2-40B4-BE49-F238E27FC236}">
                <a16:creationId xmlns:a16="http://schemas.microsoft.com/office/drawing/2014/main" id="{6446311F-E5CE-4308-9088-B2C2582B40E2}"/>
              </a:ext>
            </a:extLst>
          </p:cNvPr>
          <p:cNvSpPr/>
          <p:nvPr/>
        </p:nvSpPr>
        <p:spPr>
          <a:xfrm flipV="1">
            <a:off x="6288045" y="6397279"/>
            <a:ext cx="191964" cy="1130770"/>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1" name="矢印: 上 60">
            <a:extLst>
              <a:ext uri="{FF2B5EF4-FFF2-40B4-BE49-F238E27FC236}">
                <a16:creationId xmlns:a16="http://schemas.microsoft.com/office/drawing/2014/main" id="{D7883AEC-383F-4A5C-B2C4-21FDFF2E9956}"/>
              </a:ext>
            </a:extLst>
          </p:cNvPr>
          <p:cNvSpPr/>
          <p:nvPr/>
        </p:nvSpPr>
        <p:spPr>
          <a:xfrm>
            <a:off x="6288046" y="3794483"/>
            <a:ext cx="191964" cy="994103"/>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4" name="テキスト ボックス 73">
            <a:extLst>
              <a:ext uri="{FF2B5EF4-FFF2-40B4-BE49-F238E27FC236}">
                <a16:creationId xmlns:a16="http://schemas.microsoft.com/office/drawing/2014/main" id="{EF4B2233-5F99-4A1C-BB9C-DB247B415A19}"/>
              </a:ext>
            </a:extLst>
          </p:cNvPr>
          <p:cNvSpPr txBox="1"/>
          <p:nvPr/>
        </p:nvSpPr>
        <p:spPr>
          <a:xfrm>
            <a:off x="3564642" y="258189"/>
            <a:ext cx="9059015" cy="430887"/>
          </a:xfrm>
          <a:prstGeom prst="rect">
            <a:avLst/>
          </a:prstGeom>
          <a:noFill/>
        </p:spPr>
        <p:txBody>
          <a:bodyPr wrap="square" rtlCol="0">
            <a:spAutoFit/>
          </a:bodyPr>
          <a:lstStyle/>
          <a:p>
            <a:pPr algn="r"/>
            <a:r>
              <a:rPr kumimoji="1" lang="ja-JP" altLang="en-US" sz="1100" dirty="0">
                <a:latin typeface="メイリオ" panose="020B0604030504040204" pitchFamily="50" charset="-128"/>
                <a:ea typeface="メイリオ" panose="020B0604030504040204" pitchFamily="50" charset="-128"/>
              </a:rPr>
              <a:t>お名前</a:t>
            </a:r>
            <a:r>
              <a:rPr kumimoji="1" lang="en-US" altLang="ja-JP" sz="1100" dirty="0">
                <a:latin typeface="メイリオ" panose="020B0604030504040204" pitchFamily="50" charset="-128"/>
                <a:ea typeface="メイリオ" panose="020B0604030504040204" pitchFamily="50" charset="-128"/>
              </a:rPr>
              <a:t>: {{NAME}}</a:t>
            </a:r>
            <a:r>
              <a:rPr kumimoji="1" lang="ja-JP" altLang="en-US" sz="1100" dirty="0">
                <a:latin typeface="メイリオ" panose="020B0604030504040204" pitchFamily="50" charset="-128"/>
                <a:ea typeface="メイリオ" panose="020B0604030504040204" pitchFamily="50" charset="-128"/>
              </a:rPr>
              <a:t>様</a:t>
            </a:r>
            <a:r>
              <a:rPr kumimoji="1" lang="en-US" altLang="ja-JP" sz="1100" dirty="0">
                <a:latin typeface="メイリオ" panose="020B0604030504040204" pitchFamily="50" charset="-128"/>
                <a:ea typeface="メイリオ" panose="020B0604030504040204" pitchFamily="50" charset="-128"/>
              </a:rPr>
              <a:t>, {{SEX}}, {{BIRTH_YEAR}}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{{BIRTH_MONTH}}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{{BIRTH_DAY}}</a:t>
            </a:r>
            <a:r>
              <a:rPr kumimoji="1" lang="ja-JP" altLang="en-US" sz="1100" dirty="0">
                <a:latin typeface="メイリオ" panose="020B0604030504040204" pitchFamily="50" charset="-128"/>
                <a:ea typeface="メイリオ" panose="020B0604030504040204" pitchFamily="50" charset="-128"/>
              </a:rPr>
              <a:t>日生</a:t>
            </a:r>
            <a:r>
              <a:rPr kumimoji="1" lang="en-US" altLang="ja-JP" sz="1100" dirty="0">
                <a:latin typeface="メイリオ" panose="020B0604030504040204" pitchFamily="50" charset="-128"/>
                <a:ea typeface="メイリオ" panose="020B0604030504040204" pitchFamily="50" charset="-128"/>
              </a:rPr>
              <a:t>,  </a:t>
            </a:r>
            <a:r>
              <a:rPr kumimoji="1" lang="ja-JP" altLang="en-US" sz="1100" dirty="0">
                <a:latin typeface="メイリオ" panose="020B0604030504040204" pitchFamily="50" charset="-128"/>
                <a:ea typeface="メイリオ" panose="020B0604030504040204" pitchFamily="50" charset="-128"/>
              </a:rPr>
              <a:t>身長</a:t>
            </a:r>
            <a:r>
              <a:rPr kumimoji="1" lang="en-US" altLang="ja-JP" sz="1100" dirty="0">
                <a:latin typeface="メイリオ" panose="020B0604030504040204" pitchFamily="50" charset="-128"/>
                <a:ea typeface="メイリオ" panose="020B0604030504040204" pitchFamily="50" charset="-128"/>
              </a:rPr>
              <a:t>: {{HEIGHT}}cm, </a:t>
            </a:r>
            <a:r>
              <a:rPr kumimoji="1" lang="ja-JP" altLang="en-US" sz="1100" dirty="0">
                <a:latin typeface="メイリオ" panose="020B0604030504040204" pitchFamily="50" charset="-128"/>
                <a:ea typeface="メイリオ" panose="020B0604030504040204" pitchFamily="50" charset="-128"/>
              </a:rPr>
              <a:t>体重</a:t>
            </a:r>
            <a:r>
              <a:rPr kumimoji="1" lang="en-US" altLang="ja-JP" sz="1100" dirty="0">
                <a:latin typeface="メイリオ" panose="020B0604030504040204" pitchFamily="50" charset="-128"/>
                <a:ea typeface="メイリオ" panose="020B0604030504040204" pitchFamily="50" charset="-128"/>
              </a:rPr>
              <a:t>: {{WEIGHT}}kg, </a:t>
            </a:r>
            <a:r>
              <a:rPr kumimoji="1" lang="ja-JP" altLang="en-US" sz="1100" dirty="0">
                <a:latin typeface="メイリオ" panose="020B0604030504040204" pitchFamily="50" charset="-128"/>
                <a:ea typeface="メイリオ" panose="020B0604030504040204" pitchFamily="50" charset="-128"/>
              </a:rPr>
              <a:t>撮影時年齢 </a:t>
            </a:r>
            <a:r>
              <a:rPr kumimoji="1" lang="en-US" altLang="ja-JP" sz="1100" dirty="0">
                <a:latin typeface="メイリオ" panose="020B0604030504040204" pitchFamily="50" charset="-128"/>
                <a:ea typeface="メイリオ" panose="020B0604030504040204" pitchFamily="50" charset="-128"/>
              </a:rPr>
              <a:t>{{AGE}}</a:t>
            </a:r>
            <a:r>
              <a:rPr kumimoji="1" lang="ja-JP" altLang="en-US" sz="1100" dirty="0">
                <a:latin typeface="メイリオ" panose="020B0604030504040204" pitchFamily="50" charset="-128"/>
                <a:ea typeface="メイリオ" panose="020B0604030504040204" pitchFamily="50" charset="-128"/>
              </a:rPr>
              <a:t>歳 </a:t>
            </a:r>
            <a:r>
              <a:rPr kumimoji="1" lang="en-US" altLang="ja-JP" sz="1100" dirty="0">
                <a:latin typeface="メイリオ" panose="020B0604030504040204" pitchFamily="50" charset="-128"/>
                <a:ea typeface="メイリオ" panose="020B0604030504040204" pitchFamily="50" charset="-128"/>
              </a:rPr>
              <a:t>({{SHOOTING_YEAR}}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{{SHOOTING_MONTH}}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{{SHOOTING_DAY}}</a:t>
            </a:r>
            <a:r>
              <a:rPr kumimoji="1" lang="ja-JP" altLang="en-US" sz="1100" dirty="0">
                <a:latin typeface="メイリオ" panose="020B0604030504040204" pitchFamily="50" charset="-128"/>
                <a:ea typeface="メイリオ" panose="020B0604030504040204" pitchFamily="50" charset="-128"/>
              </a:rPr>
              <a:t>日撮影</a:t>
            </a:r>
            <a:r>
              <a:rPr kumimoji="1" lang="en-US" altLang="ja-JP" sz="1100" dirty="0">
                <a:latin typeface="メイリオ" panose="020B0604030504040204" pitchFamily="50" charset="-128"/>
                <a:ea typeface="メイリオ" panose="020B0604030504040204" pitchFamily="50" charset="-128"/>
              </a:rPr>
              <a:t>) </a:t>
            </a:r>
            <a:endParaRPr kumimoji="1" lang="ja-JP" altLang="en-US" sz="1100"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9D89FA5C-D34E-41F5-B1A4-822D9417154D}"/>
              </a:ext>
            </a:extLst>
          </p:cNvPr>
          <p:cNvSpPr>
            <a:spLocks noGrp="1"/>
          </p:cNvSpPr>
          <p:nvPr>
            <p:ph type="sldNum" sz="quarter" idx="12"/>
          </p:nvPr>
        </p:nvSpPr>
        <p:spPr/>
        <p:txBody>
          <a:bodyPr/>
          <a:lstStyle/>
          <a:p>
            <a:fld id="{AD811822-4739-4079-91F6-9F51ED4B0761}" type="slidenum">
              <a:rPr kumimoji="1" lang="ja-JP" altLang="en-US" smtClean="0"/>
              <a:t>1</a:t>
            </a:fld>
            <a:endParaRPr kumimoji="1" lang="ja-JP" altLang="en-US"/>
          </a:p>
        </p:txBody>
      </p:sp>
      <p:graphicFrame>
        <p:nvGraphicFramePr>
          <p:cNvPr id="80" name="表 79">
            <a:extLst>
              <a:ext uri="{FF2B5EF4-FFF2-40B4-BE49-F238E27FC236}">
                <a16:creationId xmlns:a16="http://schemas.microsoft.com/office/drawing/2014/main" id="{12D6D250-0B30-41C3-BBF1-E1DA0284663E}"/>
              </a:ext>
            </a:extLst>
          </p:cNvPr>
          <p:cNvGraphicFramePr>
            <a:graphicFrameLocks noGrp="1"/>
          </p:cNvGraphicFramePr>
          <p:nvPr>
            <p:extLst>
              <p:ext uri="{D42A27DB-BD31-4B8C-83A1-F6EECF244321}">
                <p14:modId xmlns:p14="http://schemas.microsoft.com/office/powerpoint/2010/main" val="3607706020"/>
              </p:ext>
            </p:extLst>
          </p:nvPr>
        </p:nvGraphicFramePr>
        <p:xfrm>
          <a:off x="1037925" y="2890136"/>
          <a:ext cx="1231515" cy="1359549"/>
        </p:xfrm>
        <a:graphic>
          <a:graphicData uri="http://schemas.openxmlformats.org/drawingml/2006/table">
            <a:tbl>
              <a:tblPr firstRow="1" bandRow="1">
                <a:tableStyleId>{8799B23B-EC83-4686-B30A-512413B5E67A}</a:tableStyleId>
              </a:tblPr>
              <a:tblGrid>
                <a:gridCol w="321806">
                  <a:extLst>
                    <a:ext uri="{9D8B030D-6E8A-4147-A177-3AD203B41FA5}">
                      <a16:colId xmlns:a16="http://schemas.microsoft.com/office/drawing/2014/main" val="3169332520"/>
                    </a:ext>
                  </a:extLst>
                </a:gridCol>
                <a:gridCol w="909709">
                  <a:extLst>
                    <a:ext uri="{9D8B030D-6E8A-4147-A177-3AD203B41FA5}">
                      <a16:colId xmlns:a16="http://schemas.microsoft.com/office/drawing/2014/main" val="426943108"/>
                    </a:ext>
                  </a:extLst>
                </a:gridCol>
              </a:tblGrid>
              <a:tr h="135954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胸・お腹</a:t>
                      </a:r>
                    </a:p>
                  </a:txBody>
                  <a:tcPr anchor="ctr"/>
                </a:tc>
                <a:tc>
                  <a:txBody>
                    <a:bodyPr/>
                    <a:lstStyle/>
                    <a:p>
                      <a:r>
                        <a:rPr lang="ja-JP" altLang="en-US" sz="1000" b="0" dirty="0">
                          <a:latin typeface="メイリオ" panose="020B0604030504040204" pitchFamily="50" charset="-128"/>
                          <a:ea typeface="メイリオ" panose="020B0604030504040204" pitchFamily="50" charset="-128"/>
                        </a:rPr>
                        <a:t>大胸筋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小胸筋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前鋸筋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肋間筋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腹直筋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内腹斜筋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外腹斜筋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腹横筋</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173203978"/>
                  </a:ext>
                </a:extLst>
              </a:tr>
            </a:tbl>
          </a:graphicData>
        </a:graphic>
      </p:graphicFrame>
      <p:sp>
        <p:nvSpPr>
          <p:cNvPr id="81" name="テキスト ボックス 80">
            <a:extLst>
              <a:ext uri="{FF2B5EF4-FFF2-40B4-BE49-F238E27FC236}">
                <a16:creationId xmlns:a16="http://schemas.microsoft.com/office/drawing/2014/main" id="{E8DF3E2E-B29A-4C64-A5E4-05AA85368B3D}"/>
              </a:ext>
            </a:extLst>
          </p:cNvPr>
          <p:cNvSpPr txBox="1"/>
          <p:nvPr/>
        </p:nvSpPr>
        <p:spPr>
          <a:xfrm>
            <a:off x="968690" y="4246772"/>
            <a:ext cx="2764128"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機能：体幹の安定、姿勢保持、呼吸補助</a:t>
            </a:r>
            <a:endParaRPr lang="en-US" altLang="ja-JP" sz="1050" b="1" dirty="0">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EAD579E4-8038-4E5E-B5B1-8F613634BF5E}"/>
              </a:ext>
            </a:extLst>
          </p:cNvPr>
          <p:cNvSpPr txBox="1"/>
          <p:nvPr/>
        </p:nvSpPr>
        <p:spPr>
          <a:xfrm>
            <a:off x="968427" y="4414948"/>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△転倒リスク</a:t>
            </a:r>
          </a:p>
        </p:txBody>
      </p:sp>
      <p:sp>
        <p:nvSpPr>
          <p:cNvPr id="83" name="テキスト ボックス 82">
            <a:extLst>
              <a:ext uri="{FF2B5EF4-FFF2-40B4-BE49-F238E27FC236}">
                <a16:creationId xmlns:a16="http://schemas.microsoft.com/office/drawing/2014/main" id="{86E68F16-9ADB-4E4D-BFF9-780147ED4FD6}"/>
              </a:ext>
            </a:extLst>
          </p:cNvPr>
          <p:cNvSpPr txBox="1"/>
          <p:nvPr/>
        </p:nvSpPr>
        <p:spPr>
          <a:xfrm>
            <a:off x="1846945" y="4422943"/>
            <a:ext cx="1975165"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△背骨疾患リスク</a:t>
            </a:r>
            <a:r>
              <a:rPr lang="ja-JP" altLang="en-US" sz="900" dirty="0">
                <a:latin typeface="メイリオ" panose="020B0604030504040204" pitchFamily="50" charset="-128"/>
                <a:ea typeface="メイリオ" panose="020B0604030504040204" pitchFamily="50" charset="-128"/>
              </a:rPr>
              <a:t>（骨折</a:t>
            </a:r>
            <a:r>
              <a:rPr lang="en-US" altLang="ja-JP" sz="900" dirty="0">
                <a:latin typeface="メイリオ" panose="020B0604030504040204" pitchFamily="50" charset="-128"/>
                <a:ea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rPr>
              <a:t>狭窄）</a:t>
            </a:r>
            <a:endParaRPr lang="ja-JP" altLang="en-US" sz="1000" dirty="0">
              <a:latin typeface="メイリオ" panose="020B0604030504040204" pitchFamily="50" charset="-128"/>
              <a:ea typeface="メイリオ" panose="020B0604030504040204" pitchFamily="50" charset="-128"/>
            </a:endParaRPr>
          </a:p>
        </p:txBody>
      </p:sp>
      <p:sp>
        <p:nvSpPr>
          <p:cNvPr id="84" name="四角形: 角を丸くする 83">
            <a:extLst>
              <a:ext uri="{FF2B5EF4-FFF2-40B4-BE49-F238E27FC236}">
                <a16:creationId xmlns:a16="http://schemas.microsoft.com/office/drawing/2014/main" id="{8D3DA354-1FC7-471E-818B-22D6F67EFA92}"/>
              </a:ext>
            </a:extLst>
          </p:cNvPr>
          <p:cNvSpPr/>
          <p:nvPr/>
        </p:nvSpPr>
        <p:spPr>
          <a:xfrm>
            <a:off x="29200" y="2834154"/>
            <a:ext cx="4193298" cy="1801400"/>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5" name="四角形: 角を丸くする 84">
            <a:extLst>
              <a:ext uri="{FF2B5EF4-FFF2-40B4-BE49-F238E27FC236}">
                <a16:creationId xmlns:a16="http://schemas.microsoft.com/office/drawing/2014/main" id="{187A03B4-4808-4AA2-8D8B-E1602DB2EAA4}"/>
              </a:ext>
            </a:extLst>
          </p:cNvPr>
          <p:cNvSpPr/>
          <p:nvPr/>
        </p:nvSpPr>
        <p:spPr>
          <a:xfrm>
            <a:off x="36195" y="4708216"/>
            <a:ext cx="4195356" cy="125353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6" name="四角形: 角を丸くする 85">
            <a:extLst>
              <a:ext uri="{FF2B5EF4-FFF2-40B4-BE49-F238E27FC236}">
                <a16:creationId xmlns:a16="http://schemas.microsoft.com/office/drawing/2014/main" id="{41308B29-8033-4D42-BCBF-DC5C5F690311}"/>
              </a:ext>
            </a:extLst>
          </p:cNvPr>
          <p:cNvSpPr/>
          <p:nvPr/>
        </p:nvSpPr>
        <p:spPr>
          <a:xfrm>
            <a:off x="36811" y="7287093"/>
            <a:ext cx="4200708" cy="11166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7" name="四角形: 角を丸くする 86">
            <a:extLst>
              <a:ext uri="{FF2B5EF4-FFF2-40B4-BE49-F238E27FC236}">
                <a16:creationId xmlns:a16="http://schemas.microsoft.com/office/drawing/2014/main" id="{71ED878D-D3F1-4B03-901A-98CE084390EF}"/>
              </a:ext>
            </a:extLst>
          </p:cNvPr>
          <p:cNvSpPr/>
          <p:nvPr/>
        </p:nvSpPr>
        <p:spPr>
          <a:xfrm>
            <a:off x="36195" y="6084863"/>
            <a:ext cx="4186303" cy="1117916"/>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8" name="四角形: 角を丸くする 87">
            <a:extLst>
              <a:ext uri="{FF2B5EF4-FFF2-40B4-BE49-F238E27FC236}">
                <a16:creationId xmlns:a16="http://schemas.microsoft.com/office/drawing/2014/main" id="{49157FAF-7FB5-4FED-9D94-AF192BBFA9F4}"/>
              </a:ext>
            </a:extLst>
          </p:cNvPr>
          <p:cNvSpPr/>
          <p:nvPr/>
        </p:nvSpPr>
        <p:spPr>
          <a:xfrm>
            <a:off x="4301207" y="2687109"/>
            <a:ext cx="4212678" cy="1123417"/>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9" name="四角形: 角を丸くする 88">
            <a:extLst>
              <a:ext uri="{FF2B5EF4-FFF2-40B4-BE49-F238E27FC236}">
                <a16:creationId xmlns:a16="http://schemas.microsoft.com/office/drawing/2014/main" id="{8A6489E3-26FB-440D-9213-3F1746CC9CCA}"/>
              </a:ext>
            </a:extLst>
          </p:cNvPr>
          <p:cNvSpPr/>
          <p:nvPr/>
        </p:nvSpPr>
        <p:spPr>
          <a:xfrm>
            <a:off x="4358497" y="7547842"/>
            <a:ext cx="4186919" cy="1181133"/>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0" name="四角形: 角を丸くする 89">
            <a:extLst>
              <a:ext uri="{FF2B5EF4-FFF2-40B4-BE49-F238E27FC236}">
                <a16:creationId xmlns:a16="http://schemas.microsoft.com/office/drawing/2014/main" id="{1C994994-C374-4051-95EB-14DBC8502F44}"/>
              </a:ext>
            </a:extLst>
          </p:cNvPr>
          <p:cNvSpPr/>
          <p:nvPr/>
        </p:nvSpPr>
        <p:spPr>
          <a:xfrm>
            <a:off x="8589161" y="2828377"/>
            <a:ext cx="4136975" cy="191584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1" name="四角形: 角を丸くする 90">
            <a:extLst>
              <a:ext uri="{FF2B5EF4-FFF2-40B4-BE49-F238E27FC236}">
                <a16:creationId xmlns:a16="http://schemas.microsoft.com/office/drawing/2014/main" id="{A46ED2A9-6DE3-4B8B-BEF7-F10FDD8A89E0}"/>
              </a:ext>
            </a:extLst>
          </p:cNvPr>
          <p:cNvSpPr/>
          <p:nvPr/>
        </p:nvSpPr>
        <p:spPr>
          <a:xfrm>
            <a:off x="8622837" y="4776235"/>
            <a:ext cx="4129336" cy="11761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2" name="四角形: 角を丸くする 91">
            <a:extLst>
              <a:ext uri="{FF2B5EF4-FFF2-40B4-BE49-F238E27FC236}">
                <a16:creationId xmlns:a16="http://schemas.microsoft.com/office/drawing/2014/main" id="{FA7C595A-3F6A-4D29-8F37-D9EA66CB4853}"/>
              </a:ext>
            </a:extLst>
          </p:cNvPr>
          <p:cNvSpPr/>
          <p:nvPr/>
        </p:nvSpPr>
        <p:spPr>
          <a:xfrm>
            <a:off x="8643896" y="6071616"/>
            <a:ext cx="4108277" cy="120164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3" name="四角形: 角を丸くする 92">
            <a:extLst>
              <a:ext uri="{FF2B5EF4-FFF2-40B4-BE49-F238E27FC236}">
                <a16:creationId xmlns:a16="http://schemas.microsoft.com/office/drawing/2014/main" id="{8E3E7552-915E-48AF-AD83-4F2846A15610}"/>
              </a:ext>
            </a:extLst>
          </p:cNvPr>
          <p:cNvSpPr/>
          <p:nvPr/>
        </p:nvSpPr>
        <p:spPr>
          <a:xfrm>
            <a:off x="8584926" y="7404343"/>
            <a:ext cx="4167247" cy="1116825"/>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94" name="直線コネクタ 93">
            <a:extLst>
              <a:ext uri="{FF2B5EF4-FFF2-40B4-BE49-F238E27FC236}">
                <a16:creationId xmlns:a16="http://schemas.microsoft.com/office/drawing/2014/main" id="{141AD58C-CC36-4A95-98E6-8BCEC311D5A5}"/>
              </a:ext>
            </a:extLst>
          </p:cNvPr>
          <p:cNvCxnSpPr>
            <a:cxnSpLocks/>
          </p:cNvCxnSpPr>
          <p:nvPr/>
        </p:nvCxnSpPr>
        <p:spPr>
          <a:xfrm>
            <a:off x="2410777" y="2713650"/>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F7A187D3-57C8-4C23-B459-9865B842D5D4}"/>
              </a:ext>
            </a:extLst>
          </p:cNvPr>
          <p:cNvSpPr txBox="1"/>
          <p:nvPr/>
        </p:nvSpPr>
        <p:spPr>
          <a:xfrm>
            <a:off x="2081606" y="2569264"/>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96" name="テキスト ボックス 95">
            <a:extLst>
              <a:ext uri="{FF2B5EF4-FFF2-40B4-BE49-F238E27FC236}">
                <a16:creationId xmlns:a16="http://schemas.microsoft.com/office/drawing/2014/main" id="{EDEB194E-7862-462C-83EB-56CB0DBD327B}"/>
              </a:ext>
            </a:extLst>
          </p:cNvPr>
          <p:cNvSpPr txBox="1"/>
          <p:nvPr/>
        </p:nvSpPr>
        <p:spPr>
          <a:xfrm>
            <a:off x="3936724" y="2582740"/>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cxnSp>
        <p:nvCxnSpPr>
          <p:cNvPr id="103" name="直線コネクタ 102">
            <a:extLst>
              <a:ext uri="{FF2B5EF4-FFF2-40B4-BE49-F238E27FC236}">
                <a16:creationId xmlns:a16="http://schemas.microsoft.com/office/drawing/2014/main" id="{F882DF77-375C-4568-AD85-49096EDD685A}"/>
              </a:ext>
            </a:extLst>
          </p:cNvPr>
          <p:cNvCxnSpPr>
            <a:cxnSpLocks/>
          </p:cNvCxnSpPr>
          <p:nvPr/>
        </p:nvCxnSpPr>
        <p:spPr>
          <a:xfrm>
            <a:off x="10067550" y="2714749"/>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04" name="テキスト ボックス 103">
            <a:extLst>
              <a:ext uri="{FF2B5EF4-FFF2-40B4-BE49-F238E27FC236}">
                <a16:creationId xmlns:a16="http://schemas.microsoft.com/office/drawing/2014/main" id="{5C8BD205-D03E-4E00-9425-D688B6DDBF1D}"/>
              </a:ext>
            </a:extLst>
          </p:cNvPr>
          <p:cNvSpPr txBox="1"/>
          <p:nvPr/>
        </p:nvSpPr>
        <p:spPr>
          <a:xfrm>
            <a:off x="9738379" y="2570363"/>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105" name="テキスト ボックス 104">
            <a:extLst>
              <a:ext uri="{FF2B5EF4-FFF2-40B4-BE49-F238E27FC236}">
                <a16:creationId xmlns:a16="http://schemas.microsoft.com/office/drawing/2014/main" id="{B9359093-6938-453C-B923-DE93BA9E8773}"/>
              </a:ext>
            </a:extLst>
          </p:cNvPr>
          <p:cNvSpPr txBox="1"/>
          <p:nvPr/>
        </p:nvSpPr>
        <p:spPr>
          <a:xfrm>
            <a:off x="11593497" y="2583839"/>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graphicFrame>
        <p:nvGraphicFramePr>
          <p:cNvPr id="106" name="表 105">
            <a:extLst>
              <a:ext uri="{FF2B5EF4-FFF2-40B4-BE49-F238E27FC236}">
                <a16:creationId xmlns:a16="http://schemas.microsoft.com/office/drawing/2014/main" id="{642802A6-2CA0-4D0F-BA0D-AA11DCAFF67A}"/>
              </a:ext>
            </a:extLst>
          </p:cNvPr>
          <p:cNvGraphicFramePr>
            <a:graphicFrameLocks noGrp="1"/>
          </p:cNvGraphicFramePr>
          <p:nvPr>
            <p:extLst>
              <p:ext uri="{D42A27DB-BD31-4B8C-83A1-F6EECF244321}">
                <p14:modId xmlns:p14="http://schemas.microsoft.com/office/powerpoint/2010/main" val="3062727978"/>
              </p:ext>
            </p:extLst>
          </p:nvPr>
        </p:nvGraphicFramePr>
        <p:xfrm>
          <a:off x="1048473" y="4770483"/>
          <a:ext cx="1217807" cy="762646"/>
        </p:xfrm>
        <a:graphic>
          <a:graphicData uri="http://schemas.openxmlformats.org/drawingml/2006/table">
            <a:tbl>
              <a:tblPr firstRow="1" bandRow="1">
                <a:tableStyleId>{8799B23B-EC83-4686-B30A-512413B5E67A}</a:tableStyleId>
              </a:tblPr>
              <a:tblGrid>
                <a:gridCol w="332540">
                  <a:extLst>
                    <a:ext uri="{9D8B030D-6E8A-4147-A177-3AD203B41FA5}">
                      <a16:colId xmlns:a16="http://schemas.microsoft.com/office/drawing/2014/main" val="3544890682"/>
                    </a:ext>
                  </a:extLst>
                </a:gridCol>
                <a:gridCol w="885267">
                  <a:extLst>
                    <a:ext uri="{9D8B030D-6E8A-4147-A177-3AD203B41FA5}">
                      <a16:colId xmlns:a16="http://schemas.microsoft.com/office/drawing/2014/main" val="4250031406"/>
                    </a:ext>
                  </a:extLst>
                </a:gridCol>
              </a:tblGrid>
              <a:tr h="76264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内もも</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内転筋群</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恥骨筋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薄筋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縫工筋</a:t>
                      </a:r>
                    </a:p>
                  </a:txBody>
                  <a:tcPr anchor="ctr"/>
                </a:tc>
                <a:extLst>
                  <a:ext uri="{0D108BD9-81ED-4DB2-BD59-A6C34878D82A}">
                    <a16:rowId xmlns:a16="http://schemas.microsoft.com/office/drawing/2014/main" val="4066695419"/>
                  </a:ext>
                </a:extLst>
              </a:tr>
            </a:tbl>
          </a:graphicData>
        </a:graphic>
      </p:graphicFrame>
      <p:sp>
        <p:nvSpPr>
          <p:cNvPr id="107" name="テキスト ボックス 106">
            <a:extLst>
              <a:ext uri="{FF2B5EF4-FFF2-40B4-BE49-F238E27FC236}">
                <a16:creationId xmlns:a16="http://schemas.microsoft.com/office/drawing/2014/main" id="{7FB3262C-BD70-4E0E-9AB1-634F1282A07A}"/>
              </a:ext>
            </a:extLst>
          </p:cNvPr>
          <p:cNvSpPr txBox="1"/>
          <p:nvPr/>
        </p:nvSpPr>
        <p:spPr>
          <a:xfrm>
            <a:off x="932110" y="5568305"/>
            <a:ext cx="2200535"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機能：股関節内転、立位の安定</a:t>
            </a:r>
          </a:p>
        </p:txBody>
      </p:sp>
      <p:sp>
        <p:nvSpPr>
          <p:cNvPr id="108" name="テキスト ボックス 107">
            <a:extLst>
              <a:ext uri="{FF2B5EF4-FFF2-40B4-BE49-F238E27FC236}">
                <a16:creationId xmlns:a16="http://schemas.microsoft.com/office/drawing/2014/main" id="{0AAD8A2C-082C-49F7-B5C2-E25302CF75DB}"/>
              </a:ext>
            </a:extLst>
          </p:cNvPr>
          <p:cNvSpPr txBox="1"/>
          <p:nvPr/>
        </p:nvSpPr>
        <p:spPr>
          <a:xfrm>
            <a:off x="950251" y="5746688"/>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09" name="テキスト ボックス 108">
            <a:extLst>
              <a:ext uri="{FF2B5EF4-FFF2-40B4-BE49-F238E27FC236}">
                <a16:creationId xmlns:a16="http://schemas.microsoft.com/office/drawing/2014/main" id="{6E185B3A-C7D2-48A1-93E9-BD628765C53C}"/>
              </a:ext>
            </a:extLst>
          </p:cNvPr>
          <p:cNvSpPr txBox="1"/>
          <p:nvPr/>
        </p:nvSpPr>
        <p:spPr>
          <a:xfrm>
            <a:off x="1941394" y="5740936"/>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graphicFrame>
        <p:nvGraphicFramePr>
          <p:cNvPr id="110" name="表 109">
            <a:extLst>
              <a:ext uri="{FF2B5EF4-FFF2-40B4-BE49-F238E27FC236}">
                <a16:creationId xmlns:a16="http://schemas.microsoft.com/office/drawing/2014/main" id="{24DF609B-8737-41DD-AC8D-FBB6629F904D}"/>
              </a:ext>
            </a:extLst>
          </p:cNvPr>
          <p:cNvGraphicFramePr>
            <a:graphicFrameLocks noGrp="1"/>
          </p:cNvGraphicFramePr>
          <p:nvPr>
            <p:extLst>
              <p:ext uri="{D42A27DB-BD31-4B8C-83A1-F6EECF244321}">
                <p14:modId xmlns:p14="http://schemas.microsoft.com/office/powerpoint/2010/main" val="3410317527"/>
              </p:ext>
            </p:extLst>
          </p:nvPr>
        </p:nvGraphicFramePr>
        <p:xfrm>
          <a:off x="1035929" y="6142982"/>
          <a:ext cx="1230352" cy="637833"/>
        </p:xfrm>
        <a:graphic>
          <a:graphicData uri="http://schemas.openxmlformats.org/drawingml/2006/table">
            <a:tbl>
              <a:tblPr firstRow="1" bandRow="1">
                <a:tableStyleId>{8799B23B-EC83-4686-B30A-512413B5E67A}</a:tableStyleId>
              </a:tblPr>
              <a:tblGrid>
                <a:gridCol w="269374">
                  <a:extLst>
                    <a:ext uri="{9D8B030D-6E8A-4147-A177-3AD203B41FA5}">
                      <a16:colId xmlns:a16="http://schemas.microsoft.com/office/drawing/2014/main" val="4009949933"/>
                    </a:ext>
                  </a:extLst>
                </a:gridCol>
                <a:gridCol w="960978">
                  <a:extLst>
                    <a:ext uri="{9D8B030D-6E8A-4147-A177-3AD203B41FA5}">
                      <a16:colId xmlns:a16="http://schemas.microsoft.com/office/drawing/2014/main" val="194728516"/>
                    </a:ext>
                  </a:extLst>
                </a:gridCol>
              </a:tblGrid>
              <a:tr h="63783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もも前</a:t>
                      </a:r>
                      <a:endParaRPr kumimoji="1" lang="en-US" altLang="ja-JP"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大腿直筋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外側中間広筋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内側広筋</a:t>
                      </a:r>
                    </a:p>
                  </a:txBody>
                  <a:tcPr anchor="ctr"/>
                </a:tc>
                <a:extLst>
                  <a:ext uri="{0D108BD9-81ED-4DB2-BD59-A6C34878D82A}">
                    <a16:rowId xmlns:a16="http://schemas.microsoft.com/office/drawing/2014/main" val="3809921758"/>
                  </a:ext>
                </a:extLst>
              </a:tr>
            </a:tbl>
          </a:graphicData>
        </a:graphic>
      </p:graphicFrame>
      <p:sp>
        <p:nvSpPr>
          <p:cNvPr id="111" name="テキスト ボックス 110">
            <a:extLst>
              <a:ext uri="{FF2B5EF4-FFF2-40B4-BE49-F238E27FC236}">
                <a16:creationId xmlns:a16="http://schemas.microsoft.com/office/drawing/2014/main" id="{30A23E7A-7035-48F7-B215-118809973DBC}"/>
              </a:ext>
            </a:extLst>
          </p:cNvPr>
          <p:cNvSpPr txBox="1"/>
          <p:nvPr/>
        </p:nvSpPr>
        <p:spPr>
          <a:xfrm>
            <a:off x="947595" y="6980690"/>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12" name="テキスト ボックス 111">
            <a:extLst>
              <a:ext uri="{FF2B5EF4-FFF2-40B4-BE49-F238E27FC236}">
                <a16:creationId xmlns:a16="http://schemas.microsoft.com/office/drawing/2014/main" id="{D652395B-D693-47B7-B412-31F753449FDF}"/>
              </a:ext>
            </a:extLst>
          </p:cNvPr>
          <p:cNvSpPr txBox="1"/>
          <p:nvPr/>
        </p:nvSpPr>
        <p:spPr>
          <a:xfrm>
            <a:off x="1850167" y="6993109"/>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sp>
        <p:nvSpPr>
          <p:cNvPr id="113" name="テキスト ボックス 112">
            <a:extLst>
              <a:ext uri="{FF2B5EF4-FFF2-40B4-BE49-F238E27FC236}">
                <a16:creationId xmlns:a16="http://schemas.microsoft.com/office/drawing/2014/main" id="{619E819E-8141-4B1C-A757-DC6B0E38F0D6}"/>
              </a:ext>
            </a:extLst>
          </p:cNvPr>
          <p:cNvSpPr txBox="1"/>
          <p:nvPr/>
        </p:nvSpPr>
        <p:spPr>
          <a:xfrm>
            <a:off x="2886339" y="6977867"/>
            <a:ext cx="1365258"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sp>
        <p:nvSpPr>
          <p:cNvPr id="114" name="テキスト ボックス 113">
            <a:extLst>
              <a:ext uri="{FF2B5EF4-FFF2-40B4-BE49-F238E27FC236}">
                <a16:creationId xmlns:a16="http://schemas.microsoft.com/office/drawing/2014/main" id="{C471DFCB-A574-4860-986E-1FD1CE2F7049}"/>
              </a:ext>
            </a:extLst>
          </p:cNvPr>
          <p:cNvSpPr txBox="1"/>
          <p:nvPr/>
        </p:nvSpPr>
        <p:spPr>
          <a:xfrm>
            <a:off x="941443" y="6802125"/>
            <a:ext cx="2285199"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機能：膝伸展、歩行、立ち上がり</a:t>
            </a:r>
            <a:endParaRPr lang="en-US" altLang="ja-JP" sz="1050" b="1" dirty="0">
              <a:latin typeface="メイリオ" panose="020B0604030504040204" pitchFamily="50" charset="-128"/>
              <a:ea typeface="メイリオ" panose="020B0604030504040204" pitchFamily="50" charset="-128"/>
            </a:endParaRPr>
          </a:p>
        </p:txBody>
      </p:sp>
      <p:graphicFrame>
        <p:nvGraphicFramePr>
          <p:cNvPr id="115" name="表 114">
            <a:extLst>
              <a:ext uri="{FF2B5EF4-FFF2-40B4-BE49-F238E27FC236}">
                <a16:creationId xmlns:a16="http://schemas.microsoft.com/office/drawing/2014/main" id="{9720B4FE-95F6-48EA-804C-5EA06AD1FB92}"/>
              </a:ext>
            </a:extLst>
          </p:cNvPr>
          <p:cNvGraphicFramePr>
            <a:graphicFrameLocks noGrp="1"/>
          </p:cNvGraphicFramePr>
          <p:nvPr>
            <p:extLst>
              <p:ext uri="{D42A27DB-BD31-4B8C-83A1-F6EECF244321}">
                <p14:modId xmlns:p14="http://schemas.microsoft.com/office/powerpoint/2010/main" val="2304205259"/>
              </p:ext>
            </p:extLst>
          </p:nvPr>
        </p:nvGraphicFramePr>
        <p:xfrm>
          <a:off x="1012400" y="7325887"/>
          <a:ext cx="1172419" cy="655338"/>
        </p:xfrm>
        <a:graphic>
          <a:graphicData uri="http://schemas.openxmlformats.org/drawingml/2006/table">
            <a:tbl>
              <a:tblPr firstRow="1" bandRow="1">
                <a:tableStyleId>{8799B23B-EC83-4686-B30A-512413B5E67A}</a:tableStyleId>
              </a:tblPr>
              <a:tblGrid>
                <a:gridCol w="316249">
                  <a:extLst>
                    <a:ext uri="{9D8B030D-6E8A-4147-A177-3AD203B41FA5}">
                      <a16:colId xmlns:a16="http://schemas.microsoft.com/office/drawing/2014/main" val="2069685764"/>
                    </a:ext>
                  </a:extLst>
                </a:gridCol>
                <a:gridCol w="856170">
                  <a:extLst>
                    <a:ext uri="{9D8B030D-6E8A-4147-A177-3AD203B41FA5}">
                      <a16:colId xmlns:a16="http://schemas.microsoft.com/office/drawing/2014/main" val="3304209401"/>
                    </a:ext>
                  </a:extLst>
                </a:gridCol>
              </a:tblGrid>
              <a:tr h="65533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すね前</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前方区画</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外側区画</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58651088"/>
                  </a:ext>
                </a:extLst>
              </a:tr>
            </a:tbl>
          </a:graphicData>
        </a:graphic>
      </p:graphicFrame>
      <p:sp>
        <p:nvSpPr>
          <p:cNvPr id="116" name="テキスト ボックス 115">
            <a:extLst>
              <a:ext uri="{FF2B5EF4-FFF2-40B4-BE49-F238E27FC236}">
                <a16:creationId xmlns:a16="http://schemas.microsoft.com/office/drawing/2014/main" id="{1629187F-9CB4-45A1-AE3B-0F0E6F5C02A9}"/>
              </a:ext>
            </a:extLst>
          </p:cNvPr>
          <p:cNvSpPr txBox="1"/>
          <p:nvPr/>
        </p:nvSpPr>
        <p:spPr>
          <a:xfrm>
            <a:off x="971247" y="7986116"/>
            <a:ext cx="3066838"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機能：足関節背屈、足部安定、土踏まず保持</a:t>
            </a:r>
          </a:p>
        </p:txBody>
      </p:sp>
      <p:sp>
        <p:nvSpPr>
          <p:cNvPr id="117" name="テキスト ボックス 116">
            <a:extLst>
              <a:ext uri="{FF2B5EF4-FFF2-40B4-BE49-F238E27FC236}">
                <a16:creationId xmlns:a16="http://schemas.microsoft.com/office/drawing/2014/main" id="{5205AF04-DAC1-4B58-8777-BEC620EA0155}"/>
              </a:ext>
            </a:extLst>
          </p:cNvPr>
          <p:cNvSpPr txBox="1"/>
          <p:nvPr/>
        </p:nvSpPr>
        <p:spPr>
          <a:xfrm>
            <a:off x="933584" y="8145657"/>
            <a:ext cx="1214072" cy="276999"/>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転倒リスク</a:t>
            </a:r>
          </a:p>
        </p:txBody>
      </p:sp>
      <p:graphicFrame>
        <p:nvGraphicFramePr>
          <p:cNvPr id="118" name="表 117">
            <a:extLst>
              <a:ext uri="{FF2B5EF4-FFF2-40B4-BE49-F238E27FC236}">
                <a16:creationId xmlns:a16="http://schemas.microsoft.com/office/drawing/2014/main" id="{541717D3-75A1-4460-8A1C-54B03E7BF39A}"/>
              </a:ext>
            </a:extLst>
          </p:cNvPr>
          <p:cNvGraphicFramePr>
            <a:graphicFrameLocks noGrp="1"/>
          </p:cNvGraphicFramePr>
          <p:nvPr>
            <p:extLst>
              <p:ext uri="{D42A27DB-BD31-4B8C-83A1-F6EECF244321}">
                <p14:modId xmlns:p14="http://schemas.microsoft.com/office/powerpoint/2010/main" val="2155267957"/>
              </p:ext>
            </p:extLst>
          </p:nvPr>
        </p:nvGraphicFramePr>
        <p:xfrm>
          <a:off x="8669372" y="2863566"/>
          <a:ext cx="1305869" cy="1463040"/>
        </p:xfrm>
        <a:graphic>
          <a:graphicData uri="http://schemas.openxmlformats.org/drawingml/2006/table">
            <a:tbl>
              <a:tblPr firstRow="1" bandRow="1">
                <a:tableStyleId>{8799B23B-EC83-4686-B30A-512413B5E67A}</a:tableStyleId>
              </a:tblPr>
              <a:tblGrid>
                <a:gridCol w="315297">
                  <a:extLst>
                    <a:ext uri="{9D8B030D-6E8A-4147-A177-3AD203B41FA5}">
                      <a16:colId xmlns:a16="http://schemas.microsoft.com/office/drawing/2014/main" val="258627500"/>
                    </a:ext>
                  </a:extLst>
                </a:gridCol>
                <a:gridCol w="990572">
                  <a:extLst>
                    <a:ext uri="{9D8B030D-6E8A-4147-A177-3AD203B41FA5}">
                      <a16:colId xmlns:a16="http://schemas.microsoft.com/office/drawing/2014/main" val="2293094048"/>
                    </a:ext>
                  </a:extLst>
                </a:gridCol>
              </a:tblGrid>
              <a:tr h="138091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背中・肩</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脊柱起立筋</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広背筋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僧帽筋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棘上筋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棘下筋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前鋸筋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肩甲下筋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大円筋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小円筋</a:t>
                      </a:r>
                      <a:endParaRPr lang="en-US" altLang="ja-JP" sz="1000" b="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882783772"/>
                  </a:ext>
                </a:extLst>
              </a:tr>
            </a:tbl>
          </a:graphicData>
        </a:graphic>
      </p:graphicFrame>
      <p:sp>
        <p:nvSpPr>
          <p:cNvPr id="119" name="テキスト ボックス 118">
            <a:extLst>
              <a:ext uri="{FF2B5EF4-FFF2-40B4-BE49-F238E27FC236}">
                <a16:creationId xmlns:a16="http://schemas.microsoft.com/office/drawing/2014/main" id="{55CD6E55-14BD-436D-A1A2-AD6828DFBC14}"/>
              </a:ext>
            </a:extLst>
          </p:cNvPr>
          <p:cNvSpPr txBox="1"/>
          <p:nvPr/>
        </p:nvSpPr>
        <p:spPr>
          <a:xfrm>
            <a:off x="8630074" y="4347222"/>
            <a:ext cx="3004982"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機能：姿勢保持、肩・腕の運動、肩関節安定</a:t>
            </a:r>
          </a:p>
        </p:txBody>
      </p:sp>
      <p:sp>
        <p:nvSpPr>
          <p:cNvPr id="120" name="テキスト ボックス 119">
            <a:extLst>
              <a:ext uri="{FF2B5EF4-FFF2-40B4-BE49-F238E27FC236}">
                <a16:creationId xmlns:a16="http://schemas.microsoft.com/office/drawing/2014/main" id="{D70632B0-5D9D-4F62-8DD7-E4B9081DDD10}"/>
              </a:ext>
            </a:extLst>
          </p:cNvPr>
          <p:cNvSpPr txBox="1"/>
          <p:nvPr/>
        </p:nvSpPr>
        <p:spPr>
          <a:xfrm>
            <a:off x="8622625" y="4504325"/>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graphicFrame>
        <p:nvGraphicFramePr>
          <p:cNvPr id="122" name="表 121">
            <a:extLst>
              <a:ext uri="{FF2B5EF4-FFF2-40B4-BE49-F238E27FC236}">
                <a16:creationId xmlns:a16="http://schemas.microsoft.com/office/drawing/2014/main" id="{30E7FB19-27DE-40E0-B2D7-FBD2F37A659F}"/>
              </a:ext>
            </a:extLst>
          </p:cNvPr>
          <p:cNvGraphicFramePr>
            <a:graphicFrameLocks noGrp="1"/>
          </p:cNvGraphicFramePr>
          <p:nvPr>
            <p:extLst>
              <p:ext uri="{D42A27DB-BD31-4B8C-83A1-F6EECF244321}">
                <p14:modId xmlns:p14="http://schemas.microsoft.com/office/powerpoint/2010/main" val="2487058137"/>
              </p:ext>
            </p:extLst>
          </p:nvPr>
        </p:nvGraphicFramePr>
        <p:xfrm>
          <a:off x="8705939" y="4814246"/>
          <a:ext cx="1232734" cy="685800"/>
        </p:xfrm>
        <a:graphic>
          <a:graphicData uri="http://schemas.openxmlformats.org/drawingml/2006/table">
            <a:tbl>
              <a:tblPr firstRow="1" bandRow="1">
                <a:tableStyleId>{8799B23B-EC83-4686-B30A-512413B5E67A}</a:tableStyleId>
              </a:tblPr>
              <a:tblGrid>
                <a:gridCol w="267949">
                  <a:extLst>
                    <a:ext uri="{9D8B030D-6E8A-4147-A177-3AD203B41FA5}">
                      <a16:colId xmlns:a16="http://schemas.microsoft.com/office/drawing/2014/main" val="631247754"/>
                    </a:ext>
                  </a:extLst>
                </a:gridCol>
                <a:gridCol w="964785">
                  <a:extLst>
                    <a:ext uri="{9D8B030D-6E8A-4147-A177-3AD203B41FA5}">
                      <a16:colId xmlns:a16="http://schemas.microsoft.com/office/drawing/2014/main" val="4231436098"/>
                    </a:ext>
                  </a:extLst>
                </a:gridCol>
              </a:tblGrid>
              <a:tr h="624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お尻</a:t>
                      </a:r>
                    </a:p>
                  </a:txBody>
                  <a:tcPr anchor="ctr"/>
                </a:tc>
                <a:tc>
                  <a:txBody>
                    <a:bodyPr/>
                    <a:lstStyle/>
                    <a:p>
                      <a:r>
                        <a:rPr lang="zh-TW" altLang="en-US" sz="1000" b="0" dirty="0">
                          <a:solidFill>
                            <a:srgbClr val="FF0000"/>
                          </a:solidFill>
                          <a:latin typeface="メイリオ" panose="020B0604030504040204" pitchFamily="50" charset="-128"/>
                          <a:ea typeface="メイリオ" panose="020B0604030504040204" pitchFamily="50" charset="-128"/>
                        </a:rPr>
                        <a:t>大</a:t>
                      </a:r>
                      <a:r>
                        <a:rPr lang="ja-JP" altLang="en-US" sz="1000" b="0" dirty="0">
                          <a:solidFill>
                            <a:srgbClr val="FF0000"/>
                          </a:solidFill>
                          <a:latin typeface="メイリオ" panose="020B0604030504040204" pitchFamily="50" charset="-128"/>
                          <a:ea typeface="メイリオ" panose="020B0604030504040204" pitchFamily="50" charset="-128"/>
                        </a:rPr>
                        <a:t>殿筋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中</a:t>
                      </a:r>
                      <a:r>
                        <a:rPr lang="ja-JP" altLang="en-US" sz="1000" b="0" dirty="0">
                          <a:solidFill>
                            <a:srgbClr val="FF0000"/>
                          </a:solidFill>
                          <a:latin typeface="メイリオ" panose="020B0604030504040204" pitchFamily="50" charset="-128"/>
                          <a:ea typeface="メイリオ" panose="020B0604030504040204" pitchFamily="50" charset="-128"/>
                        </a:rPr>
                        <a:t>殿筋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小殿筋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zh-TW" altLang="en-US" sz="900" b="0" dirty="0">
                          <a:solidFill>
                            <a:srgbClr val="FF0000"/>
                          </a:solidFill>
                          <a:latin typeface="メイリオ" panose="020B0604030504040204" pitchFamily="50" charset="-128"/>
                          <a:ea typeface="メイリオ" panose="020B0604030504040204" pitchFamily="50" charset="-128"/>
                        </a:rPr>
                        <a:t>大腿筋膜張筋</a:t>
                      </a:r>
                    </a:p>
                  </a:txBody>
                  <a:tcPr anchor="ctr"/>
                </a:tc>
                <a:extLst>
                  <a:ext uri="{0D108BD9-81ED-4DB2-BD59-A6C34878D82A}">
                    <a16:rowId xmlns:a16="http://schemas.microsoft.com/office/drawing/2014/main" val="2017471924"/>
                  </a:ext>
                </a:extLst>
              </a:tr>
            </a:tbl>
          </a:graphicData>
        </a:graphic>
      </p:graphicFrame>
      <p:sp>
        <p:nvSpPr>
          <p:cNvPr id="123" name="テキスト ボックス 122">
            <a:extLst>
              <a:ext uri="{FF2B5EF4-FFF2-40B4-BE49-F238E27FC236}">
                <a16:creationId xmlns:a16="http://schemas.microsoft.com/office/drawing/2014/main" id="{C3131E5D-D300-4C7F-A8F5-FD17ED166BCF}"/>
              </a:ext>
            </a:extLst>
          </p:cNvPr>
          <p:cNvSpPr txBox="1"/>
          <p:nvPr/>
        </p:nvSpPr>
        <p:spPr>
          <a:xfrm>
            <a:off x="8617472" y="5540927"/>
            <a:ext cx="2750900"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機能：股関節伸展・外転、片脚立ちの安定</a:t>
            </a:r>
          </a:p>
        </p:txBody>
      </p:sp>
      <p:sp>
        <p:nvSpPr>
          <p:cNvPr id="124" name="テキスト ボックス 123">
            <a:extLst>
              <a:ext uri="{FF2B5EF4-FFF2-40B4-BE49-F238E27FC236}">
                <a16:creationId xmlns:a16="http://schemas.microsoft.com/office/drawing/2014/main" id="{2652295C-4350-4B47-B1DE-04E46665ECC0}"/>
              </a:ext>
            </a:extLst>
          </p:cNvPr>
          <p:cNvSpPr txBox="1"/>
          <p:nvPr/>
        </p:nvSpPr>
        <p:spPr>
          <a:xfrm>
            <a:off x="8625222" y="572708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25" name="テキスト ボックス 124">
            <a:extLst>
              <a:ext uri="{FF2B5EF4-FFF2-40B4-BE49-F238E27FC236}">
                <a16:creationId xmlns:a16="http://schemas.microsoft.com/office/drawing/2014/main" id="{ABD3DD20-D61E-4DF2-8C81-2B028DD8FCEB}"/>
              </a:ext>
            </a:extLst>
          </p:cNvPr>
          <p:cNvSpPr txBox="1"/>
          <p:nvPr/>
        </p:nvSpPr>
        <p:spPr>
          <a:xfrm>
            <a:off x="9484589" y="5722682"/>
            <a:ext cx="1016665" cy="253916"/>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sp>
        <p:nvSpPr>
          <p:cNvPr id="127" name="テキスト ボックス 126">
            <a:extLst>
              <a:ext uri="{FF2B5EF4-FFF2-40B4-BE49-F238E27FC236}">
                <a16:creationId xmlns:a16="http://schemas.microsoft.com/office/drawing/2014/main" id="{AEE0A6EF-B964-4841-817C-78F1185577FC}"/>
              </a:ext>
            </a:extLst>
          </p:cNvPr>
          <p:cNvSpPr txBox="1"/>
          <p:nvPr/>
        </p:nvSpPr>
        <p:spPr>
          <a:xfrm>
            <a:off x="8610750" y="6837610"/>
            <a:ext cx="2817349"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機能：股関節伸展・外転、片脚立ちの安定</a:t>
            </a:r>
          </a:p>
        </p:txBody>
      </p:sp>
      <p:graphicFrame>
        <p:nvGraphicFramePr>
          <p:cNvPr id="128" name="表 127">
            <a:extLst>
              <a:ext uri="{FF2B5EF4-FFF2-40B4-BE49-F238E27FC236}">
                <a16:creationId xmlns:a16="http://schemas.microsoft.com/office/drawing/2014/main" id="{5F50E49A-3B13-4BD7-8A1D-A8CF925E913F}"/>
              </a:ext>
            </a:extLst>
          </p:cNvPr>
          <p:cNvGraphicFramePr>
            <a:graphicFrameLocks noGrp="1"/>
          </p:cNvGraphicFramePr>
          <p:nvPr>
            <p:extLst>
              <p:ext uri="{D42A27DB-BD31-4B8C-83A1-F6EECF244321}">
                <p14:modId xmlns:p14="http://schemas.microsoft.com/office/powerpoint/2010/main" val="473421947"/>
              </p:ext>
            </p:extLst>
          </p:nvPr>
        </p:nvGraphicFramePr>
        <p:xfrm>
          <a:off x="8713040" y="6106929"/>
          <a:ext cx="1231941" cy="704116"/>
        </p:xfrm>
        <a:graphic>
          <a:graphicData uri="http://schemas.openxmlformats.org/drawingml/2006/table">
            <a:tbl>
              <a:tblPr firstRow="1" bandRow="1">
                <a:tableStyleId>{8799B23B-EC83-4686-B30A-512413B5E67A}</a:tableStyleId>
              </a:tblPr>
              <a:tblGrid>
                <a:gridCol w="290478">
                  <a:extLst>
                    <a:ext uri="{9D8B030D-6E8A-4147-A177-3AD203B41FA5}">
                      <a16:colId xmlns:a16="http://schemas.microsoft.com/office/drawing/2014/main" val="1039484250"/>
                    </a:ext>
                  </a:extLst>
                </a:gridCol>
                <a:gridCol w="941463">
                  <a:extLst>
                    <a:ext uri="{9D8B030D-6E8A-4147-A177-3AD203B41FA5}">
                      <a16:colId xmlns:a16="http://schemas.microsoft.com/office/drawing/2014/main" val="2116401510"/>
                    </a:ext>
                  </a:extLst>
                </a:gridCol>
              </a:tblGrid>
              <a:tr h="7041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もも裏</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大腿二頭筋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半腱様筋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半膜様筋</a:t>
                      </a:r>
                    </a:p>
                  </a:txBody>
                  <a:tcPr anchor="ctr"/>
                </a:tc>
                <a:extLst>
                  <a:ext uri="{0D108BD9-81ED-4DB2-BD59-A6C34878D82A}">
                    <a16:rowId xmlns:a16="http://schemas.microsoft.com/office/drawing/2014/main" val="2785691566"/>
                  </a:ext>
                </a:extLst>
              </a:tr>
            </a:tbl>
          </a:graphicData>
        </a:graphic>
      </p:graphicFrame>
      <p:sp>
        <p:nvSpPr>
          <p:cNvPr id="129" name="テキスト ボックス 128">
            <a:extLst>
              <a:ext uri="{FF2B5EF4-FFF2-40B4-BE49-F238E27FC236}">
                <a16:creationId xmlns:a16="http://schemas.microsoft.com/office/drawing/2014/main" id="{5BECC6F9-6D5F-4894-9802-74A0BEC0C999}"/>
              </a:ext>
            </a:extLst>
          </p:cNvPr>
          <p:cNvSpPr txBox="1"/>
          <p:nvPr/>
        </p:nvSpPr>
        <p:spPr>
          <a:xfrm>
            <a:off x="8610750" y="704050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0" name="テキスト ボックス 129">
            <a:extLst>
              <a:ext uri="{FF2B5EF4-FFF2-40B4-BE49-F238E27FC236}">
                <a16:creationId xmlns:a16="http://schemas.microsoft.com/office/drawing/2014/main" id="{17118606-909F-4BF6-835B-FBE4086FD6CD}"/>
              </a:ext>
            </a:extLst>
          </p:cNvPr>
          <p:cNvSpPr txBox="1"/>
          <p:nvPr/>
        </p:nvSpPr>
        <p:spPr>
          <a:xfrm>
            <a:off x="9458407" y="7030359"/>
            <a:ext cx="1391017" cy="253916"/>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graphicFrame>
        <p:nvGraphicFramePr>
          <p:cNvPr id="131" name="表 130">
            <a:extLst>
              <a:ext uri="{FF2B5EF4-FFF2-40B4-BE49-F238E27FC236}">
                <a16:creationId xmlns:a16="http://schemas.microsoft.com/office/drawing/2014/main" id="{1F8AD5EE-AF40-449B-A81A-71DB6A8F69B0}"/>
              </a:ext>
            </a:extLst>
          </p:cNvPr>
          <p:cNvGraphicFramePr>
            <a:graphicFrameLocks noGrp="1"/>
          </p:cNvGraphicFramePr>
          <p:nvPr>
            <p:extLst>
              <p:ext uri="{D42A27DB-BD31-4B8C-83A1-F6EECF244321}">
                <p14:modId xmlns:p14="http://schemas.microsoft.com/office/powerpoint/2010/main" val="1897823484"/>
              </p:ext>
            </p:extLst>
          </p:nvPr>
        </p:nvGraphicFramePr>
        <p:xfrm>
          <a:off x="8677655" y="7515088"/>
          <a:ext cx="1222938" cy="594360"/>
        </p:xfrm>
        <a:graphic>
          <a:graphicData uri="http://schemas.openxmlformats.org/drawingml/2006/table">
            <a:tbl>
              <a:tblPr firstRow="1" bandRow="1">
                <a:tableStyleId>{8799B23B-EC83-4686-B30A-512413B5E67A}</a:tableStyleId>
              </a:tblPr>
              <a:tblGrid>
                <a:gridCol w="340601">
                  <a:extLst>
                    <a:ext uri="{9D8B030D-6E8A-4147-A177-3AD203B41FA5}">
                      <a16:colId xmlns:a16="http://schemas.microsoft.com/office/drawing/2014/main" val="4203512896"/>
                    </a:ext>
                  </a:extLst>
                </a:gridCol>
                <a:gridCol w="882337">
                  <a:extLst>
                    <a:ext uri="{9D8B030D-6E8A-4147-A177-3AD203B41FA5}">
                      <a16:colId xmlns:a16="http://schemas.microsoft.com/office/drawing/2014/main" val="3556321484"/>
                    </a:ext>
                  </a:extLst>
                </a:gridCol>
              </a:tblGrid>
              <a:tr h="57435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すね裏</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後方浅層</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後方深層</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050180509"/>
                  </a:ext>
                </a:extLst>
              </a:tr>
            </a:tbl>
          </a:graphicData>
        </a:graphic>
      </p:graphicFrame>
      <p:sp>
        <p:nvSpPr>
          <p:cNvPr id="132" name="テキスト ボックス 131">
            <a:extLst>
              <a:ext uri="{FF2B5EF4-FFF2-40B4-BE49-F238E27FC236}">
                <a16:creationId xmlns:a16="http://schemas.microsoft.com/office/drawing/2014/main" id="{BD0A5A8D-919E-48CD-A556-0F05FB099473}"/>
              </a:ext>
            </a:extLst>
          </p:cNvPr>
          <p:cNvSpPr txBox="1"/>
          <p:nvPr/>
        </p:nvSpPr>
        <p:spPr>
          <a:xfrm>
            <a:off x="8587694" y="8119880"/>
            <a:ext cx="2585865"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a:t>
            </a:r>
            <a:r>
              <a:rPr lang="zh-TW" altLang="en-US" sz="1050" b="1" dirty="0">
                <a:latin typeface="メイリオ" panose="020B0604030504040204" pitchFamily="50" charset="-128"/>
                <a:ea typeface="メイリオ" panose="020B0604030504040204" pitchFamily="50" charset="-128"/>
              </a:rPr>
              <a:t>足関節底屈、歩行推進、立位保持</a:t>
            </a:r>
          </a:p>
        </p:txBody>
      </p:sp>
      <p:sp>
        <p:nvSpPr>
          <p:cNvPr id="133" name="テキスト ボックス 132">
            <a:extLst>
              <a:ext uri="{FF2B5EF4-FFF2-40B4-BE49-F238E27FC236}">
                <a16:creationId xmlns:a16="http://schemas.microsoft.com/office/drawing/2014/main" id="{F84304FD-3742-469B-91CB-B8C9A62469ED}"/>
              </a:ext>
            </a:extLst>
          </p:cNvPr>
          <p:cNvSpPr txBox="1"/>
          <p:nvPr/>
        </p:nvSpPr>
        <p:spPr>
          <a:xfrm>
            <a:off x="8610749" y="8284156"/>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4" name="テキスト ボックス 133">
            <a:extLst>
              <a:ext uri="{FF2B5EF4-FFF2-40B4-BE49-F238E27FC236}">
                <a16:creationId xmlns:a16="http://schemas.microsoft.com/office/drawing/2014/main" id="{EB16ADE7-F2B2-4C52-AF4E-6C049B96E929}"/>
              </a:ext>
            </a:extLst>
          </p:cNvPr>
          <p:cNvSpPr txBox="1"/>
          <p:nvPr/>
        </p:nvSpPr>
        <p:spPr>
          <a:xfrm>
            <a:off x="9589881" y="8284156"/>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graphicFrame>
        <p:nvGraphicFramePr>
          <p:cNvPr id="135" name="表 134">
            <a:extLst>
              <a:ext uri="{FF2B5EF4-FFF2-40B4-BE49-F238E27FC236}">
                <a16:creationId xmlns:a16="http://schemas.microsoft.com/office/drawing/2014/main" id="{A703163F-93C7-468E-8AD8-3BB108BAB493}"/>
              </a:ext>
            </a:extLst>
          </p:cNvPr>
          <p:cNvGraphicFramePr>
            <a:graphicFrameLocks noGrp="1"/>
          </p:cNvGraphicFramePr>
          <p:nvPr/>
        </p:nvGraphicFramePr>
        <p:xfrm>
          <a:off x="4433877" y="7590509"/>
          <a:ext cx="1110797" cy="701040"/>
        </p:xfrm>
        <a:graphic>
          <a:graphicData uri="http://schemas.openxmlformats.org/drawingml/2006/table">
            <a:tbl>
              <a:tblPr firstRow="1" bandRow="1">
                <a:tableStyleId>{8799B23B-EC83-4686-B30A-512413B5E67A}</a:tableStyleId>
              </a:tblPr>
              <a:tblGrid>
                <a:gridCol w="277571">
                  <a:extLst>
                    <a:ext uri="{9D8B030D-6E8A-4147-A177-3AD203B41FA5}">
                      <a16:colId xmlns:a16="http://schemas.microsoft.com/office/drawing/2014/main" val="4158246356"/>
                    </a:ext>
                  </a:extLst>
                </a:gridCol>
                <a:gridCol w="833226">
                  <a:extLst>
                    <a:ext uri="{9D8B030D-6E8A-4147-A177-3AD203B41FA5}">
                      <a16:colId xmlns:a16="http://schemas.microsoft.com/office/drawing/2014/main" val="1856257267"/>
                    </a:ext>
                  </a:extLst>
                </a:gridCol>
              </a:tblGrid>
              <a:tr h="685800">
                <a:tc>
                  <a:txBody>
                    <a:bodyPr/>
                    <a:lstStyle/>
                    <a:p>
                      <a:r>
                        <a:rPr lang="ja-JP" altLang="en-US" sz="900" dirty="0">
                          <a:latin typeface="メイリオ" panose="020B0604030504040204" pitchFamily="50" charset="-128"/>
                          <a:ea typeface="メイリオ" panose="020B0604030504040204" pitchFamily="50" charset="-128"/>
                        </a:rPr>
                        <a:t>お</a:t>
                      </a:r>
                      <a:r>
                        <a:rPr lang="ja-JP" altLang="en-US" sz="1100" dirty="0">
                          <a:latin typeface="メイリオ" panose="020B0604030504040204" pitchFamily="50" charset="-128"/>
                          <a:ea typeface="メイリオ" panose="020B0604030504040204" pitchFamily="50" charset="-128"/>
                        </a:rPr>
                        <a:t>尻</a:t>
                      </a:r>
                      <a:r>
                        <a:rPr lang="ja-JP" altLang="en-US" sz="900" dirty="0">
                          <a:latin typeface="メイリオ" panose="020B0604030504040204" pitchFamily="50" charset="-128"/>
                          <a:ea typeface="メイリオ" panose="020B0604030504040204" pitchFamily="50" charset="-128"/>
                        </a:rPr>
                        <a:t>の</a:t>
                      </a:r>
                      <a:endParaRPr lang="en-US" altLang="ja-JP" sz="900"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奥</a:t>
                      </a:r>
                    </a:p>
                  </a:txBody>
                  <a:tcPr anchor="ctr"/>
                </a:tc>
                <a:tc>
                  <a:txBody>
                    <a:bodyPr/>
                    <a:lstStyle/>
                    <a:p>
                      <a:r>
                        <a:rPr lang="zh-TW" altLang="en-US" sz="1000" b="0" dirty="0">
                          <a:solidFill>
                            <a:srgbClr val="FF0000"/>
                          </a:solidFill>
                          <a:latin typeface="メイリオ" panose="020B0604030504040204" pitchFamily="50" charset="-128"/>
                          <a:ea typeface="メイリオ" panose="020B0604030504040204" pitchFamily="50" charset="-128"/>
                        </a:rPr>
                        <a:t>内</a:t>
                      </a:r>
                      <a:r>
                        <a:rPr lang="ja-JP" altLang="en-US" sz="1000" b="0" dirty="0">
                          <a:solidFill>
                            <a:srgbClr val="FF0000"/>
                          </a:solidFill>
                          <a:latin typeface="メイリオ" panose="020B0604030504040204" pitchFamily="50" charset="-128"/>
                          <a:ea typeface="メイリオ" panose="020B0604030504040204" pitchFamily="50" charset="-128"/>
                        </a:rPr>
                        <a:t>閉鎖筋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外閉鎖筋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梨状筋</a:t>
                      </a:r>
                      <a:endParaRPr lang="en-US" altLang="zh-TW"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759646536"/>
                  </a:ext>
                </a:extLst>
              </a:tr>
            </a:tbl>
          </a:graphicData>
        </a:graphic>
      </p:graphicFrame>
      <p:sp>
        <p:nvSpPr>
          <p:cNvPr id="136" name="テキスト ボックス 135">
            <a:extLst>
              <a:ext uri="{FF2B5EF4-FFF2-40B4-BE49-F238E27FC236}">
                <a16:creationId xmlns:a16="http://schemas.microsoft.com/office/drawing/2014/main" id="{AC73C995-1123-4BD2-85C2-81166EA5E0A4}"/>
              </a:ext>
            </a:extLst>
          </p:cNvPr>
          <p:cNvSpPr txBox="1"/>
          <p:nvPr/>
        </p:nvSpPr>
        <p:spPr>
          <a:xfrm>
            <a:off x="4338124" y="8305097"/>
            <a:ext cx="3139027"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機能：股関節深部安定、方向転換、転倒時の安定</a:t>
            </a:r>
          </a:p>
        </p:txBody>
      </p:sp>
      <p:sp>
        <p:nvSpPr>
          <p:cNvPr id="137" name="テキスト ボックス 136">
            <a:extLst>
              <a:ext uri="{FF2B5EF4-FFF2-40B4-BE49-F238E27FC236}">
                <a16:creationId xmlns:a16="http://schemas.microsoft.com/office/drawing/2014/main" id="{042978E4-7AD0-41D4-A790-C926DC226F18}"/>
              </a:ext>
            </a:extLst>
          </p:cNvPr>
          <p:cNvSpPr txBox="1"/>
          <p:nvPr/>
        </p:nvSpPr>
        <p:spPr>
          <a:xfrm>
            <a:off x="4347828" y="8490392"/>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8" name="テキスト ボックス 137">
            <a:extLst>
              <a:ext uri="{FF2B5EF4-FFF2-40B4-BE49-F238E27FC236}">
                <a16:creationId xmlns:a16="http://schemas.microsoft.com/office/drawing/2014/main" id="{4EC064C6-3494-44B7-8780-3A5883FEFDE3}"/>
              </a:ext>
            </a:extLst>
          </p:cNvPr>
          <p:cNvSpPr txBox="1"/>
          <p:nvPr/>
        </p:nvSpPr>
        <p:spPr>
          <a:xfrm>
            <a:off x="5326558" y="8490392"/>
            <a:ext cx="1657331"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graphicFrame>
        <p:nvGraphicFramePr>
          <p:cNvPr id="143" name="表 142">
            <a:extLst>
              <a:ext uri="{FF2B5EF4-FFF2-40B4-BE49-F238E27FC236}">
                <a16:creationId xmlns:a16="http://schemas.microsoft.com/office/drawing/2014/main" id="{31F4B866-EF81-4EAE-AC50-7E315E1ED44E}"/>
              </a:ext>
            </a:extLst>
          </p:cNvPr>
          <p:cNvGraphicFramePr>
            <a:graphicFrameLocks noGrp="1"/>
          </p:cNvGraphicFramePr>
          <p:nvPr/>
        </p:nvGraphicFramePr>
        <p:xfrm>
          <a:off x="4347828" y="2744884"/>
          <a:ext cx="1235417" cy="618389"/>
        </p:xfrm>
        <a:graphic>
          <a:graphicData uri="http://schemas.openxmlformats.org/drawingml/2006/table">
            <a:tbl>
              <a:tblPr firstRow="1" bandRow="1">
                <a:tableStyleId>{8799B23B-EC83-4686-B30A-512413B5E67A}</a:tableStyleId>
              </a:tblPr>
              <a:tblGrid>
                <a:gridCol w="372586">
                  <a:extLst>
                    <a:ext uri="{9D8B030D-6E8A-4147-A177-3AD203B41FA5}">
                      <a16:colId xmlns:a16="http://schemas.microsoft.com/office/drawing/2014/main" val="3601844147"/>
                    </a:ext>
                  </a:extLst>
                </a:gridCol>
                <a:gridCol w="862831">
                  <a:extLst>
                    <a:ext uri="{9D8B030D-6E8A-4147-A177-3AD203B41FA5}">
                      <a16:colId xmlns:a16="http://schemas.microsoft.com/office/drawing/2014/main" val="2066940135"/>
                    </a:ext>
                  </a:extLst>
                </a:gridCol>
              </a:tblGrid>
              <a:tr h="618389">
                <a:tc>
                  <a:txBody>
                    <a:bodyPr/>
                    <a:lstStyle/>
                    <a:p>
                      <a:r>
                        <a:rPr lang="ja-JP" altLang="en-US" sz="1100" dirty="0">
                          <a:latin typeface="メイリオ" panose="020B0604030504040204" pitchFamily="50" charset="-128"/>
                          <a:ea typeface="メイリオ" panose="020B0604030504040204" pitchFamily="50" charset="-128"/>
                        </a:rPr>
                        <a:t>腰</a:t>
                      </a:r>
                      <a:r>
                        <a:rPr lang="ja-JP" altLang="en-US" sz="900" dirty="0">
                          <a:latin typeface="メイリオ" panose="020B0604030504040204" pitchFamily="50" charset="-128"/>
                          <a:ea typeface="メイリオ" panose="020B0604030504040204" pitchFamily="50" charset="-128"/>
                        </a:rPr>
                        <a:t>の</a:t>
                      </a:r>
                      <a:endParaRPr lang="en-US" altLang="ja-JP" sz="900"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奥</a:t>
                      </a:r>
                      <a:endParaRPr lang="en-US" altLang="ja-JP" sz="1100" dirty="0">
                        <a:latin typeface="メイリオ" panose="020B0604030504040204" pitchFamily="50" charset="-128"/>
                        <a:ea typeface="メイリオ" panose="020B0604030504040204" pitchFamily="50" charset="-128"/>
                      </a:endParaRP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大腰筋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腸骨筋</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腰方形筋</a:t>
                      </a:r>
                    </a:p>
                  </a:txBody>
                  <a:tcPr anchor="ctr"/>
                </a:tc>
                <a:extLst>
                  <a:ext uri="{0D108BD9-81ED-4DB2-BD59-A6C34878D82A}">
                    <a16:rowId xmlns:a16="http://schemas.microsoft.com/office/drawing/2014/main" val="4135673603"/>
                  </a:ext>
                </a:extLst>
              </a:tr>
            </a:tbl>
          </a:graphicData>
        </a:graphic>
      </p:graphicFrame>
      <p:sp>
        <p:nvSpPr>
          <p:cNvPr id="144" name="テキスト ボックス 143">
            <a:extLst>
              <a:ext uri="{FF2B5EF4-FFF2-40B4-BE49-F238E27FC236}">
                <a16:creationId xmlns:a16="http://schemas.microsoft.com/office/drawing/2014/main" id="{2EB1AD42-1380-44A4-A43F-D2FE6B14FF1B}"/>
              </a:ext>
            </a:extLst>
          </p:cNvPr>
          <p:cNvSpPr txBox="1"/>
          <p:nvPr/>
        </p:nvSpPr>
        <p:spPr>
          <a:xfrm>
            <a:off x="4269575" y="3393253"/>
            <a:ext cx="3093118" cy="246221"/>
          </a:xfrm>
          <a:prstGeom prst="rect">
            <a:avLst/>
          </a:prstGeom>
          <a:noFill/>
        </p:spPr>
        <p:txBody>
          <a:bodyPr wrap="square">
            <a:spAutoFit/>
          </a:bodyPr>
          <a:lstStyle/>
          <a:p>
            <a:r>
              <a:rPr lang="ja-JP" altLang="en-US" sz="1000" b="1" dirty="0">
                <a:latin typeface="メイリオ" panose="020B0604030504040204" pitchFamily="50" charset="-128"/>
                <a:ea typeface="メイリオ" panose="020B0604030504040204" pitchFamily="50" charset="-128"/>
              </a:rPr>
              <a:t>機能：股関節屈曲、体幹と下肢の連動、歩行安定</a:t>
            </a:r>
          </a:p>
        </p:txBody>
      </p:sp>
      <p:sp>
        <p:nvSpPr>
          <p:cNvPr id="145" name="テキスト ボックス 144">
            <a:extLst>
              <a:ext uri="{FF2B5EF4-FFF2-40B4-BE49-F238E27FC236}">
                <a16:creationId xmlns:a16="http://schemas.microsoft.com/office/drawing/2014/main" id="{9C9AAE7C-F37D-4D55-892B-047FB5840798}"/>
              </a:ext>
            </a:extLst>
          </p:cNvPr>
          <p:cNvSpPr txBox="1"/>
          <p:nvPr/>
        </p:nvSpPr>
        <p:spPr>
          <a:xfrm>
            <a:off x="5414854" y="356543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46" name="テキスト ボックス 145">
            <a:extLst>
              <a:ext uri="{FF2B5EF4-FFF2-40B4-BE49-F238E27FC236}">
                <a16:creationId xmlns:a16="http://schemas.microsoft.com/office/drawing/2014/main" id="{5ED6CBA6-A8DF-4A30-8AA8-CAE6319F4A6D}"/>
              </a:ext>
            </a:extLst>
          </p:cNvPr>
          <p:cNvSpPr txBox="1"/>
          <p:nvPr/>
        </p:nvSpPr>
        <p:spPr>
          <a:xfrm>
            <a:off x="4254294" y="3574384"/>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pic>
        <p:nvPicPr>
          <p:cNvPr id="139" name="図 138">
            <a:extLst>
              <a:ext uri="{FF2B5EF4-FFF2-40B4-BE49-F238E27FC236}">
                <a16:creationId xmlns:a16="http://schemas.microsoft.com/office/drawing/2014/main" id="{FE726BCD-86A7-4A34-9D26-DCBE09CFE7D8}"/>
              </a:ext>
            </a:extLst>
          </p:cNvPr>
          <p:cNvPicPr>
            <a:picLocks noChangeAspect="1"/>
          </p:cNvPicPr>
          <p:nvPr/>
        </p:nvPicPr>
        <p:blipFill>
          <a:blip r:embed="rId3"/>
          <a:stretch>
            <a:fillRect/>
          </a:stretch>
        </p:blipFill>
        <p:spPr>
          <a:xfrm>
            <a:off x="12112538" y="8908943"/>
            <a:ext cx="689062" cy="693076"/>
          </a:xfrm>
          <a:prstGeom prst="rect">
            <a:avLst/>
          </a:prstGeom>
        </p:spPr>
      </p:pic>
      <p:sp>
        <p:nvSpPr>
          <p:cNvPr id="3" name="IMG: 24">
            <a:extLst>
              <a:ext uri="{FF2B5EF4-FFF2-40B4-BE49-F238E27FC236}">
                <a16:creationId xmlns:a16="http://schemas.microsoft.com/office/drawing/2014/main" id="{32D35518-2524-32E9-5794-3D379F2E5D0A}"/>
              </a:ext>
            </a:extLst>
          </p:cNvPr>
          <p:cNvSpPr/>
          <p:nvPr/>
        </p:nvSpPr>
        <p:spPr>
          <a:xfrm>
            <a:off x="11747803" y="7419131"/>
            <a:ext cx="982615" cy="10787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IMG: 23">
            <a:extLst>
              <a:ext uri="{FF2B5EF4-FFF2-40B4-BE49-F238E27FC236}">
                <a16:creationId xmlns:a16="http://schemas.microsoft.com/office/drawing/2014/main" id="{78DA7E59-D1EB-9D21-47B8-C775D1F9CC26}"/>
              </a:ext>
            </a:extLst>
          </p:cNvPr>
          <p:cNvSpPr/>
          <p:nvPr/>
        </p:nvSpPr>
        <p:spPr>
          <a:xfrm>
            <a:off x="11747804" y="6096274"/>
            <a:ext cx="977140" cy="1148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IMG: 22">
            <a:extLst>
              <a:ext uri="{FF2B5EF4-FFF2-40B4-BE49-F238E27FC236}">
                <a16:creationId xmlns:a16="http://schemas.microsoft.com/office/drawing/2014/main" id="{B8D3D7FD-6509-CD0E-2E92-CA1C4ECD31B0}"/>
              </a:ext>
            </a:extLst>
          </p:cNvPr>
          <p:cNvSpPr/>
          <p:nvPr/>
        </p:nvSpPr>
        <p:spPr>
          <a:xfrm>
            <a:off x="11747803" y="4802901"/>
            <a:ext cx="982615" cy="11324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IMG: 21">
            <a:extLst>
              <a:ext uri="{FF2B5EF4-FFF2-40B4-BE49-F238E27FC236}">
                <a16:creationId xmlns:a16="http://schemas.microsoft.com/office/drawing/2014/main" id="{70B3A4C3-2DD5-8130-F000-700EFE49DB33}"/>
              </a:ext>
            </a:extLst>
          </p:cNvPr>
          <p:cNvSpPr/>
          <p:nvPr/>
        </p:nvSpPr>
        <p:spPr>
          <a:xfrm>
            <a:off x="11747804" y="2869135"/>
            <a:ext cx="950976" cy="18561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IMG: 20">
            <a:extLst>
              <a:ext uri="{FF2B5EF4-FFF2-40B4-BE49-F238E27FC236}">
                <a16:creationId xmlns:a16="http://schemas.microsoft.com/office/drawing/2014/main" id="{5348529C-924E-CD3A-6252-8BAB98D337BD}"/>
              </a:ext>
            </a:extLst>
          </p:cNvPr>
          <p:cNvSpPr/>
          <p:nvPr/>
        </p:nvSpPr>
        <p:spPr>
          <a:xfrm>
            <a:off x="7330860" y="7569051"/>
            <a:ext cx="1162984" cy="1120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IMG: 19">
            <a:extLst>
              <a:ext uri="{FF2B5EF4-FFF2-40B4-BE49-F238E27FC236}">
                <a16:creationId xmlns:a16="http://schemas.microsoft.com/office/drawing/2014/main" id="{829AAC41-B2B7-3D4E-A82F-4319F4F21D19}"/>
              </a:ext>
            </a:extLst>
          </p:cNvPr>
          <p:cNvSpPr/>
          <p:nvPr/>
        </p:nvSpPr>
        <p:spPr>
          <a:xfrm>
            <a:off x="7330859" y="2702934"/>
            <a:ext cx="1150324" cy="10654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IMG: 18">
            <a:extLst>
              <a:ext uri="{FF2B5EF4-FFF2-40B4-BE49-F238E27FC236}">
                <a16:creationId xmlns:a16="http://schemas.microsoft.com/office/drawing/2014/main" id="{6444FC9C-E21D-1C7F-0DDB-B5DBA338FEA4}"/>
              </a:ext>
            </a:extLst>
          </p:cNvPr>
          <p:cNvSpPr/>
          <p:nvPr/>
        </p:nvSpPr>
        <p:spPr>
          <a:xfrm>
            <a:off x="48771" y="7305899"/>
            <a:ext cx="950976" cy="10725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IMG: 17">
            <a:extLst>
              <a:ext uri="{FF2B5EF4-FFF2-40B4-BE49-F238E27FC236}">
                <a16:creationId xmlns:a16="http://schemas.microsoft.com/office/drawing/2014/main" id="{2427C8DD-E286-8D05-D355-C69449436953}"/>
              </a:ext>
            </a:extLst>
          </p:cNvPr>
          <p:cNvSpPr/>
          <p:nvPr/>
        </p:nvSpPr>
        <p:spPr>
          <a:xfrm>
            <a:off x="58931" y="6116505"/>
            <a:ext cx="950976" cy="10546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IMG: 16">
            <a:extLst>
              <a:ext uri="{FF2B5EF4-FFF2-40B4-BE49-F238E27FC236}">
                <a16:creationId xmlns:a16="http://schemas.microsoft.com/office/drawing/2014/main" id="{37422BEC-29A9-46CE-09AD-51084B6F53AF}"/>
              </a:ext>
            </a:extLst>
          </p:cNvPr>
          <p:cNvSpPr/>
          <p:nvPr/>
        </p:nvSpPr>
        <p:spPr>
          <a:xfrm>
            <a:off x="58931" y="4716898"/>
            <a:ext cx="950976" cy="12235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IMG: 15">
            <a:extLst>
              <a:ext uri="{FF2B5EF4-FFF2-40B4-BE49-F238E27FC236}">
                <a16:creationId xmlns:a16="http://schemas.microsoft.com/office/drawing/2014/main" id="{5F4B3B4C-F8E7-8450-A692-102D48881F86}"/>
              </a:ext>
            </a:extLst>
          </p:cNvPr>
          <p:cNvSpPr/>
          <p:nvPr/>
        </p:nvSpPr>
        <p:spPr>
          <a:xfrm>
            <a:off x="58045" y="2858875"/>
            <a:ext cx="952749" cy="1744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IMG: 14">
            <a:extLst>
              <a:ext uri="{FF2B5EF4-FFF2-40B4-BE49-F238E27FC236}">
                <a16:creationId xmlns:a16="http://schemas.microsoft.com/office/drawing/2014/main" id="{38A6687C-37DE-2F87-0A0D-0E959F08FE23}"/>
              </a:ext>
            </a:extLst>
          </p:cNvPr>
          <p:cNvSpPr/>
          <p:nvPr/>
        </p:nvSpPr>
        <p:spPr>
          <a:xfrm>
            <a:off x="5999977" y="5806898"/>
            <a:ext cx="850392"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15" name="IMG: 13">
            <a:extLst>
              <a:ext uri="{FF2B5EF4-FFF2-40B4-BE49-F238E27FC236}">
                <a16:creationId xmlns:a16="http://schemas.microsoft.com/office/drawing/2014/main" id="{639FE9BC-5341-E195-801A-3DC1537D65FA}"/>
              </a:ext>
            </a:extLst>
          </p:cNvPr>
          <p:cNvSpPr/>
          <p:nvPr/>
        </p:nvSpPr>
        <p:spPr>
          <a:xfrm>
            <a:off x="5999069" y="4799799"/>
            <a:ext cx="852209"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16" name="IMG: 12">
            <a:extLst>
              <a:ext uri="{FF2B5EF4-FFF2-40B4-BE49-F238E27FC236}">
                <a16:creationId xmlns:a16="http://schemas.microsoft.com/office/drawing/2014/main" id="{5588D27A-F346-5DFD-F260-2370FB9029C1}"/>
              </a:ext>
            </a:extLst>
          </p:cNvPr>
          <p:cNvSpPr/>
          <p:nvPr/>
        </p:nvSpPr>
        <p:spPr>
          <a:xfrm>
            <a:off x="6773443"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22" name="IMG: 11">
            <a:extLst>
              <a:ext uri="{FF2B5EF4-FFF2-40B4-BE49-F238E27FC236}">
                <a16:creationId xmlns:a16="http://schemas.microsoft.com/office/drawing/2014/main" id="{99C0D31E-34CA-1773-6E92-3F447222DD34}"/>
              </a:ext>
            </a:extLst>
          </p:cNvPr>
          <p:cNvSpPr/>
          <p:nvPr/>
        </p:nvSpPr>
        <p:spPr>
          <a:xfrm>
            <a:off x="4790567"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30" name="IMG: 10">
            <a:extLst>
              <a:ext uri="{FF2B5EF4-FFF2-40B4-BE49-F238E27FC236}">
                <a16:creationId xmlns:a16="http://schemas.microsoft.com/office/drawing/2014/main" id="{39E19F47-20EB-F42A-27E1-3E276C98FF1D}"/>
              </a:ext>
            </a:extLst>
          </p:cNvPr>
          <p:cNvSpPr/>
          <p:nvPr/>
        </p:nvSpPr>
        <p:spPr>
          <a:xfrm>
            <a:off x="9910563" y="7435660"/>
            <a:ext cx="1812374" cy="7008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IMG: 09">
            <a:extLst>
              <a:ext uri="{FF2B5EF4-FFF2-40B4-BE49-F238E27FC236}">
                <a16:creationId xmlns:a16="http://schemas.microsoft.com/office/drawing/2014/main" id="{097E7E4B-048A-2AD7-9846-5ACFD792DD88}"/>
              </a:ext>
            </a:extLst>
          </p:cNvPr>
          <p:cNvSpPr/>
          <p:nvPr/>
        </p:nvSpPr>
        <p:spPr>
          <a:xfrm>
            <a:off x="9965317" y="6105127"/>
            <a:ext cx="1768570" cy="7610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IMG: 08">
            <a:extLst>
              <a:ext uri="{FF2B5EF4-FFF2-40B4-BE49-F238E27FC236}">
                <a16:creationId xmlns:a16="http://schemas.microsoft.com/office/drawing/2014/main" id="{2968DF96-5070-2460-F838-825FDB52AB52}"/>
              </a:ext>
            </a:extLst>
          </p:cNvPr>
          <p:cNvSpPr/>
          <p:nvPr/>
        </p:nvSpPr>
        <p:spPr>
          <a:xfrm>
            <a:off x="9955200" y="4802100"/>
            <a:ext cx="1794828" cy="7506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IMG: 07">
            <a:extLst>
              <a:ext uri="{FF2B5EF4-FFF2-40B4-BE49-F238E27FC236}">
                <a16:creationId xmlns:a16="http://schemas.microsoft.com/office/drawing/2014/main" id="{ADCEB7F9-444A-1FC7-44B3-D28375E113C5}"/>
              </a:ext>
            </a:extLst>
          </p:cNvPr>
          <p:cNvSpPr/>
          <p:nvPr/>
        </p:nvSpPr>
        <p:spPr>
          <a:xfrm>
            <a:off x="9992361" y="2875670"/>
            <a:ext cx="1717972" cy="14738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IMG: 06">
            <a:extLst>
              <a:ext uri="{FF2B5EF4-FFF2-40B4-BE49-F238E27FC236}">
                <a16:creationId xmlns:a16="http://schemas.microsoft.com/office/drawing/2014/main" id="{721D6BB6-FAF0-4DBD-9CC2-AC0501D1E41B}"/>
              </a:ext>
            </a:extLst>
          </p:cNvPr>
          <p:cNvSpPr/>
          <p:nvPr/>
        </p:nvSpPr>
        <p:spPr>
          <a:xfrm>
            <a:off x="5577840" y="7580300"/>
            <a:ext cx="1735759" cy="7340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IMG: 05">
            <a:extLst>
              <a:ext uri="{FF2B5EF4-FFF2-40B4-BE49-F238E27FC236}">
                <a16:creationId xmlns:a16="http://schemas.microsoft.com/office/drawing/2014/main" id="{34B7778B-6D49-20CF-242E-669A4EB5353A}"/>
              </a:ext>
            </a:extLst>
          </p:cNvPr>
          <p:cNvSpPr/>
          <p:nvPr/>
        </p:nvSpPr>
        <p:spPr>
          <a:xfrm>
            <a:off x="5599621" y="2719404"/>
            <a:ext cx="1718577" cy="6640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IMG: 04">
            <a:extLst>
              <a:ext uri="{FF2B5EF4-FFF2-40B4-BE49-F238E27FC236}">
                <a16:creationId xmlns:a16="http://schemas.microsoft.com/office/drawing/2014/main" id="{921FE96D-E275-81CE-C131-CD7235235343}"/>
              </a:ext>
            </a:extLst>
          </p:cNvPr>
          <p:cNvSpPr/>
          <p:nvPr/>
        </p:nvSpPr>
        <p:spPr>
          <a:xfrm>
            <a:off x="2204288" y="7318572"/>
            <a:ext cx="2009396" cy="6824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IMG: 03">
            <a:extLst>
              <a:ext uri="{FF2B5EF4-FFF2-40B4-BE49-F238E27FC236}">
                <a16:creationId xmlns:a16="http://schemas.microsoft.com/office/drawing/2014/main" id="{32490722-0C63-2B92-5692-CED11B4AA83A}"/>
              </a:ext>
            </a:extLst>
          </p:cNvPr>
          <p:cNvSpPr/>
          <p:nvPr/>
        </p:nvSpPr>
        <p:spPr>
          <a:xfrm>
            <a:off x="2279386" y="6110265"/>
            <a:ext cx="1915713" cy="7214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IMG: 02">
            <a:extLst>
              <a:ext uri="{FF2B5EF4-FFF2-40B4-BE49-F238E27FC236}">
                <a16:creationId xmlns:a16="http://schemas.microsoft.com/office/drawing/2014/main" id="{9F36BC0E-6770-900D-BA9E-19D5D3593B8D}"/>
              </a:ext>
            </a:extLst>
          </p:cNvPr>
          <p:cNvSpPr/>
          <p:nvPr/>
        </p:nvSpPr>
        <p:spPr>
          <a:xfrm>
            <a:off x="2273735" y="4766597"/>
            <a:ext cx="1928572" cy="8299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9" name="IMG: 01">
            <a:extLst>
              <a:ext uri="{FF2B5EF4-FFF2-40B4-BE49-F238E27FC236}">
                <a16:creationId xmlns:a16="http://schemas.microsoft.com/office/drawing/2014/main" id="{5B7D6CA1-8E70-148E-F336-F770F81B0FAB}"/>
              </a:ext>
            </a:extLst>
          </p:cNvPr>
          <p:cNvSpPr/>
          <p:nvPr/>
        </p:nvSpPr>
        <p:spPr>
          <a:xfrm>
            <a:off x="2288696" y="2864784"/>
            <a:ext cx="1891911" cy="13872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120">
            <a:extLst>
              <a:ext uri="{FF2B5EF4-FFF2-40B4-BE49-F238E27FC236}">
                <a16:creationId xmlns:a16="http://schemas.microsoft.com/office/drawing/2014/main" id="{430B2F96-44C8-3F66-4639-4DF8877D2E8B}"/>
              </a:ext>
            </a:extLst>
          </p:cNvPr>
          <p:cNvSpPr txBox="1"/>
          <p:nvPr/>
        </p:nvSpPr>
        <p:spPr>
          <a:xfrm>
            <a:off x="9554274" y="4514772"/>
            <a:ext cx="2156058"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〇背骨疾患リスク </a:t>
            </a:r>
            <a:r>
              <a:rPr lang="en-US" altLang="ja-JP" sz="10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骨折</a:t>
            </a:r>
            <a:r>
              <a:rPr lang="en-US" altLang="ja-JP" sz="10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狭窄</a:t>
            </a:r>
            <a:r>
              <a:rPr lang="en-US" altLang="ja-JP" sz="1000" dirty="0">
                <a:latin typeface="メイリオ" panose="020B0604030504040204" pitchFamily="50" charset="-128"/>
                <a:ea typeface="メイリオ" panose="020B0604030504040204" pitchFamily="50" charset="-128"/>
              </a:rPr>
              <a:t>)</a:t>
            </a:r>
            <a:endParaRPr lang="ja-JP" altLang="en-US" sz="1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80576224"/>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3736</TotalTime>
  <Words>2355</Words>
  <Application>Microsoft Office PowerPoint</Application>
  <PresentationFormat>A3 Paper (297x420 mm)</PresentationFormat>
  <Paragraphs>120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メイリオ</vt:lpstr>
      <vt:lpstr>游ゴシック</vt:lpstr>
      <vt:lpstr>Arial</vt:lpstr>
      <vt:lpstr>Calibri</vt:lpstr>
      <vt:lpstr>Calibri Light</vt:lpstr>
      <vt:lpstr>Office テーマ</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Yoshinobu Sato</dc:creator>
  <cp:lastModifiedBy>Yi Gu</cp:lastModifiedBy>
  <cp:revision>191</cp:revision>
  <dcterms:created xsi:type="dcterms:W3CDTF">2025-09-16T03:39:11Z</dcterms:created>
  <dcterms:modified xsi:type="dcterms:W3CDTF">2025-12-16T12:10:47Z</dcterms:modified>
</cp:coreProperties>
</file>