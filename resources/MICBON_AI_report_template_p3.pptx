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7" r:id="rId2"/>
  </p:sldIdLst>
  <p:sldSz cx="12801600" cy="96012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192" autoAdjust="0"/>
    <p:restoredTop sz="96949" autoAdjust="0"/>
  </p:normalViewPr>
  <p:slideViewPr>
    <p:cSldViewPr snapToGrid="0">
      <p:cViewPr varScale="1">
        <p:scale>
          <a:sx n="98" d="100"/>
          <a:sy n="98" d="100"/>
        </p:scale>
        <p:origin x="588" y="72"/>
      </p:cViewPr>
      <p:guideLst/>
    </p:cSldViewPr>
  </p:slideViewPr>
  <p:notesTextViewPr>
    <p:cViewPr>
      <p:scale>
        <a:sx n="1" d="1"/>
        <a:sy n="1" d="1"/>
      </p:scale>
      <p:origin x="0" y="0"/>
    </p:cViewPr>
  </p:notesTextViewPr>
  <p:notesViewPr>
    <p:cSldViewPr snapToGrid="0">
      <p:cViewPr varScale="1">
        <p:scale>
          <a:sx n="111" d="100"/>
          <a:sy n="111" d="100"/>
        </p:scale>
        <p:origin x="2796" y="96"/>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7223F4-285F-48E4-B180-6F8ABAA9B4D6}" type="datetimeFigureOut">
              <a:rPr kumimoji="1" lang="ja-JP" altLang="en-US" smtClean="0"/>
              <a:t>2025/11/14</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A57BE4-F087-4889-83FB-F4BC38C7D812}" type="slidenum">
              <a:rPr kumimoji="1" lang="ja-JP" altLang="en-US" smtClean="0"/>
              <a:t>‹#›</a:t>
            </a:fld>
            <a:endParaRPr kumimoji="1" lang="ja-JP" altLang="en-US"/>
          </a:p>
        </p:txBody>
      </p:sp>
    </p:spTree>
    <p:extLst>
      <p:ext uri="{BB962C8B-B14F-4D97-AF65-F5344CB8AC3E}">
        <p14:creationId xmlns:p14="http://schemas.microsoft.com/office/powerpoint/2010/main" val="320710533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所見文の欄については、筋肉の測定値に基づいて、以下の３つのパターンのどれかを挿入する。</a:t>
            </a:r>
          </a:p>
          <a:p>
            <a:r>
              <a:rPr kumimoji="1" lang="ja-JP" altLang="en-US" dirty="0"/>
              <a:t>１．良好／標準的な場合「あなたの筋肉の質は、同性・同年代と比べて良好あるいは標準的な範囲にあります。ただし、高齢になると平均的な値でも筋力低下や転倒リスクが高まることがありますので、今後もバランスの良い食事と（できるだけお医者様や専門家指導の下で）適度な運動を続けることが大切です。」</a:t>
            </a:r>
          </a:p>
          <a:p>
            <a:r>
              <a:rPr kumimoji="1" lang="ja-JP" altLang="en-US" dirty="0"/>
              <a:t>２．やや低めの場合（例えば、２割以上の筋肉で標準偏差範囲外）「あなたの筋肉の質は、同性・同年代と比べるとやや低めの傾向があります。高齢期には筋肉の質のわずかな低下でも生活機能に影響が出ることがありますので、（できるだけお医者様や専門家指導の下で）食事・運動を工夫し、必要に応じて専門家のアドバイスを受けることをおすすめします。」</a:t>
            </a:r>
          </a:p>
          <a:p>
            <a:r>
              <a:rPr kumimoji="1" lang="ja-JP" altLang="en-US" dirty="0"/>
              <a:t>３．かなり低めの場合（例えば、５割以上の筋肉で標準偏差範囲外）「あなたの筋肉の質は、同性・同年代と比べて低い傾向が見られます。高齢期では平均的な水準でも転倒や要介護のリスクが高まることが知られています。早めに医療・リハビリ専門家にご相談されることをおすすめします。」</a:t>
            </a:r>
          </a:p>
          <a:p>
            <a:endParaRPr kumimoji="1" lang="en-US" altLang="ja-JP" dirty="0"/>
          </a:p>
          <a:p>
            <a:r>
              <a:rPr kumimoji="1" lang="ja-JP" altLang="en-US" dirty="0"/>
              <a:t>各３</a:t>
            </a:r>
            <a:r>
              <a:rPr kumimoji="1" lang="en-US" altLang="ja-JP" dirty="0"/>
              <a:t>D</a:t>
            </a:r>
            <a:r>
              <a:rPr kumimoji="1" lang="ja-JP" altLang="en-US" dirty="0"/>
              <a:t>可視化は、被験者のものではなく、説明用で固定した可視化にする。</a:t>
            </a:r>
            <a:endParaRPr kumimoji="1" lang="en-US" altLang="ja-JP" dirty="0"/>
          </a:p>
          <a:p>
            <a:r>
              <a:rPr kumimoji="1" lang="ja-JP" altLang="en-US" dirty="0"/>
              <a:t>各部位の拡大可視化像は、対象とする個別筋肉のみ、対応する色のカラー表示し、その他は、白の半透明表示とする。</a:t>
            </a:r>
            <a:endParaRPr kumimoji="1" lang="en-US" altLang="ja-JP" dirty="0"/>
          </a:p>
          <a:p>
            <a:r>
              <a:rPr kumimoji="1" lang="ja-JP" altLang="en-US" dirty="0"/>
              <a:t>筋質スコアは、筋肉領域内平均</a:t>
            </a:r>
            <a:r>
              <a:rPr kumimoji="1" lang="en-US" altLang="ja-JP" dirty="0"/>
              <a:t>HU</a:t>
            </a:r>
            <a:r>
              <a:rPr kumimoji="1" lang="ja-JP" altLang="en-US" dirty="0"/>
              <a:t>値とする。各プロットの平均・標準偏差範囲のボックスの色は、各個別筋肉に割り当てられた色にする。</a:t>
            </a:r>
            <a:endParaRPr kumimoji="1" lang="en-US" altLang="ja-JP" dirty="0"/>
          </a:p>
          <a:p>
            <a:endParaRPr kumimoji="1" lang="en-US" altLang="ja-JP" dirty="0"/>
          </a:p>
          <a:p>
            <a:r>
              <a:rPr kumimoji="1" lang="ja-JP" altLang="en-US" dirty="0"/>
              <a:t>なお、赤フォントの筋肉名は、太秦</a:t>
            </a:r>
            <a:r>
              <a:rPr kumimoji="1" lang="en-US" altLang="ja-JP" dirty="0"/>
              <a:t>CT</a:t>
            </a:r>
            <a:r>
              <a:rPr kumimoji="1" lang="ja-JP" altLang="en-US" dirty="0"/>
              <a:t>の撮影範囲内と思われますが、黒フォントは撮影範囲外（あるいは、入っていても十分に含まれていない）ので、対象外として、そもそも、プロットにおいて、平均・標準偏差範囲のボックスおよび被験者の値のプロットは、非表示にすることを想定します。</a:t>
            </a:r>
            <a:endParaRPr kumimoji="1" lang="en-US" altLang="ja-JP" dirty="0"/>
          </a:p>
          <a:p>
            <a:endParaRPr kumimoji="1" lang="en-US" altLang="ja-JP" dirty="0"/>
          </a:p>
          <a:p>
            <a:r>
              <a:rPr kumimoji="1" lang="ja-JP" altLang="en-US" dirty="0"/>
              <a:t>平均・標準偏差ボックスについては、各筋肉毎に、年齢</a:t>
            </a:r>
            <a:r>
              <a:rPr kumimoji="1" lang="en-US" altLang="ja-JP" dirty="0"/>
              <a:t>(</a:t>
            </a:r>
            <a:r>
              <a:rPr kumimoji="1" lang="ja-JP" altLang="en-US" dirty="0"/>
              <a:t>横軸</a:t>
            </a:r>
            <a:r>
              <a:rPr kumimoji="1" lang="en-US" altLang="ja-JP" dirty="0"/>
              <a:t>)</a:t>
            </a:r>
            <a:r>
              <a:rPr kumimoji="1" lang="ja-JP" altLang="en-US" dirty="0"/>
              <a:t>・</a:t>
            </a:r>
            <a:r>
              <a:rPr kumimoji="1" lang="en-US" altLang="ja-JP" dirty="0"/>
              <a:t>HU</a:t>
            </a:r>
            <a:r>
              <a:rPr kumimoji="1" lang="ja-JP" altLang="en-US" dirty="0"/>
              <a:t>値</a:t>
            </a:r>
            <a:r>
              <a:rPr kumimoji="1" lang="en-US" altLang="ja-JP" dirty="0"/>
              <a:t>(</a:t>
            </a:r>
            <a:r>
              <a:rPr kumimoji="1" lang="ja-JP" altLang="en-US" dirty="0"/>
              <a:t>縦軸</a:t>
            </a:r>
            <a:r>
              <a:rPr kumimoji="1" lang="en-US" altLang="ja-JP" dirty="0"/>
              <a:t>)</a:t>
            </a:r>
            <a:r>
              <a:rPr kumimoji="1" lang="ja-JP" altLang="en-US" dirty="0"/>
              <a:t>の散布図に対しての男性１次（直線）、女性２次曲線当てはめ（はずれ値は判別し除去）により求めた各年齢の平均値と標準偏差を用いる（アインさんがやっていたもの）。それらの結果から、各筋肉毎に、年齢毎に、平均値と標準偏差をエクセルで、テーブルにしておくのがよいでしょうか？</a:t>
            </a:r>
            <a:endParaRPr kumimoji="1" lang="en-US" altLang="ja-JP" dirty="0"/>
          </a:p>
          <a:p>
            <a:endParaRPr kumimoji="1" lang="en-US" altLang="ja-JP" dirty="0"/>
          </a:p>
          <a:p>
            <a:r>
              <a:rPr kumimoji="1" lang="ja-JP" altLang="en-US" dirty="0"/>
              <a:t>中央の３</a:t>
            </a:r>
            <a:r>
              <a:rPr kumimoji="1" lang="en-US" altLang="ja-JP" dirty="0"/>
              <a:t>D</a:t>
            </a:r>
            <a:r>
              <a:rPr kumimoji="1" lang="ja-JP" altLang="en-US" dirty="0"/>
              <a:t>可視化像は、上の表示では、可視化像の透明度を調整して薄めの色にしています。深部の筋肉については、対象筋肉以外の骨・対象・その他の筋肉は、色なし半透明にするのがよいと思います。</a:t>
            </a:r>
            <a:endParaRPr kumimoji="1" lang="en-US" altLang="ja-JP" dirty="0"/>
          </a:p>
          <a:p>
            <a:r>
              <a:rPr kumimoji="1" lang="ja-JP" altLang="en-US" dirty="0"/>
              <a:t>体幹～下肢全体はないと思うのですが、</a:t>
            </a:r>
            <a:endParaRPr kumimoji="1" lang="en-US" altLang="ja-JP" dirty="0"/>
          </a:p>
          <a:p>
            <a:endParaRPr kumimoji="1" lang="en-US" altLang="ja-JP" dirty="0"/>
          </a:p>
          <a:p>
            <a:r>
              <a:rPr kumimoji="1" lang="ja-JP" altLang="en-US" dirty="0"/>
              <a:t>各部位毎の拡大可視化像は、ある対象筋肉が別の対象筋肉を隠して見えなくなる場合があると思いますので、その場合、左右で別の可視化像にして、一方で、隠している筋肉の色なし半透明にしてください。例えば、「お尻」については、なかなか難しいのですが、右は、４つの筋肉をそのまま表示、左は、大殿筋のみ色なし半透明にして、中殿筋は色付きでやや半透明、小殿筋と大腿筋膜張筋は不透明にするなど、工夫がいると思います。「胸・お腹」や「背中・肩」も、かなり工夫がいると思いますが、特に、腹部は、複数の筋肉が層状になっていて、今回は、完璧にはできなくてもよいと考えます。（今後、改良を重ねることは必要です。）</a:t>
            </a:r>
            <a:endParaRPr kumimoji="1" lang="en-US" altLang="ja-JP" dirty="0"/>
          </a:p>
          <a:p>
            <a:endParaRPr kumimoji="1" lang="en-US" altLang="ja-JP" dirty="0"/>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26A57BE4-F087-4889-83FB-F4BC38C7D812}" type="slidenum">
              <a:rPr kumimoji="1" lang="ja-JP" altLang="en-US" smtClean="0"/>
              <a:t>1</a:t>
            </a:fld>
            <a:endParaRPr kumimoji="1" lang="ja-JP" altLang="en-US"/>
          </a:p>
        </p:txBody>
      </p:sp>
    </p:spTree>
    <p:extLst>
      <p:ext uri="{BB962C8B-B14F-4D97-AF65-F5344CB8AC3E}">
        <p14:creationId xmlns:p14="http://schemas.microsoft.com/office/powerpoint/2010/main" val="3858662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960120" y="1571308"/>
            <a:ext cx="10881360" cy="3342640"/>
          </a:xfrm>
        </p:spPr>
        <p:txBody>
          <a:bodyPr anchor="b"/>
          <a:lstStyle>
            <a:lvl1pPr algn="ctr">
              <a:defRPr sz="8400"/>
            </a:lvl1pPr>
          </a:lstStyle>
          <a:p>
            <a:r>
              <a:rPr lang="ja-JP" altLang="en-US"/>
              <a:t>マスター タイトルの書式設定</a:t>
            </a:r>
            <a:endParaRPr lang="en-US" dirty="0"/>
          </a:p>
        </p:txBody>
      </p:sp>
      <p:sp>
        <p:nvSpPr>
          <p:cNvPr id="3" name="Subtitle 2"/>
          <p:cNvSpPr>
            <a:spLocks noGrp="1"/>
          </p:cNvSpPr>
          <p:nvPr>
            <p:ph type="subTitle" idx="1"/>
          </p:nvPr>
        </p:nvSpPr>
        <p:spPr>
          <a:xfrm>
            <a:off x="1600200" y="5042853"/>
            <a:ext cx="9601200" cy="2318067"/>
          </a:xfrm>
        </p:spPr>
        <p:txBody>
          <a:bodyPr/>
          <a:lstStyle>
            <a:lvl1pPr marL="0" indent="0" algn="ctr">
              <a:buNone/>
              <a:defRPr sz="3360"/>
            </a:lvl1pPr>
            <a:lvl2pPr marL="640080" indent="0" algn="ctr">
              <a:buNone/>
              <a:defRPr sz="2800"/>
            </a:lvl2pPr>
            <a:lvl3pPr marL="1280160" indent="0" algn="ctr">
              <a:buNone/>
              <a:defRPr sz="2520"/>
            </a:lvl3pPr>
            <a:lvl4pPr marL="1920240" indent="0" algn="ctr">
              <a:buNone/>
              <a:defRPr sz="2240"/>
            </a:lvl4pPr>
            <a:lvl5pPr marL="2560320" indent="0" algn="ctr">
              <a:buNone/>
              <a:defRPr sz="2240"/>
            </a:lvl5pPr>
            <a:lvl6pPr marL="3200400" indent="0" algn="ctr">
              <a:buNone/>
              <a:defRPr sz="2240"/>
            </a:lvl6pPr>
            <a:lvl7pPr marL="3840480" indent="0" algn="ctr">
              <a:buNone/>
              <a:defRPr sz="2240"/>
            </a:lvl7pPr>
            <a:lvl8pPr marL="4480560" indent="0" algn="ctr">
              <a:buNone/>
              <a:defRPr sz="2240"/>
            </a:lvl8pPr>
            <a:lvl9pPr marL="5120640" indent="0" algn="ctr">
              <a:buNone/>
              <a:defRPr sz="224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030A795C-D186-49F8-922E-213650C331BD}" type="datetime1">
              <a:rPr kumimoji="1" lang="ja-JP" altLang="en-US" smtClean="0"/>
              <a:t>2025/11/14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557675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6EB9AB5-D71E-43BD-BA98-95F977FA3B14}" type="datetime1">
              <a:rPr kumimoji="1" lang="ja-JP" altLang="en-US" smtClean="0"/>
              <a:t>2025/11/14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1572497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73443" y="2393635"/>
            <a:ext cx="11041380" cy="3993832"/>
          </a:xfrm>
        </p:spPr>
        <p:txBody>
          <a:bodyPr anchor="b"/>
          <a:lstStyle>
            <a:lvl1pPr>
              <a:defRPr sz="84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73443" y="6425250"/>
            <a:ext cx="11041380" cy="2100262"/>
          </a:xfrm>
        </p:spPr>
        <p:txBody>
          <a:bodyPr/>
          <a:lstStyle>
            <a:lvl1pPr marL="0" indent="0">
              <a:buNone/>
              <a:defRPr sz="3360">
                <a:solidFill>
                  <a:schemeClr val="tx1"/>
                </a:solidFill>
              </a:defRPr>
            </a:lvl1pPr>
            <a:lvl2pPr marL="640080" indent="0">
              <a:buNone/>
              <a:defRPr sz="2800">
                <a:solidFill>
                  <a:schemeClr val="tx1">
                    <a:tint val="75000"/>
                  </a:schemeClr>
                </a:solidFill>
              </a:defRPr>
            </a:lvl2pPr>
            <a:lvl3pPr marL="1280160" indent="0">
              <a:buNone/>
              <a:defRPr sz="2520">
                <a:solidFill>
                  <a:schemeClr val="tx1">
                    <a:tint val="75000"/>
                  </a:schemeClr>
                </a:solidFill>
              </a:defRPr>
            </a:lvl3pPr>
            <a:lvl4pPr marL="1920240" indent="0">
              <a:buNone/>
              <a:defRPr sz="2240">
                <a:solidFill>
                  <a:schemeClr val="tx1">
                    <a:tint val="75000"/>
                  </a:schemeClr>
                </a:solidFill>
              </a:defRPr>
            </a:lvl4pPr>
            <a:lvl5pPr marL="2560320" indent="0">
              <a:buNone/>
              <a:defRPr sz="2240">
                <a:solidFill>
                  <a:schemeClr val="tx1">
                    <a:tint val="75000"/>
                  </a:schemeClr>
                </a:solidFill>
              </a:defRPr>
            </a:lvl5pPr>
            <a:lvl6pPr marL="3200400" indent="0">
              <a:buNone/>
              <a:defRPr sz="2240">
                <a:solidFill>
                  <a:schemeClr val="tx1">
                    <a:tint val="75000"/>
                  </a:schemeClr>
                </a:solidFill>
              </a:defRPr>
            </a:lvl6pPr>
            <a:lvl7pPr marL="3840480" indent="0">
              <a:buNone/>
              <a:defRPr sz="2240">
                <a:solidFill>
                  <a:schemeClr val="tx1">
                    <a:tint val="75000"/>
                  </a:schemeClr>
                </a:solidFill>
              </a:defRPr>
            </a:lvl7pPr>
            <a:lvl8pPr marL="4480560" indent="0">
              <a:buNone/>
              <a:defRPr sz="2240">
                <a:solidFill>
                  <a:schemeClr val="tx1">
                    <a:tint val="75000"/>
                  </a:schemeClr>
                </a:solidFill>
              </a:defRPr>
            </a:lvl8pPr>
            <a:lvl9pPr marL="5120640" indent="0">
              <a:buNone/>
              <a:defRPr sz="224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D4B354A-0F1D-4772-A25A-2558BBD7A195}" type="datetime1">
              <a:rPr kumimoji="1" lang="ja-JP" altLang="en-US" smtClean="0"/>
              <a:t>2025/11/14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317789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80110" y="2555875"/>
            <a:ext cx="5440680" cy="60918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480810" y="2555875"/>
            <a:ext cx="5440680" cy="60918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F4E27273-7879-4DE1-8BC1-2E415FDB7924}" type="datetime1">
              <a:rPr kumimoji="1" lang="ja-JP" altLang="en-US" smtClean="0"/>
              <a:t>2025/11/14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661172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81777" y="511177"/>
            <a:ext cx="11041380" cy="1855788"/>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81779" y="2353628"/>
            <a:ext cx="5415676"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ja-JP" altLang="en-US"/>
              <a:t>マスター テキストの書式設定</a:t>
            </a:r>
          </a:p>
        </p:txBody>
      </p:sp>
      <p:sp>
        <p:nvSpPr>
          <p:cNvPr id="4" name="Content Placeholder 3"/>
          <p:cNvSpPr>
            <a:spLocks noGrp="1"/>
          </p:cNvSpPr>
          <p:nvPr>
            <p:ph sz="half" idx="2"/>
          </p:nvPr>
        </p:nvSpPr>
        <p:spPr>
          <a:xfrm>
            <a:off x="881779" y="3507105"/>
            <a:ext cx="5415676" cy="515842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480811" y="2353628"/>
            <a:ext cx="5442347"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ja-JP" altLang="en-US"/>
              <a:t>マスター テキストの書式設定</a:t>
            </a:r>
          </a:p>
        </p:txBody>
      </p:sp>
      <p:sp>
        <p:nvSpPr>
          <p:cNvPr id="6" name="Content Placeholder 5"/>
          <p:cNvSpPr>
            <a:spLocks noGrp="1"/>
          </p:cNvSpPr>
          <p:nvPr>
            <p:ph sz="quarter" idx="4"/>
          </p:nvPr>
        </p:nvSpPr>
        <p:spPr>
          <a:xfrm>
            <a:off x="6480811" y="3507105"/>
            <a:ext cx="5442347" cy="515842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1B50778B-C442-4A4E-8AB2-8D383DDDEF70}" type="datetime1">
              <a:rPr kumimoji="1" lang="ja-JP" altLang="en-US" smtClean="0"/>
              <a:t>2025/11/14</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1897381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CFDB9525-9DA6-4E33-AD5D-1D7E5209AFE6}" type="datetime1">
              <a:rPr kumimoji="1" lang="ja-JP" altLang="en-US" smtClean="0"/>
              <a:t>2025/11/14</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665111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C0FF00-CC9E-486D-902A-471A4DB57A7C}" type="datetime1">
              <a:rPr kumimoji="1" lang="ja-JP" altLang="en-US" smtClean="0"/>
              <a:t>2025/11/14</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3205827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ja-JP" altLang="en-US"/>
              <a:t>マスター タイトルの書式設定</a:t>
            </a:r>
            <a:endParaRPr lang="en-US" dirty="0"/>
          </a:p>
        </p:txBody>
      </p:sp>
      <p:sp>
        <p:nvSpPr>
          <p:cNvPr id="3" name="Content Placeholder 2"/>
          <p:cNvSpPr>
            <a:spLocks noGrp="1"/>
          </p:cNvSpPr>
          <p:nvPr>
            <p:ph idx="1"/>
          </p:nvPr>
        </p:nvSpPr>
        <p:spPr>
          <a:xfrm>
            <a:off x="5442347" y="1382397"/>
            <a:ext cx="6480810" cy="6823075"/>
          </a:xfrm>
        </p:spPr>
        <p:txBody>
          <a:bodyPr/>
          <a:lstStyle>
            <a:lvl1pPr>
              <a:defRPr sz="4480"/>
            </a:lvl1pPr>
            <a:lvl2pPr>
              <a:defRPr sz="3920"/>
            </a:lvl2pPr>
            <a:lvl3pPr>
              <a:defRPr sz="3360"/>
            </a:lvl3pPr>
            <a:lvl4pPr>
              <a:defRPr sz="2800"/>
            </a:lvl4pPr>
            <a:lvl5pPr>
              <a:defRPr sz="2800"/>
            </a:lvl5pPr>
            <a:lvl6pPr>
              <a:defRPr sz="2800"/>
            </a:lvl6pPr>
            <a:lvl7pPr>
              <a:defRPr sz="2800"/>
            </a:lvl7pPr>
            <a:lvl8pPr>
              <a:defRPr sz="2800"/>
            </a:lvl8pPr>
            <a:lvl9pPr>
              <a:defRPr sz="2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461820C-21E9-4339-B5F3-2597C3FD13FD}" type="datetime1">
              <a:rPr kumimoji="1" lang="ja-JP" altLang="en-US" smtClean="0"/>
              <a:t>2025/11/14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45186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442347" y="1382397"/>
            <a:ext cx="6480810" cy="6823075"/>
          </a:xfrm>
        </p:spPr>
        <p:txBody>
          <a:bodyPr anchor="t"/>
          <a:lstStyle>
            <a:lvl1pPr marL="0" indent="0">
              <a:buNone/>
              <a:defRPr sz="4480"/>
            </a:lvl1pPr>
            <a:lvl2pPr marL="640080" indent="0">
              <a:buNone/>
              <a:defRPr sz="3920"/>
            </a:lvl2pPr>
            <a:lvl3pPr marL="1280160" indent="0">
              <a:buNone/>
              <a:defRPr sz="336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4DCBEFE-AD8F-4658-846A-0BDBA76D6A89}" type="datetime1">
              <a:rPr kumimoji="1" lang="ja-JP" altLang="en-US" smtClean="0"/>
              <a:t>2025/11/14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1022650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212287D-55E0-4FF4-8F2A-1F80FEF07307}" type="datetime1">
              <a:rPr kumimoji="1" lang="ja-JP" altLang="en-US" smtClean="0"/>
              <a:t>2025/11/14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1241893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511175"/>
            <a:ext cx="2760345" cy="8136573"/>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80111" y="511175"/>
            <a:ext cx="8121015" cy="8136573"/>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2D2BA95-82B4-42A7-9B67-E08D70EC37B9}" type="datetime1">
              <a:rPr kumimoji="1" lang="ja-JP" altLang="en-US" smtClean="0"/>
              <a:t>2025/11/14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497341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511177"/>
            <a:ext cx="11041380" cy="1855788"/>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80110" y="2555875"/>
            <a:ext cx="11041380" cy="609187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80110" y="8898892"/>
            <a:ext cx="2880360" cy="511175"/>
          </a:xfrm>
          <a:prstGeom prst="rect">
            <a:avLst/>
          </a:prstGeom>
        </p:spPr>
        <p:txBody>
          <a:bodyPr vert="horz" lIns="91440" tIns="45720" rIns="91440" bIns="45720" rtlCol="0" anchor="ctr"/>
          <a:lstStyle>
            <a:lvl1pPr algn="l">
              <a:defRPr sz="1680">
                <a:solidFill>
                  <a:schemeClr val="tx1">
                    <a:tint val="75000"/>
                  </a:schemeClr>
                </a:solidFill>
              </a:defRPr>
            </a:lvl1pPr>
          </a:lstStyle>
          <a:p>
            <a:fld id="{DEC8E0CC-7FA6-473E-874E-5BE9EA49E8F5}" type="datetime1">
              <a:rPr kumimoji="1" lang="ja-JP" altLang="en-US" smtClean="0"/>
              <a:t>2025/11/14</a:t>
            </a:fld>
            <a:endParaRPr kumimoji="1" lang="ja-JP" altLang="en-US"/>
          </a:p>
        </p:txBody>
      </p:sp>
      <p:sp>
        <p:nvSpPr>
          <p:cNvPr id="5" name="Footer Placeholder 4"/>
          <p:cNvSpPr>
            <a:spLocks noGrp="1"/>
          </p:cNvSpPr>
          <p:nvPr>
            <p:ph type="ftr" sz="quarter" idx="3"/>
          </p:nvPr>
        </p:nvSpPr>
        <p:spPr>
          <a:xfrm>
            <a:off x="4240530" y="8898892"/>
            <a:ext cx="4320540" cy="511175"/>
          </a:xfrm>
          <a:prstGeom prst="rect">
            <a:avLst/>
          </a:prstGeom>
        </p:spPr>
        <p:txBody>
          <a:bodyPr vert="horz" lIns="91440" tIns="45720" rIns="91440" bIns="45720" rtlCol="0" anchor="ctr"/>
          <a:lstStyle>
            <a:lvl1pPr algn="ctr">
              <a:defRPr sz="168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0" y="-3151"/>
            <a:ext cx="542334" cy="561250"/>
          </a:xfrm>
          <a:prstGeom prst="rect">
            <a:avLst/>
          </a:prstGeom>
        </p:spPr>
        <p:txBody>
          <a:bodyPr vert="horz" lIns="91440" tIns="45720" rIns="91440" bIns="45720" rtlCol="0" anchor="ctr"/>
          <a:lstStyle>
            <a:lvl1pPr algn="r">
              <a:defRPr sz="2400">
                <a:solidFill>
                  <a:schemeClr val="tx1">
                    <a:tint val="75000"/>
                  </a:schemeClr>
                </a:solidFill>
              </a:defRPr>
            </a:lvl1pPr>
          </a:lstStyle>
          <a:p>
            <a:fld id="{AD811822-4739-4079-91F6-9F51ED4B0761}" type="slidenum">
              <a:rPr kumimoji="1" lang="ja-JP" altLang="en-US" smtClean="0"/>
              <a:pPr/>
              <a:t>‹#›</a:t>
            </a:fld>
            <a:endParaRPr kumimoji="1" lang="ja-JP" altLang="en-US"/>
          </a:p>
        </p:txBody>
      </p:sp>
    </p:spTree>
    <p:extLst>
      <p:ext uri="{BB962C8B-B14F-4D97-AF65-F5344CB8AC3E}">
        <p14:creationId xmlns:p14="http://schemas.microsoft.com/office/powerpoint/2010/main" val="35397623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1280160" rtl="0" eaLnBrk="1" latinLnBrk="0" hangingPunct="1">
        <a:lnSpc>
          <a:spcPct val="90000"/>
        </a:lnSpc>
        <a:spcBef>
          <a:spcPct val="0"/>
        </a:spcBef>
        <a:buNone/>
        <a:defRPr kumimoji="1" sz="6160" kern="1200">
          <a:solidFill>
            <a:schemeClr val="tx1"/>
          </a:solidFill>
          <a:latin typeface="+mj-lt"/>
          <a:ea typeface="+mj-ea"/>
          <a:cs typeface="+mj-cs"/>
        </a:defRPr>
      </a:lvl1pPr>
    </p:titleStyle>
    <p:bodyStyle>
      <a:lvl1pPr marL="320040" indent="-320040" algn="l" defTabSz="1280160" rtl="0" eaLnBrk="1" latinLnBrk="0" hangingPunct="1">
        <a:lnSpc>
          <a:spcPct val="90000"/>
        </a:lnSpc>
        <a:spcBef>
          <a:spcPts val="1400"/>
        </a:spcBef>
        <a:buFont typeface="Arial" panose="020B0604020202020204" pitchFamily="34" charset="0"/>
        <a:buChar char="•"/>
        <a:defRPr kumimoji="1" sz="3920" kern="1200">
          <a:solidFill>
            <a:schemeClr val="tx1"/>
          </a:solidFill>
          <a:latin typeface="+mn-lt"/>
          <a:ea typeface="+mn-ea"/>
          <a:cs typeface="+mn-cs"/>
        </a:defRPr>
      </a:lvl1pPr>
      <a:lvl2pPr marL="960120" indent="-320040" algn="l" defTabSz="1280160" rtl="0" eaLnBrk="1" latinLnBrk="0" hangingPunct="1">
        <a:lnSpc>
          <a:spcPct val="90000"/>
        </a:lnSpc>
        <a:spcBef>
          <a:spcPts val="700"/>
        </a:spcBef>
        <a:buFont typeface="Arial" panose="020B0604020202020204" pitchFamily="34" charset="0"/>
        <a:buChar char="•"/>
        <a:defRPr kumimoji="1" sz="3360" kern="1200">
          <a:solidFill>
            <a:schemeClr val="tx1"/>
          </a:solidFill>
          <a:latin typeface="+mn-lt"/>
          <a:ea typeface="+mn-ea"/>
          <a:cs typeface="+mn-cs"/>
        </a:defRPr>
      </a:lvl2pPr>
      <a:lvl3pPr marL="1600200" indent="-320040" algn="l" defTabSz="1280160" rtl="0" eaLnBrk="1" latinLnBrk="0" hangingPunct="1">
        <a:lnSpc>
          <a:spcPct val="90000"/>
        </a:lnSpc>
        <a:spcBef>
          <a:spcPts val="700"/>
        </a:spcBef>
        <a:buFont typeface="Arial" panose="020B0604020202020204" pitchFamily="34" charset="0"/>
        <a:buChar char="•"/>
        <a:defRPr kumimoji="1" sz="2800" kern="1200">
          <a:solidFill>
            <a:schemeClr val="tx1"/>
          </a:solidFill>
          <a:latin typeface="+mn-lt"/>
          <a:ea typeface="+mn-ea"/>
          <a:cs typeface="+mn-cs"/>
        </a:defRPr>
      </a:lvl3pPr>
      <a:lvl4pPr marL="224028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4pPr>
      <a:lvl5pPr marL="288036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5pPr>
      <a:lvl6pPr marL="352044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6pPr>
      <a:lvl7pPr marL="416052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7pPr>
      <a:lvl8pPr marL="480060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8pPr>
      <a:lvl9pPr marL="544068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9pPr>
    </p:bodyStyle>
    <p:otherStyle>
      <a:defPPr>
        <a:defRPr lang="en-US"/>
      </a:defPPr>
      <a:lvl1pPr marL="0" algn="l" defTabSz="1280160" rtl="0" eaLnBrk="1" latinLnBrk="0" hangingPunct="1">
        <a:defRPr kumimoji="1" sz="2520" kern="1200">
          <a:solidFill>
            <a:schemeClr val="tx1"/>
          </a:solidFill>
          <a:latin typeface="+mn-lt"/>
          <a:ea typeface="+mn-ea"/>
          <a:cs typeface="+mn-cs"/>
        </a:defRPr>
      </a:lvl1pPr>
      <a:lvl2pPr marL="640080" algn="l" defTabSz="1280160" rtl="0" eaLnBrk="1" latinLnBrk="0" hangingPunct="1">
        <a:defRPr kumimoji="1" sz="2520" kern="1200">
          <a:solidFill>
            <a:schemeClr val="tx1"/>
          </a:solidFill>
          <a:latin typeface="+mn-lt"/>
          <a:ea typeface="+mn-ea"/>
          <a:cs typeface="+mn-cs"/>
        </a:defRPr>
      </a:lvl2pPr>
      <a:lvl3pPr marL="1280160" algn="l" defTabSz="1280160" rtl="0" eaLnBrk="1" latinLnBrk="0" hangingPunct="1">
        <a:defRPr kumimoji="1" sz="2520" kern="1200">
          <a:solidFill>
            <a:schemeClr val="tx1"/>
          </a:solidFill>
          <a:latin typeface="+mn-lt"/>
          <a:ea typeface="+mn-ea"/>
          <a:cs typeface="+mn-cs"/>
        </a:defRPr>
      </a:lvl3pPr>
      <a:lvl4pPr marL="1920240" algn="l" defTabSz="1280160" rtl="0" eaLnBrk="1" latinLnBrk="0" hangingPunct="1">
        <a:defRPr kumimoji="1" sz="2520" kern="1200">
          <a:solidFill>
            <a:schemeClr val="tx1"/>
          </a:solidFill>
          <a:latin typeface="+mn-lt"/>
          <a:ea typeface="+mn-ea"/>
          <a:cs typeface="+mn-cs"/>
        </a:defRPr>
      </a:lvl4pPr>
      <a:lvl5pPr marL="2560320" algn="l" defTabSz="1280160" rtl="0" eaLnBrk="1" latinLnBrk="0" hangingPunct="1">
        <a:defRPr kumimoji="1" sz="2520" kern="1200">
          <a:solidFill>
            <a:schemeClr val="tx1"/>
          </a:solidFill>
          <a:latin typeface="+mn-lt"/>
          <a:ea typeface="+mn-ea"/>
          <a:cs typeface="+mn-cs"/>
        </a:defRPr>
      </a:lvl5pPr>
      <a:lvl6pPr marL="3200400" algn="l" defTabSz="1280160" rtl="0" eaLnBrk="1" latinLnBrk="0" hangingPunct="1">
        <a:defRPr kumimoji="1" sz="2520" kern="1200">
          <a:solidFill>
            <a:schemeClr val="tx1"/>
          </a:solidFill>
          <a:latin typeface="+mn-lt"/>
          <a:ea typeface="+mn-ea"/>
          <a:cs typeface="+mn-cs"/>
        </a:defRPr>
      </a:lvl6pPr>
      <a:lvl7pPr marL="3840480" algn="l" defTabSz="1280160" rtl="0" eaLnBrk="1" latinLnBrk="0" hangingPunct="1">
        <a:defRPr kumimoji="1" sz="2520" kern="1200">
          <a:solidFill>
            <a:schemeClr val="tx1"/>
          </a:solidFill>
          <a:latin typeface="+mn-lt"/>
          <a:ea typeface="+mn-ea"/>
          <a:cs typeface="+mn-cs"/>
        </a:defRPr>
      </a:lvl7pPr>
      <a:lvl8pPr marL="4480560" algn="l" defTabSz="1280160" rtl="0" eaLnBrk="1" latinLnBrk="0" hangingPunct="1">
        <a:defRPr kumimoji="1" sz="2520" kern="1200">
          <a:solidFill>
            <a:schemeClr val="tx1"/>
          </a:solidFill>
          <a:latin typeface="+mn-lt"/>
          <a:ea typeface="+mn-ea"/>
          <a:cs typeface="+mn-cs"/>
        </a:defRPr>
      </a:lvl8pPr>
      <a:lvl9pPr marL="5120640" algn="l" defTabSz="1280160" rtl="0" eaLnBrk="1" latinLnBrk="0" hangingPunct="1">
        <a:defRPr kumimoji="1" sz="25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gif"/><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jpe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jpe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図 38">
            <a:extLst>
              <a:ext uri="{FF2B5EF4-FFF2-40B4-BE49-F238E27FC236}">
                <a16:creationId xmlns:a16="http://schemas.microsoft.com/office/drawing/2014/main" id="{7DC6CC94-9BDF-409E-9CD3-0F012A8E28FF}"/>
              </a:ext>
            </a:extLst>
          </p:cNvPr>
          <p:cNvPicPr>
            <a:picLocks noChangeAspect="1"/>
          </p:cNvPicPr>
          <p:nvPr/>
        </p:nvPicPr>
        <p:blipFill>
          <a:blip r:embed="rId3"/>
          <a:stretch>
            <a:fillRect/>
          </a:stretch>
        </p:blipFill>
        <p:spPr>
          <a:xfrm>
            <a:off x="8545416" y="2845546"/>
            <a:ext cx="4209479" cy="1934414"/>
          </a:xfrm>
          <a:prstGeom prst="rect">
            <a:avLst/>
          </a:prstGeom>
        </p:spPr>
      </p:pic>
      <p:sp>
        <p:nvSpPr>
          <p:cNvPr id="42" name="テキスト ボックス 41">
            <a:extLst>
              <a:ext uri="{FF2B5EF4-FFF2-40B4-BE49-F238E27FC236}">
                <a16:creationId xmlns:a16="http://schemas.microsoft.com/office/drawing/2014/main" id="{6B58A8E9-6F04-48E1-B671-603C55DA9669}"/>
              </a:ext>
            </a:extLst>
          </p:cNvPr>
          <p:cNvSpPr txBox="1"/>
          <p:nvPr/>
        </p:nvSpPr>
        <p:spPr>
          <a:xfrm>
            <a:off x="654943" y="690428"/>
            <a:ext cx="11494402" cy="707886"/>
          </a:xfrm>
          <a:prstGeom prst="rect">
            <a:avLst/>
          </a:prstGeom>
          <a:noFill/>
          <a:ln>
            <a:solidFill>
              <a:srgbClr val="002060"/>
            </a:solidFill>
          </a:ln>
        </p:spPr>
        <p:txBody>
          <a:bodyPr wrap="square">
            <a:spAutoFit/>
          </a:bodyPr>
          <a:lstStyle/>
          <a:p>
            <a:r>
              <a:rPr lang="ja-JP" altLang="en-US" sz="1400" b="1" dirty="0">
                <a:latin typeface="メイリオ" panose="020B0604030504040204" pitchFamily="50" charset="-128"/>
                <a:ea typeface="メイリオ" panose="020B0604030504040204" pitchFamily="50" charset="-128"/>
              </a:rPr>
              <a:t>所見文</a:t>
            </a:r>
            <a:endParaRPr lang="en-US" altLang="ja-JP" sz="1400" b="1" dirty="0">
              <a:latin typeface="メイリオ" panose="020B0604030504040204" pitchFamily="50" charset="-128"/>
              <a:ea typeface="メイリオ" panose="020B0604030504040204" pitchFamily="50" charset="-128"/>
            </a:endParaRPr>
          </a:p>
          <a:p>
            <a:r>
              <a:rPr lang="en-US" altLang="ja-JP" sz="1400" b="1"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{{OBSERVATIONS}}</a:t>
            </a:r>
          </a:p>
          <a:p>
            <a:endParaRPr lang="en-US" altLang="ja-JP" sz="1200"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E23FBE1F-1B96-4235-ABE5-DC87006575B8}"/>
              </a:ext>
            </a:extLst>
          </p:cNvPr>
          <p:cNvSpPr txBox="1"/>
          <p:nvPr/>
        </p:nvSpPr>
        <p:spPr>
          <a:xfrm>
            <a:off x="645524" y="197405"/>
            <a:ext cx="4210336" cy="400110"/>
          </a:xfrm>
          <a:prstGeom prst="rect">
            <a:avLst/>
          </a:prstGeom>
          <a:noFill/>
        </p:spPr>
        <p:txBody>
          <a:bodyPr wrap="square" rtlCol="0">
            <a:spAutoFit/>
          </a:bodyPr>
          <a:lstStyle/>
          <a:p>
            <a:r>
              <a:rPr kumimoji="1" lang="ja-JP" altLang="en-US" sz="2000" b="1" dirty="0">
                <a:solidFill>
                  <a:srgbClr val="C00000"/>
                </a:solidFill>
                <a:latin typeface="メイリオ" panose="020B0604030504040204" pitchFamily="50" charset="-128"/>
                <a:ea typeface="メイリオ" panose="020B0604030504040204" pitchFamily="50" charset="-128"/>
              </a:rPr>
              <a:t>筋質（筋肉の質）</a:t>
            </a:r>
            <a:r>
              <a:rPr kumimoji="1" lang="ja-JP" altLang="en-US" b="1" dirty="0">
                <a:latin typeface="メイリオ" panose="020B0604030504040204" pitchFamily="50" charset="-128"/>
                <a:ea typeface="メイリオ" panose="020B0604030504040204" pitchFamily="50" charset="-128"/>
              </a:rPr>
              <a:t>の測定結果シート</a:t>
            </a:r>
          </a:p>
        </p:txBody>
      </p:sp>
      <p:sp>
        <p:nvSpPr>
          <p:cNvPr id="45" name="テキスト ボックス 44">
            <a:extLst>
              <a:ext uri="{FF2B5EF4-FFF2-40B4-BE49-F238E27FC236}">
                <a16:creationId xmlns:a16="http://schemas.microsoft.com/office/drawing/2014/main" id="{30C1F6BC-DFC6-4383-A644-7703B82FB81D}"/>
              </a:ext>
            </a:extLst>
          </p:cNvPr>
          <p:cNvSpPr txBox="1"/>
          <p:nvPr/>
        </p:nvSpPr>
        <p:spPr>
          <a:xfrm>
            <a:off x="645524" y="1527280"/>
            <a:ext cx="11545078" cy="1015663"/>
          </a:xfrm>
          <a:prstGeom prst="rect">
            <a:avLst/>
          </a:prstGeom>
          <a:noFill/>
          <a:ln>
            <a:solidFill>
              <a:srgbClr val="002060"/>
            </a:solidFill>
          </a:ln>
        </p:spPr>
        <p:txBody>
          <a:bodyPr wrap="square">
            <a:spAutoFit/>
          </a:bodyPr>
          <a:lstStyle/>
          <a:p>
            <a:r>
              <a:rPr lang="ja-JP" altLang="en-US" sz="1400" b="1" dirty="0">
                <a:latin typeface="メイリオ" panose="020B0604030504040204" pitchFamily="50" charset="-128"/>
                <a:ea typeface="メイリオ" panose="020B0604030504040204" pitchFamily="50" charset="-128"/>
              </a:rPr>
              <a:t>測定結果シートの見方</a:t>
            </a:r>
            <a:endParaRPr lang="en-US" altLang="ja-JP" sz="1400" b="1" dirty="0">
              <a:latin typeface="メイリオ" panose="020B0604030504040204" pitchFamily="50" charset="-128"/>
              <a:ea typeface="メイリオ" panose="020B0604030504040204" pitchFamily="50" charset="-128"/>
            </a:endParaRPr>
          </a:p>
          <a:p>
            <a:pPr marL="596506" lvl="1" indent="-139306">
              <a:buFont typeface="Arial" panose="020B0604020202020204" pitchFamily="34" charset="0"/>
              <a:buChar char="•"/>
            </a:pPr>
            <a:r>
              <a:rPr lang="ja-JP" altLang="en-US" sz="1200" dirty="0">
                <a:latin typeface="メイリオ" panose="020B0604030504040204" pitchFamily="50" charset="-128"/>
                <a:ea typeface="メイリオ" panose="020B0604030504040204" pitchFamily="50" charset="-128"/>
              </a:rPr>
              <a:t>あなたの各筋肉の</a:t>
            </a:r>
            <a:r>
              <a:rPr lang="ja-JP" altLang="en-US" sz="1200" b="1" dirty="0">
                <a:latin typeface="メイリオ" panose="020B0604030504040204" pitchFamily="50" charset="-128"/>
                <a:ea typeface="メイリオ" panose="020B0604030504040204" pitchFamily="50" charset="-128"/>
              </a:rPr>
              <a:t>筋質スコア（健康状態の数値）</a:t>
            </a:r>
            <a:r>
              <a:rPr lang="ja-JP" altLang="en-US" sz="1200" dirty="0">
                <a:latin typeface="メイリオ" panose="020B0604030504040204" pitchFamily="50" charset="-128"/>
                <a:ea typeface="メイリオ" panose="020B0604030504040204" pitchFamily="50" charset="-128"/>
              </a:rPr>
              <a:t>を「★印」で示しています。</a:t>
            </a:r>
            <a:endParaRPr lang="en-US" altLang="ja-JP" sz="1200" dirty="0">
              <a:latin typeface="メイリオ" panose="020B0604030504040204" pitchFamily="50" charset="-128"/>
              <a:ea typeface="メイリオ" panose="020B0604030504040204" pitchFamily="50" charset="-128"/>
            </a:endParaRPr>
          </a:p>
          <a:p>
            <a:pPr marL="1053718" lvl="2" indent="-139306">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rPr>
              <a:t>筋肉毎に、同性・同年齢の「普通の範囲」を色のついた帯で示しています。★印がその帯より左に出ている場合は、同年代と比べて筋質が低めです。</a:t>
            </a:r>
            <a:endParaRPr lang="en-US" altLang="ja-JP" sz="1100" dirty="0">
              <a:latin typeface="メイリオ" panose="020B0604030504040204" pitchFamily="50" charset="-128"/>
              <a:ea typeface="メイリオ" panose="020B0604030504040204" pitchFamily="50" charset="-128"/>
            </a:endParaRPr>
          </a:p>
          <a:p>
            <a:pPr marL="596506" lvl="1" indent="-139306">
              <a:buFont typeface="Arial" panose="020B0604020202020204" pitchFamily="34" charset="0"/>
              <a:buChar char="•"/>
            </a:pPr>
            <a:r>
              <a:rPr lang="ja-JP" altLang="en-US" sz="1200" b="1" dirty="0">
                <a:latin typeface="メイリオ" panose="020B0604030504040204" pitchFamily="50" charset="-128"/>
                <a:ea typeface="メイリオ" panose="020B0604030504040204" pitchFamily="50" charset="-128"/>
              </a:rPr>
              <a:t>筋質スコア</a:t>
            </a:r>
            <a:r>
              <a:rPr lang="ja-JP" altLang="en-US" sz="1200" dirty="0">
                <a:latin typeface="メイリオ" panose="020B0604030504040204" pitchFamily="50" charset="-128"/>
                <a:ea typeface="メイリオ" panose="020B0604030504040204" pitchFamily="50" charset="-128"/>
              </a:rPr>
              <a:t>とは、</a:t>
            </a:r>
            <a:r>
              <a:rPr lang="en-US" altLang="ja-JP" sz="1200" dirty="0">
                <a:latin typeface="メイリオ" panose="020B0604030504040204" pitchFamily="50" charset="-128"/>
                <a:ea typeface="メイリオ" panose="020B0604030504040204" pitchFamily="50" charset="-128"/>
              </a:rPr>
              <a:t>CT</a:t>
            </a:r>
            <a:r>
              <a:rPr lang="ja-JP" altLang="en-US" sz="1200" dirty="0">
                <a:latin typeface="メイリオ" panose="020B0604030504040204" pitchFamily="50" charset="-128"/>
                <a:ea typeface="メイリオ" panose="020B0604030504040204" pitchFamily="50" charset="-128"/>
              </a:rPr>
              <a:t>画像から計算した数字で、筋肉の中に脂肪がどれくらい混ざっているかを表しています。</a:t>
            </a:r>
            <a:endParaRPr lang="en-US" altLang="ja-JP" sz="1200" dirty="0">
              <a:latin typeface="メイリオ" panose="020B0604030504040204" pitchFamily="50" charset="-128"/>
              <a:ea typeface="メイリオ" panose="020B0604030504040204" pitchFamily="50" charset="-128"/>
            </a:endParaRPr>
          </a:p>
          <a:p>
            <a:pPr marL="1053718" lvl="2" indent="-139306">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rPr>
              <a:t>数値が低いほど、筋肉に脂肪が多く入り込み（いわゆる「霜降り状態」）、筋力が弱くなり、転倒や骨折などのリスクが高くなる可能性があります。</a:t>
            </a:r>
            <a:endParaRPr lang="en-US" altLang="ja-JP" sz="1100"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45FBF326-3E42-40C4-8E2A-483A9F689195}"/>
              </a:ext>
            </a:extLst>
          </p:cNvPr>
          <p:cNvSpPr txBox="1"/>
          <p:nvPr/>
        </p:nvSpPr>
        <p:spPr>
          <a:xfrm>
            <a:off x="5884194" y="5584183"/>
            <a:ext cx="973423" cy="276999"/>
          </a:xfrm>
          <a:prstGeom prst="rect">
            <a:avLst/>
          </a:prstGeom>
          <a:noFill/>
        </p:spPr>
        <p:txBody>
          <a:bodyPr wrap="square" rtlCol="0">
            <a:spAutoFit/>
          </a:bodyPr>
          <a:lstStyle/>
          <a:p>
            <a:pPr algn="ctr"/>
            <a:r>
              <a:rPr kumimoji="1" lang="ja-JP" altLang="en-US" sz="1200" b="1" dirty="0">
                <a:latin typeface="メイリオ" panose="020B0604030504040204" pitchFamily="50" charset="-128"/>
                <a:ea typeface="メイリオ" panose="020B0604030504040204" pitchFamily="50" charset="-128"/>
              </a:rPr>
              <a:t>深部の筋肉</a:t>
            </a:r>
          </a:p>
        </p:txBody>
      </p:sp>
      <p:sp>
        <p:nvSpPr>
          <p:cNvPr id="48" name="テキスト ボックス 47">
            <a:extLst>
              <a:ext uri="{FF2B5EF4-FFF2-40B4-BE49-F238E27FC236}">
                <a16:creationId xmlns:a16="http://schemas.microsoft.com/office/drawing/2014/main" id="{3D2032BD-8774-416E-AFEE-827E56F888CD}"/>
              </a:ext>
            </a:extLst>
          </p:cNvPr>
          <p:cNvSpPr txBox="1"/>
          <p:nvPr/>
        </p:nvSpPr>
        <p:spPr>
          <a:xfrm>
            <a:off x="6844180" y="4047016"/>
            <a:ext cx="974690" cy="276999"/>
          </a:xfrm>
          <a:prstGeom prst="rect">
            <a:avLst/>
          </a:prstGeom>
          <a:noFill/>
        </p:spPr>
        <p:txBody>
          <a:bodyPr wrap="square" rtlCol="0">
            <a:spAutoFit/>
          </a:bodyPr>
          <a:lstStyle/>
          <a:p>
            <a:pPr algn="ctr"/>
            <a:r>
              <a:rPr lang="ja-JP" altLang="en-US" sz="1200" b="1" dirty="0">
                <a:latin typeface="メイリオ" panose="020B0604030504040204" pitchFamily="50" charset="-128"/>
                <a:ea typeface="メイリオ" panose="020B0604030504040204" pitchFamily="50" charset="-128"/>
              </a:rPr>
              <a:t>後面の筋肉</a:t>
            </a:r>
            <a:endParaRPr kumimoji="1" lang="ja-JP" altLang="en-US" sz="1200" b="1"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56C6CEDB-01BD-49B0-A007-78947852A564}"/>
              </a:ext>
            </a:extLst>
          </p:cNvPr>
          <p:cNvSpPr txBox="1"/>
          <p:nvPr/>
        </p:nvSpPr>
        <p:spPr>
          <a:xfrm>
            <a:off x="4949044" y="4047017"/>
            <a:ext cx="972072" cy="276999"/>
          </a:xfrm>
          <a:prstGeom prst="rect">
            <a:avLst/>
          </a:prstGeom>
          <a:noFill/>
        </p:spPr>
        <p:txBody>
          <a:bodyPr wrap="square" rtlCol="0">
            <a:spAutoFit/>
          </a:bodyPr>
          <a:lstStyle/>
          <a:p>
            <a:pPr algn="ctr"/>
            <a:r>
              <a:rPr lang="ja-JP" altLang="en-US" sz="1200" b="1" dirty="0">
                <a:latin typeface="メイリオ" panose="020B0604030504040204" pitchFamily="50" charset="-128"/>
                <a:ea typeface="メイリオ" panose="020B0604030504040204" pitchFamily="50" charset="-128"/>
              </a:rPr>
              <a:t>前面の筋肉</a:t>
            </a:r>
            <a:endParaRPr kumimoji="1" lang="ja-JP" altLang="en-US" sz="1200" b="1" dirty="0">
              <a:latin typeface="メイリオ" panose="020B0604030504040204" pitchFamily="50" charset="-128"/>
              <a:ea typeface="メイリオ" panose="020B0604030504040204" pitchFamily="50" charset="-128"/>
            </a:endParaRPr>
          </a:p>
        </p:txBody>
      </p:sp>
      <p:sp>
        <p:nvSpPr>
          <p:cNvPr id="50" name="楕円 49">
            <a:extLst>
              <a:ext uri="{FF2B5EF4-FFF2-40B4-BE49-F238E27FC236}">
                <a16:creationId xmlns:a16="http://schemas.microsoft.com/office/drawing/2014/main" id="{DAD5D763-463A-4A2C-BFD8-78B83F9A7EA0}"/>
              </a:ext>
            </a:extLst>
          </p:cNvPr>
          <p:cNvSpPr/>
          <p:nvPr/>
        </p:nvSpPr>
        <p:spPr>
          <a:xfrm>
            <a:off x="5448378" y="5066391"/>
            <a:ext cx="278741" cy="423579"/>
          </a:xfrm>
          <a:prstGeom prst="ellipse">
            <a:avLst/>
          </a:prstGeom>
          <a:noFill/>
          <a:ln w="9525">
            <a:solidFill>
              <a:srgbClr val="00206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dirty="0"/>
          </a:p>
        </p:txBody>
      </p:sp>
      <p:sp>
        <p:nvSpPr>
          <p:cNvPr id="51" name="矢印: 上 50">
            <a:extLst>
              <a:ext uri="{FF2B5EF4-FFF2-40B4-BE49-F238E27FC236}">
                <a16:creationId xmlns:a16="http://schemas.microsoft.com/office/drawing/2014/main" id="{3A703B42-0A66-4E76-A84F-9E5A88F42BA2}"/>
              </a:ext>
            </a:extLst>
          </p:cNvPr>
          <p:cNvSpPr/>
          <p:nvPr/>
        </p:nvSpPr>
        <p:spPr>
          <a:xfrm rot="18006218" flipH="1">
            <a:off x="4546789" y="3859236"/>
            <a:ext cx="173687" cy="978618"/>
          </a:xfrm>
          <a:prstGeom prst="upArrow">
            <a:avLst>
              <a:gd name="adj1" fmla="val 37275"/>
              <a:gd name="adj2" fmla="val 94537"/>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2" name="矢印: 上 51">
            <a:extLst>
              <a:ext uri="{FF2B5EF4-FFF2-40B4-BE49-F238E27FC236}">
                <a16:creationId xmlns:a16="http://schemas.microsoft.com/office/drawing/2014/main" id="{A2B87521-D875-4DB6-BAC0-1FA6F509025C}"/>
              </a:ext>
            </a:extLst>
          </p:cNvPr>
          <p:cNvSpPr/>
          <p:nvPr/>
        </p:nvSpPr>
        <p:spPr>
          <a:xfrm rot="14367962" flipH="1">
            <a:off x="4572259" y="5635691"/>
            <a:ext cx="189811" cy="1027343"/>
          </a:xfrm>
          <a:prstGeom prst="upArrow">
            <a:avLst>
              <a:gd name="adj1" fmla="val 31066"/>
              <a:gd name="adj2" fmla="val 83488"/>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3" name="矢印: 上 52">
            <a:extLst>
              <a:ext uri="{FF2B5EF4-FFF2-40B4-BE49-F238E27FC236}">
                <a16:creationId xmlns:a16="http://schemas.microsoft.com/office/drawing/2014/main" id="{4CFCD161-3D2F-40A6-9091-BBC1CB5416E1}"/>
              </a:ext>
            </a:extLst>
          </p:cNvPr>
          <p:cNvSpPr/>
          <p:nvPr/>
        </p:nvSpPr>
        <p:spPr>
          <a:xfrm rot="13793996" flipH="1">
            <a:off x="4587991" y="6492373"/>
            <a:ext cx="236494" cy="1157419"/>
          </a:xfrm>
          <a:prstGeom prst="upArrow">
            <a:avLst>
              <a:gd name="adj1" fmla="val 28572"/>
              <a:gd name="adj2" fmla="val 91392"/>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5" name="矢印: 上 54">
            <a:extLst>
              <a:ext uri="{FF2B5EF4-FFF2-40B4-BE49-F238E27FC236}">
                <a16:creationId xmlns:a16="http://schemas.microsoft.com/office/drawing/2014/main" id="{2AACCFE0-B00E-496A-A77F-B48A48D7B02E}"/>
              </a:ext>
            </a:extLst>
          </p:cNvPr>
          <p:cNvSpPr/>
          <p:nvPr/>
        </p:nvSpPr>
        <p:spPr>
          <a:xfrm rot="15931656" flipH="1">
            <a:off x="4731573" y="4726020"/>
            <a:ext cx="180570" cy="1180113"/>
          </a:xfrm>
          <a:prstGeom prst="upArrow">
            <a:avLst>
              <a:gd name="adj1" fmla="val 37996"/>
              <a:gd name="adj2" fmla="val 80009"/>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6" name="矢印: 上 55">
            <a:extLst>
              <a:ext uri="{FF2B5EF4-FFF2-40B4-BE49-F238E27FC236}">
                <a16:creationId xmlns:a16="http://schemas.microsoft.com/office/drawing/2014/main" id="{28E6489F-3293-4DAF-BB53-A59EF0219A0D}"/>
              </a:ext>
            </a:extLst>
          </p:cNvPr>
          <p:cNvSpPr/>
          <p:nvPr/>
        </p:nvSpPr>
        <p:spPr>
          <a:xfrm rot="3496225">
            <a:off x="8005060" y="3805047"/>
            <a:ext cx="205315" cy="1101344"/>
          </a:xfrm>
          <a:prstGeom prst="upArrow">
            <a:avLst>
              <a:gd name="adj1" fmla="val 32758"/>
              <a:gd name="adj2" fmla="val 96096"/>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7" name="矢印: 上 56">
            <a:extLst>
              <a:ext uri="{FF2B5EF4-FFF2-40B4-BE49-F238E27FC236}">
                <a16:creationId xmlns:a16="http://schemas.microsoft.com/office/drawing/2014/main" id="{809A1C8F-1CDB-42D7-8562-38E967FB4874}"/>
              </a:ext>
            </a:extLst>
          </p:cNvPr>
          <p:cNvSpPr/>
          <p:nvPr/>
        </p:nvSpPr>
        <p:spPr>
          <a:xfrm rot="5915836">
            <a:off x="7996432" y="4918652"/>
            <a:ext cx="216315" cy="1030208"/>
          </a:xfrm>
          <a:prstGeom prst="upArrow">
            <a:avLst>
              <a:gd name="adj1" fmla="val 31681"/>
              <a:gd name="adj2" fmla="val 10190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58" name="矢印: 上 57">
            <a:extLst>
              <a:ext uri="{FF2B5EF4-FFF2-40B4-BE49-F238E27FC236}">
                <a16:creationId xmlns:a16="http://schemas.microsoft.com/office/drawing/2014/main" id="{0042D3E8-791F-4C2D-B0A1-5C9474BF7ADF}"/>
              </a:ext>
            </a:extLst>
          </p:cNvPr>
          <p:cNvSpPr/>
          <p:nvPr/>
        </p:nvSpPr>
        <p:spPr>
          <a:xfrm rot="7671784">
            <a:off x="8007058" y="6427374"/>
            <a:ext cx="174184" cy="1286081"/>
          </a:xfrm>
          <a:prstGeom prst="upArrow">
            <a:avLst>
              <a:gd name="adj1" fmla="val 38500"/>
              <a:gd name="adj2" fmla="val 101834"/>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59" name="矢印: 上 58">
            <a:extLst>
              <a:ext uri="{FF2B5EF4-FFF2-40B4-BE49-F238E27FC236}">
                <a16:creationId xmlns:a16="http://schemas.microsoft.com/office/drawing/2014/main" id="{D31160A7-32C5-4E43-8C4B-7A3D4B20B5E8}"/>
              </a:ext>
            </a:extLst>
          </p:cNvPr>
          <p:cNvSpPr/>
          <p:nvPr/>
        </p:nvSpPr>
        <p:spPr>
          <a:xfrm rot="6540629">
            <a:off x="8031413" y="5725794"/>
            <a:ext cx="202627" cy="1086912"/>
          </a:xfrm>
          <a:prstGeom prst="upArrow">
            <a:avLst>
              <a:gd name="adj1" fmla="val 32666"/>
              <a:gd name="adj2" fmla="val 104576"/>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pic>
        <p:nvPicPr>
          <p:cNvPr id="62" name="図 61">
            <a:extLst>
              <a:ext uri="{FF2B5EF4-FFF2-40B4-BE49-F238E27FC236}">
                <a16:creationId xmlns:a16="http://schemas.microsoft.com/office/drawing/2014/main" id="{11F5798E-7F36-4F10-8353-4B6782FD729D}"/>
              </a:ext>
            </a:extLst>
          </p:cNvPr>
          <p:cNvPicPr>
            <a:picLocks noChangeAspect="1"/>
          </p:cNvPicPr>
          <p:nvPr/>
        </p:nvPicPr>
        <p:blipFill rotWithShape="1">
          <a:blip r:embed="rId4">
            <a:clrChange>
              <a:clrFrom>
                <a:srgbClr val="FFFFFF"/>
              </a:clrFrom>
              <a:clrTo>
                <a:srgbClr val="FFFFFF">
                  <a:alpha val="0"/>
                </a:srgbClr>
              </a:clrTo>
            </a:clrChange>
            <a:alphaModFix amt="66000"/>
          </a:blip>
          <a:srcRect t="19449" b="60505"/>
          <a:stretch/>
        </p:blipFill>
        <p:spPr>
          <a:xfrm>
            <a:off x="5880512" y="5852914"/>
            <a:ext cx="915410" cy="544365"/>
          </a:xfrm>
          <a:prstGeom prst="rect">
            <a:avLst/>
          </a:prstGeom>
        </p:spPr>
      </p:pic>
      <p:sp>
        <p:nvSpPr>
          <p:cNvPr id="63" name="テキスト ボックス 62">
            <a:extLst>
              <a:ext uri="{FF2B5EF4-FFF2-40B4-BE49-F238E27FC236}">
                <a16:creationId xmlns:a16="http://schemas.microsoft.com/office/drawing/2014/main" id="{70557EF8-D01E-4E88-AD0E-9267E7A201C3}"/>
              </a:ext>
            </a:extLst>
          </p:cNvPr>
          <p:cNvSpPr txBox="1"/>
          <p:nvPr/>
        </p:nvSpPr>
        <p:spPr>
          <a:xfrm>
            <a:off x="816623" y="8930917"/>
            <a:ext cx="8816896" cy="707886"/>
          </a:xfrm>
          <a:prstGeom prst="rect">
            <a:avLst/>
          </a:prstGeom>
          <a:noFill/>
          <a:ln>
            <a:noFill/>
          </a:ln>
        </p:spPr>
        <p:txBody>
          <a:bodyPr wrap="square">
            <a:spAutoFit/>
          </a:bodyPr>
          <a:lstStyle/>
          <a:p>
            <a:r>
              <a:rPr lang="ja-JP" altLang="en-US" sz="1200" dirty="0">
                <a:latin typeface="メイリオ" panose="020B0604030504040204" pitchFamily="50" charset="-128"/>
                <a:ea typeface="メイリオ" panose="020B0604030504040204" pitchFamily="50" charset="-128"/>
              </a:rPr>
              <a:t>各筋肉の転倒や骨折のリスクとの関係を、</a:t>
            </a:r>
            <a:r>
              <a:rPr lang="ja-JP" altLang="en-US" sz="1600" dirty="0">
                <a:latin typeface="メイリオ" panose="020B0604030504040204" pitchFamily="50" charset="-128"/>
                <a:ea typeface="メイリオ" panose="020B0604030504040204" pitchFamily="50" charset="-128"/>
              </a:rPr>
              <a:t>◎</a:t>
            </a:r>
            <a:r>
              <a:rPr lang="ja-JP" altLang="en-US" sz="1200" dirty="0">
                <a:latin typeface="メイリオ" panose="020B0604030504040204" pitchFamily="50" charset="-128"/>
                <a:ea typeface="メイリオ" panose="020B0604030504040204" pitchFamily="50" charset="-128"/>
              </a:rPr>
              <a:t>：強く関係あり　○：関係あり　△：間接的に関係あり、として示しています。このリスクは独自調査によるもので参考程度の利用にとどめてください。なお、膝</a:t>
            </a:r>
            <a:r>
              <a:rPr lang="en-US" altLang="ja-JP" sz="1200" dirty="0">
                <a:latin typeface="メイリオ" panose="020B0604030504040204" pitchFamily="50" charset="-128"/>
                <a:ea typeface="メイリオ" panose="020B0604030504040204" pitchFamily="50" charset="-128"/>
              </a:rPr>
              <a:t>OA</a:t>
            </a:r>
            <a:r>
              <a:rPr lang="ja-JP" altLang="en-US" sz="1200" dirty="0">
                <a:latin typeface="メイリオ" panose="020B0604030504040204" pitchFamily="50" charset="-128"/>
                <a:ea typeface="メイリオ" panose="020B0604030504040204" pitchFamily="50" charset="-128"/>
              </a:rPr>
              <a:t>は「変形性ひざ関節症」（膝の軟骨がすり減って痛みや変形が出てくる病気で、筋質の低下が発症や進行に関連すると言われています）のことです。</a:t>
            </a:r>
          </a:p>
        </p:txBody>
      </p:sp>
      <p:pic>
        <p:nvPicPr>
          <p:cNvPr id="64" name="図 63">
            <a:extLst>
              <a:ext uri="{FF2B5EF4-FFF2-40B4-BE49-F238E27FC236}">
                <a16:creationId xmlns:a16="http://schemas.microsoft.com/office/drawing/2014/main" id="{0905FF9B-14A8-4DEB-9AE3-7B93656BBBB4}"/>
              </a:ext>
            </a:extLst>
          </p:cNvPr>
          <p:cNvPicPr>
            <a:picLocks noChangeAspect="1"/>
          </p:cNvPicPr>
          <p:nvPr/>
        </p:nvPicPr>
        <p:blipFill>
          <a:blip r:embed="rId5"/>
          <a:stretch>
            <a:fillRect/>
          </a:stretch>
        </p:blipFill>
        <p:spPr>
          <a:xfrm>
            <a:off x="21808" y="2821605"/>
            <a:ext cx="4206618" cy="1908497"/>
          </a:xfrm>
          <a:prstGeom prst="rect">
            <a:avLst/>
          </a:prstGeom>
        </p:spPr>
      </p:pic>
      <p:pic>
        <p:nvPicPr>
          <p:cNvPr id="65" name="図 64">
            <a:extLst>
              <a:ext uri="{FF2B5EF4-FFF2-40B4-BE49-F238E27FC236}">
                <a16:creationId xmlns:a16="http://schemas.microsoft.com/office/drawing/2014/main" id="{DE659DB0-19B2-4DAF-A61D-DBC74519A516}"/>
              </a:ext>
            </a:extLst>
          </p:cNvPr>
          <p:cNvPicPr>
            <a:picLocks noChangeAspect="1"/>
          </p:cNvPicPr>
          <p:nvPr/>
        </p:nvPicPr>
        <p:blipFill>
          <a:blip r:embed="rId6"/>
          <a:stretch>
            <a:fillRect/>
          </a:stretch>
        </p:blipFill>
        <p:spPr>
          <a:xfrm>
            <a:off x="11512" y="4699638"/>
            <a:ext cx="4235543" cy="1347369"/>
          </a:xfrm>
          <a:prstGeom prst="rect">
            <a:avLst/>
          </a:prstGeom>
        </p:spPr>
      </p:pic>
      <p:pic>
        <p:nvPicPr>
          <p:cNvPr id="66" name="図 65">
            <a:extLst>
              <a:ext uri="{FF2B5EF4-FFF2-40B4-BE49-F238E27FC236}">
                <a16:creationId xmlns:a16="http://schemas.microsoft.com/office/drawing/2014/main" id="{15477B54-EE7C-43E4-A997-010C75B23A68}"/>
              </a:ext>
            </a:extLst>
          </p:cNvPr>
          <p:cNvPicPr>
            <a:picLocks noChangeAspect="1"/>
          </p:cNvPicPr>
          <p:nvPr/>
        </p:nvPicPr>
        <p:blipFill>
          <a:blip r:embed="rId7"/>
          <a:stretch>
            <a:fillRect/>
          </a:stretch>
        </p:blipFill>
        <p:spPr>
          <a:xfrm>
            <a:off x="-19321" y="6077549"/>
            <a:ext cx="4267589" cy="1207933"/>
          </a:xfrm>
          <a:prstGeom prst="rect">
            <a:avLst/>
          </a:prstGeom>
        </p:spPr>
      </p:pic>
      <p:pic>
        <p:nvPicPr>
          <p:cNvPr id="67" name="図 66">
            <a:extLst>
              <a:ext uri="{FF2B5EF4-FFF2-40B4-BE49-F238E27FC236}">
                <a16:creationId xmlns:a16="http://schemas.microsoft.com/office/drawing/2014/main" id="{1C6AF51D-09BB-4BA7-BFD4-794D7BEA5AD5}"/>
              </a:ext>
            </a:extLst>
          </p:cNvPr>
          <p:cNvPicPr>
            <a:picLocks noChangeAspect="1"/>
          </p:cNvPicPr>
          <p:nvPr/>
        </p:nvPicPr>
        <p:blipFill>
          <a:blip r:embed="rId8"/>
          <a:stretch>
            <a:fillRect/>
          </a:stretch>
        </p:blipFill>
        <p:spPr>
          <a:xfrm>
            <a:off x="-61460" y="7278475"/>
            <a:ext cx="4419957" cy="1242693"/>
          </a:xfrm>
          <a:prstGeom prst="rect">
            <a:avLst/>
          </a:prstGeom>
        </p:spPr>
      </p:pic>
      <p:pic>
        <p:nvPicPr>
          <p:cNvPr id="68" name="図 67">
            <a:extLst>
              <a:ext uri="{FF2B5EF4-FFF2-40B4-BE49-F238E27FC236}">
                <a16:creationId xmlns:a16="http://schemas.microsoft.com/office/drawing/2014/main" id="{30AD5E48-AE91-4FA3-BC50-027C4A960AEC}"/>
              </a:ext>
            </a:extLst>
          </p:cNvPr>
          <p:cNvPicPr>
            <a:picLocks noChangeAspect="1"/>
          </p:cNvPicPr>
          <p:nvPr/>
        </p:nvPicPr>
        <p:blipFill>
          <a:blip r:embed="rId9"/>
          <a:stretch>
            <a:fillRect/>
          </a:stretch>
        </p:blipFill>
        <p:spPr>
          <a:xfrm>
            <a:off x="4237518" y="2672184"/>
            <a:ext cx="4276367" cy="1188596"/>
          </a:xfrm>
          <a:prstGeom prst="rect">
            <a:avLst/>
          </a:prstGeom>
        </p:spPr>
      </p:pic>
      <p:pic>
        <p:nvPicPr>
          <p:cNvPr id="69" name="図 68">
            <a:extLst>
              <a:ext uri="{FF2B5EF4-FFF2-40B4-BE49-F238E27FC236}">
                <a16:creationId xmlns:a16="http://schemas.microsoft.com/office/drawing/2014/main" id="{5F7A97AA-BB0E-4AE3-8F96-0FB418790457}"/>
              </a:ext>
            </a:extLst>
          </p:cNvPr>
          <p:cNvPicPr>
            <a:picLocks noChangeAspect="1"/>
          </p:cNvPicPr>
          <p:nvPr/>
        </p:nvPicPr>
        <p:blipFill>
          <a:blip r:embed="rId10"/>
          <a:stretch>
            <a:fillRect/>
          </a:stretch>
        </p:blipFill>
        <p:spPr>
          <a:xfrm>
            <a:off x="4317176" y="7545507"/>
            <a:ext cx="4320830" cy="1220000"/>
          </a:xfrm>
          <a:prstGeom prst="rect">
            <a:avLst/>
          </a:prstGeom>
        </p:spPr>
      </p:pic>
      <p:pic>
        <p:nvPicPr>
          <p:cNvPr id="70" name="図 69">
            <a:extLst>
              <a:ext uri="{FF2B5EF4-FFF2-40B4-BE49-F238E27FC236}">
                <a16:creationId xmlns:a16="http://schemas.microsoft.com/office/drawing/2014/main" id="{0A38F122-D7AB-4B1A-A53A-8143BE0321E6}"/>
              </a:ext>
            </a:extLst>
          </p:cNvPr>
          <p:cNvPicPr>
            <a:picLocks noChangeAspect="1"/>
          </p:cNvPicPr>
          <p:nvPr/>
        </p:nvPicPr>
        <p:blipFill>
          <a:blip r:embed="rId11"/>
          <a:stretch>
            <a:fillRect/>
          </a:stretch>
        </p:blipFill>
        <p:spPr>
          <a:xfrm>
            <a:off x="8619688" y="4782555"/>
            <a:ext cx="4179399" cy="1237668"/>
          </a:xfrm>
          <a:prstGeom prst="rect">
            <a:avLst/>
          </a:prstGeom>
        </p:spPr>
      </p:pic>
      <p:pic>
        <p:nvPicPr>
          <p:cNvPr id="71" name="図 70">
            <a:extLst>
              <a:ext uri="{FF2B5EF4-FFF2-40B4-BE49-F238E27FC236}">
                <a16:creationId xmlns:a16="http://schemas.microsoft.com/office/drawing/2014/main" id="{710ED15B-19AA-45E1-AFA0-36F7E07AD1E6}"/>
              </a:ext>
            </a:extLst>
          </p:cNvPr>
          <p:cNvPicPr>
            <a:picLocks noChangeAspect="1"/>
          </p:cNvPicPr>
          <p:nvPr/>
        </p:nvPicPr>
        <p:blipFill>
          <a:blip r:embed="rId12"/>
          <a:stretch>
            <a:fillRect/>
          </a:stretch>
        </p:blipFill>
        <p:spPr>
          <a:xfrm>
            <a:off x="8581299" y="6069930"/>
            <a:ext cx="4224825" cy="1203335"/>
          </a:xfrm>
          <a:prstGeom prst="rect">
            <a:avLst/>
          </a:prstGeom>
        </p:spPr>
      </p:pic>
      <p:pic>
        <p:nvPicPr>
          <p:cNvPr id="72" name="図 71">
            <a:extLst>
              <a:ext uri="{FF2B5EF4-FFF2-40B4-BE49-F238E27FC236}">
                <a16:creationId xmlns:a16="http://schemas.microsoft.com/office/drawing/2014/main" id="{9CE6BC76-6967-4ADF-951B-88B877D307F1}"/>
              </a:ext>
            </a:extLst>
          </p:cNvPr>
          <p:cNvPicPr>
            <a:picLocks noChangeAspect="1"/>
          </p:cNvPicPr>
          <p:nvPr/>
        </p:nvPicPr>
        <p:blipFill>
          <a:blip r:embed="rId13"/>
          <a:stretch>
            <a:fillRect/>
          </a:stretch>
        </p:blipFill>
        <p:spPr>
          <a:xfrm>
            <a:off x="8579311" y="7401341"/>
            <a:ext cx="4257883" cy="1157345"/>
          </a:xfrm>
          <a:prstGeom prst="rect">
            <a:avLst/>
          </a:prstGeom>
        </p:spPr>
      </p:pic>
      <p:cxnSp>
        <p:nvCxnSpPr>
          <p:cNvPr id="73" name="直線コネクタ 72">
            <a:extLst>
              <a:ext uri="{FF2B5EF4-FFF2-40B4-BE49-F238E27FC236}">
                <a16:creationId xmlns:a16="http://schemas.microsoft.com/office/drawing/2014/main" id="{2A841F8B-30AE-4C70-AA3A-80A3E168E565}"/>
              </a:ext>
            </a:extLst>
          </p:cNvPr>
          <p:cNvCxnSpPr>
            <a:cxnSpLocks/>
          </p:cNvCxnSpPr>
          <p:nvPr/>
        </p:nvCxnSpPr>
        <p:spPr>
          <a:xfrm>
            <a:off x="2410777" y="2713650"/>
            <a:ext cx="1541600" cy="4710"/>
          </a:xfrm>
          <a:prstGeom prst="line">
            <a:avLst/>
          </a:prstGeom>
          <a:ln w="317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76" name="矢印: 上 75">
            <a:extLst>
              <a:ext uri="{FF2B5EF4-FFF2-40B4-BE49-F238E27FC236}">
                <a16:creationId xmlns:a16="http://schemas.microsoft.com/office/drawing/2014/main" id="{6446311F-E5CE-4308-9088-B2C2582B40E2}"/>
              </a:ext>
            </a:extLst>
          </p:cNvPr>
          <p:cNvSpPr/>
          <p:nvPr/>
        </p:nvSpPr>
        <p:spPr>
          <a:xfrm flipV="1">
            <a:off x="6288045" y="6397279"/>
            <a:ext cx="191964" cy="1130770"/>
          </a:xfrm>
          <a:prstGeom prst="upArrow">
            <a:avLst>
              <a:gd name="adj1" fmla="val 42782"/>
              <a:gd name="adj2" fmla="val 9567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pic>
        <p:nvPicPr>
          <p:cNvPr id="6" name="図 5">
            <a:extLst>
              <a:ext uri="{FF2B5EF4-FFF2-40B4-BE49-F238E27FC236}">
                <a16:creationId xmlns:a16="http://schemas.microsoft.com/office/drawing/2014/main" id="{79E163F2-3315-4A9C-A540-02440899F2C6}"/>
              </a:ext>
            </a:extLst>
          </p:cNvPr>
          <p:cNvPicPr>
            <a:picLocks noChangeAspect="1"/>
          </p:cNvPicPr>
          <p:nvPr/>
        </p:nvPicPr>
        <p:blipFill>
          <a:blip r:embed="rId14"/>
          <a:stretch>
            <a:fillRect/>
          </a:stretch>
        </p:blipFill>
        <p:spPr>
          <a:xfrm>
            <a:off x="5932401" y="4734483"/>
            <a:ext cx="865707" cy="804742"/>
          </a:xfrm>
          <a:prstGeom prst="rect">
            <a:avLst/>
          </a:prstGeom>
        </p:spPr>
      </p:pic>
      <p:sp>
        <p:nvSpPr>
          <p:cNvPr id="61" name="矢印: 上 60">
            <a:extLst>
              <a:ext uri="{FF2B5EF4-FFF2-40B4-BE49-F238E27FC236}">
                <a16:creationId xmlns:a16="http://schemas.microsoft.com/office/drawing/2014/main" id="{D7883AEC-383F-4A5C-B2C4-21FDFF2E9956}"/>
              </a:ext>
            </a:extLst>
          </p:cNvPr>
          <p:cNvSpPr/>
          <p:nvPr/>
        </p:nvSpPr>
        <p:spPr>
          <a:xfrm>
            <a:off x="6288046" y="3794483"/>
            <a:ext cx="191964" cy="994103"/>
          </a:xfrm>
          <a:prstGeom prst="upArrow">
            <a:avLst>
              <a:gd name="adj1" fmla="val 42782"/>
              <a:gd name="adj2" fmla="val 9567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74" name="テキスト ボックス 73">
            <a:extLst>
              <a:ext uri="{FF2B5EF4-FFF2-40B4-BE49-F238E27FC236}">
                <a16:creationId xmlns:a16="http://schemas.microsoft.com/office/drawing/2014/main" id="{EF4B2233-5F99-4A1C-BB9C-DB247B415A19}"/>
              </a:ext>
            </a:extLst>
          </p:cNvPr>
          <p:cNvSpPr txBox="1"/>
          <p:nvPr/>
        </p:nvSpPr>
        <p:spPr>
          <a:xfrm>
            <a:off x="3564642" y="258189"/>
            <a:ext cx="9059015" cy="430887"/>
          </a:xfrm>
          <a:prstGeom prst="rect">
            <a:avLst/>
          </a:prstGeom>
          <a:noFill/>
        </p:spPr>
        <p:txBody>
          <a:bodyPr wrap="square" rtlCol="0">
            <a:spAutoFit/>
          </a:bodyPr>
          <a:lstStyle/>
          <a:p>
            <a:pPr algn="r"/>
            <a:r>
              <a:rPr kumimoji="1" lang="ja-JP" altLang="en-US" sz="1100" dirty="0">
                <a:latin typeface="メイリオ" panose="020B0604030504040204" pitchFamily="50" charset="-128"/>
                <a:ea typeface="メイリオ" panose="020B0604030504040204" pitchFamily="50" charset="-128"/>
              </a:rPr>
              <a:t>お名前</a:t>
            </a:r>
            <a:r>
              <a:rPr kumimoji="1" lang="en-US" altLang="ja-JP" sz="1100" dirty="0">
                <a:latin typeface="メイリオ" panose="020B0604030504040204" pitchFamily="50" charset="-128"/>
                <a:ea typeface="メイリオ" panose="020B0604030504040204" pitchFamily="50" charset="-128"/>
              </a:rPr>
              <a:t>: {{NAME}}</a:t>
            </a:r>
            <a:r>
              <a:rPr kumimoji="1" lang="ja-JP" altLang="en-US" sz="1100" dirty="0">
                <a:latin typeface="メイリオ" panose="020B0604030504040204" pitchFamily="50" charset="-128"/>
                <a:ea typeface="メイリオ" panose="020B0604030504040204" pitchFamily="50" charset="-128"/>
              </a:rPr>
              <a:t>様</a:t>
            </a:r>
            <a:r>
              <a:rPr kumimoji="1" lang="en-US" altLang="ja-JP" sz="1100" dirty="0">
                <a:latin typeface="メイリオ" panose="020B0604030504040204" pitchFamily="50" charset="-128"/>
                <a:ea typeface="メイリオ" panose="020B0604030504040204" pitchFamily="50" charset="-128"/>
              </a:rPr>
              <a:t>, {{SEX}}, {{BIRTH_YEAR}}</a:t>
            </a:r>
            <a:r>
              <a:rPr kumimoji="1" lang="ja-JP" altLang="en-US" sz="1100" dirty="0">
                <a:latin typeface="メイリオ" panose="020B0604030504040204" pitchFamily="50" charset="-128"/>
                <a:ea typeface="メイリオ" panose="020B0604030504040204" pitchFamily="50" charset="-128"/>
              </a:rPr>
              <a:t>年</a:t>
            </a:r>
            <a:r>
              <a:rPr kumimoji="1" lang="en-US" altLang="ja-JP" sz="1100" dirty="0">
                <a:latin typeface="メイリオ" panose="020B0604030504040204" pitchFamily="50" charset="-128"/>
                <a:ea typeface="メイリオ" panose="020B0604030504040204" pitchFamily="50" charset="-128"/>
              </a:rPr>
              <a:t>{{BIRTH_MONTH}}</a:t>
            </a:r>
            <a:r>
              <a:rPr kumimoji="1" lang="ja-JP" altLang="en-US" sz="1100" dirty="0">
                <a:latin typeface="メイリオ" panose="020B0604030504040204" pitchFamily="50" charset="-128"/>
                <a:ea typeface="メイリオ" panose="020B0604030504040204" pitchFamily="50" charset="-128"/>
              </a:rPr>
              <a:t>月</a:t>
            </a:r>
            <a:r>
              <a:rPr kumimoji="1" lang="en-US" altLang="ja-JP" sz="1100" dirty="0">
                <a:latin typeface="メイリオ" panose="020B0604030504040204" pitchFamily="50" charset="-128"/>
                <a:ea typeface="メイリオ" panose="020B0604030504040204" pitchFamily="50" charset="-128"/>
              </a:rPr>
              <a:t>{{BIRTH_DAY}}</a:t>
            </a:r>
            <a:r>
              <a:rPr kumimoji="1" lang="ja-JP" altLang="en-US" sz="1100" dirty="0">
                <a:latin typeface="メイリオ" panose="020B0604030504040204" pitchFamily="50" charset="-128"/>
                <a:ea typeface="メイリオ" panose="020B0604030504040204" pitchFamily="50" charset="-128"/>
              </a:rPr>
              <a:t>日生</a:t>
            </a:r>
            <a:r>
              <a:rPr kumimoji="1" lang="en-US" altLang="ja-JP" sz="1100" dirty="0">
                <a:latin typeface="メイリオ" panose="020B0604030504040204" pitchFamily="50" charset="-128"/>
                <a:ea typeface="メイリオ" panose="020B0604030504040204" pitchFamily="50" charset="-128"/>
              </a:rPr>
              <a:t>,  </a:t>
            </a:r>
            <a:r>
              <a:rPr kumimoji="1" lang="ja-JP" altLang="en-US" sz="1100" dirty="0">
                <a:latin typeface="メイリオ" panose="020B0604030504040204" pitchFamily="50" charset="-128"/>
                <a:ea typeface="メイリオ" panose="020B0604030504040204" pitchFamily="50" charset="-128"/>
              </a:rPr>
              <a:t>身長</a:t>
            </a:r>
            <a:r>
              <a:rPr kumimoji="1" lang="en-US" altLang="ja-JP" sz="1100" dirty="0">
                <a:latin typeface="メイリオ" panose="020B0604030504040204" pitchFamily="50" charset="-128"/>
                <a:ea typeface="メイリオ" panose="020B0604030504040204" pitchFamily="50" charset="-128"/>
              </a:rPr>
              <a:t>: {{HEIGHT}}cm, </a:t>
            </a:r>
            <a:r>
              <a:rPr kumimoji="1" lang="ja-JP" altLang="en-US" sz="1100" dirty="0">
                <a:latin typeface="メイリオ" panose="020B0604030504040204" pitchFamily="50" charset="-128"/>
                <a:ea typeface="メイリオ" panose="020B0604030504040204" pitchFamily="50" charset="-128"/>
              </a:rPr>
              <a:t>体重</a:t>
            </a:r>
            <a:r>
              <a:rPr kumimoji="1" lang="en-US" altLang="ja-JP" sz="1100" dirty="0">
                <a:latin typeface="メイリオ" panose="020B0604030504040204" pitchFamily="50" charset="-128"/>
                <a:ea typeface="メイリオ" panose="020B0604030504040204" pitchFamily="50" charset="-128"/>
              </a:rPr>
              <a:t>: {{WEIGHT}}kg, </a:t>
            </a:r>
            <a:r>
              <a:rPr kumimoji="1" lang="ja-JP" altLang="en-US" sz="1100" dirty="0">
                <a:latin typeface="メイリオ" panose="020B0604030504040204" pitchFamily="50" charset="-128"/>
                <a:ea typeface="メイリオ" panose="020B0604030504040204" pitchFamily="50" charset="-128"/>
              </a:rPr>
              <a:t>撮影時年齢 </a:t>
            </a:r>
            <a:r>
              <a:rPr kumimoji="1" lang="en-US" altLang="ja-JP" sz="1100" dirty="0">
                <a:latin typeface="メイリオ" panose="020B0604030504040204" pitchFamily="50" charset="-128"/>
                <a:ea typeface="メイリオ" panose="020B0604030504040204" pitchFamily="50" charset="-128"/>
              </a:rPr>
              <a:t>{{AGE}}</a:t>
            </a:r>
            <a:r>
              <a:rPr kumimoji="1" lang="ja-JP" altLang="en-US" sz="1100" dirty="0">
                <a:latin typeface="メイリオ" panose="020B0604030504040204" pitchFamily="50" charset="-128"/>
                <a:ea typeface="メイリオ" panose="020B0604030504040204" pitchFamily="50" charset="-128"/>
              </a:rPr>
              <a:t>歳 </a:t>
            </a:r>
            <a:r>
              <a:rPr kumimoji="1" lang="en-US" altLang="ja-JP" sz="1100" dirty="0">
                <a:latin typeface="メイリオ" panose="020B0604030504040204" pitchFamily="50" charset="-128"/>
                <a:ea typeface="メイリオ" panose="020B0604030504040204" pitchFamily="50" charset="-128"/>
              </a:rPr>
              <a:t>({{SHOOTING_YEAR}}</a:t>
            </a:r>
            <a:r>
              <a:rPr kumimoji="1" lang="ja-JP" altLang="en-US" sz="1100" dirty="0">
                <a:latin typeface="メイリオ" panose="020B0604030504040204" pitchFamily="50" charset="-128"/>
                <a:ea typeface="メイリオ" panose="020B0604030504040204" pitchFamily="50" charset="-128"/>
              </a:rPr>
              <a:t>年</a:t>
            </a:r>
            <a:r>
              <a:rPr kumimoji="1" lang="en-US" altLang="ja-JP" sz="1100" dirty="0">
                <a:latin typeface="メイリオ" panose="020B0604030504040204" pitchFamily="50" charset="-128"/>
                <a:ea typeface="メイリオ" panose="020B0604030504040204" pitchFamily="50" charset="-128"/>
              </a:rPr>
              <a:t>{{SHOOTING_MONTH}}</a:t>
            </a:r>
            <a:r>
              <a:rPr kumimoji="1" lang="ja-JP" altLang="en-US" sz="1100" dirty="0">
                <a:latin typeface="メイリオ" panose="020B0604030504040204" pitchFamily="50" charset="-128"/>
                <a:ea typeface="メイリオ" panose="020B0604030504040204" pitchFamily="50" charset="-128"/>
              </a:rPr>
              <a:t>月</a:t>
            </a:r>
            <a:r>
              <a:rPr kumimoji="1" lang="en-US" altLang="ja-JP" sz="1100" dirty="0">
                <a:latin typeface="メイリオ" panose="020B0604030504040204" pitchFamily="50" charset="-128"/>
                <a:ea typeface="メイリオ" panose="020B0604030504040204" pitchFamily="50" charset="-128"/>
              </a:rPr>
              <a:t>{{SHOOTING_DAY}}</a:t>
            </a:r>
            <a:r>
              <a:rPr kumimoji="1" lang="ja-JP" altLang="en-US" sz="1100" dirty="0">
                <a:latin typeface="メイリオ" panose="020B0604030504040204" pitchFamily="50" charset="-128"/>
                <a:ea typeface="メイリオ" panose="020B0604030504040204" pitchFamily="50" charset="-128"/>
              </a:rPr>
              <a:t>日撮影</a:t>
            </a:r>
            <a:r>
              <a:rPr kumimoji="1" lang="en-US" altLang="ja-JP" sz="1100" dirty="0">
                <a:latin typeface="メイリオ" panose="020B0604030504040204" pitchFamily="50" charset="-128"/>
                <a:ea typeface="メイリオ" panose="020B0604030504040204" pitchFamily="50" charset="-128"/>
              </a:rPr>
              <a:t>) </a:t>
            </a:r>
            <a:endParaRPr kumimoji="1" lang="ja-JP" altLang="en-US" sz="1100" dirty="0">
              <a:latin typeface="メイリオ" panose="020B0604030504040204" pitchFamily="50" charset="-128"/>
              <a:ea typeface="メイリオ" panose="020B0604030504040204" pitchFamily="50" charset="-128"/>
            </a:endParaRPr>
          </a:p>
        </p:txBody>
      </p:sp>
      <p:sp>
        <p:nvSpPr>
          <p:cNvPr id="2" name="スライド番号プレースホルダー 1">
            <a:extLst>
              <a:ext uri="{FF2B5EF4-FFF2-40B4-BE49-F238E27FC236}">
                <a16:creationId xmlns:a16="http://schemas.microsoft.com/office/drawing/2014/main" id="{9D89FA5C-D34E-41F5-B1A4-822D9417154D}"/>
              </a:ext>
            </a:extLst>
          </p:cNvPr>
          <p:cNvSpPr>
            <a:spLocks noGrp="1"/>
          </p:cNvSpPr>
          <p:nvPr>
            <p:ph type="sldNum" sz="quarter" idx="12"/>
          </p:nvPr>
        </p:nvSpPr>
        <p:spPr/>
        <p:txBody>
          <a:bodyPr/>
          <a:lstStyle/>
          <a:p>
            <a:fld id="{AD811822-4739-4079-91F6-9F51ED4B0761}" type="slidenum">
              <a:rPr kumimoji="1" lang="ja-JP" altLang="en-US" smtClean="0"/>
              <a:t>1</a:t>
            </a:fld>
            <a:endParaRPr kumimoji="1" lang="ja-JP" altLang="en-US"/>
          </a:p>
        </p:txBody>
      </p:sp>
      <p:grpSp>
        <p:nvGrpSpPr>
          <p:cNvPr id="97" name="グループ化 96">
            <a:extLst>
              <a:ext uri="{FF2B5EF4-FFF2-40B4-BE49-F238E27FC236}">
                <a16:creationId xmlns:a16="http://schemas.microsoft.com/office/drawing/2014/main" id="{87801509-4901-44D0-8FD8-121BC3507531}"/>
              </a:ext>
            </a:extLst>
          </p:cNvPr>
          <p:cNvGrpSpPr/>
          <p:nvPr/>
        </p:nvGrpSpPr>
        <p:grpSpPr>
          <a:xfrm>
            <a:off x="10593307" y="9176977"/>
            <a:ext cx="2203720" cy="406521"/>
            <a:chOff x="4454891" y="1886449"/>
            <a:chExt cx="2203720" cy="406521"/>
          </a:xfrm>
        </p:grpSpPr>
        <p:pic>
          <p:nvPicPr>
            <p:cNvPr id="98" name="図 97">
              <a:extLst>
                <a:ext uri="{FF2B5EF4-FFF2-40B4-BE49-F238E27FC236}">
                  <a16:creationId xmlns:a16="http://schemas.microsoft.com/office/drawing/2014/main" id="{5D963E45-9762-4793-9381-B1A4CB1D0C69}"/>
                </a:ext>
              </a:extLst>
            </p:cNvPr>
            <p:cNvPicPr>
              <a:picLocks noChangeAspect="1"/>
            </p:cNvPicPr>
            <p:nvPr/>
          </p:nvPicPr>
          <p:blipFill>
            <a:blip r:embed="rId15"/>
            <a:stretch>
              <a:fillRect/>
            </a:stretch>
          </p:blipFill>
          <p:spPr>
            <a:xfrm>
              <a:off x="6235997" y="1889545"/>
              <a:ext cx="422614" cy="400328"/>
            </a:xfrm>
            <a:prstGeom prst="rect">
              <a:avLst/>
            </a:prstGeom>
          </p:spPr>
        </p:pic>
        <p:pic>
          <p:nvPicPr>
            <p:cNvPr id="99" name="Picture 8">
              <a:extLst>
                <a:ext uri="{FF2B5EF4-FFF2-40B4-BE49-F238E27FC236}">
                  <a16:creationId xmlns:a16="http://schemas.microsoft.com/office/drawing/2014/main" id="{370ABE4A-A875-43EE-BF05-5AAE1AB5984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30846" y="1924681"/>
              <a:ext cx="475231" cy="330056"/>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10">
              <a:extLst>
                <a:ext uri="{FF2B5EF4-FFF2-40B4-BE49-F238E27FC236}">
                  <a16:creationId xmlns:a16="http://schemas.microsoft.com/office/drawing/2014/main" id="{0BF0F718-7761-4535-BBC6-0CEEE56E8DF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57415" y="1886449"/>
              <a:ext cx="403424" cy="403424"/>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12">
              <a:extLst>
                <a:ext uri="{FF2B5EF4-FFF2-40B4-BE49-F238E27FC236}">
                  <a16:creationId xmlns:a16="http://schemas.microsoft.com/office/drawing/2014/main" id="{CCA362B5-7C2C-41C4-BB01-1ACA06314ABD}"/>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54891" y="1924681"/>
              <a:ext cx="356191" cy="351311"/>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14" descr="コーポレートアイデンティティ（CI）｜洛和会ヘルスケアシステム">
              <a:extLst>
                <a:ext uri="{FF2B5EF4-FFF2-40B4-BE49-F238E27FC236}">
                  <a16:creationId xmlns:a16="http://schemas.microsoft.com/office/drawing/2014/main" id="{5887EB9D-F3E9-4896-9359-A6BB9DC1DB3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307172" y="1889545"/>
              <a:ext cx="358599" cy="403425"/>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IMG: 08">
            <a:extLst>
              <a:ext uri="{FF2B5EF4-FFF2-40B4-BE49-F238E27FC236}">
                <a16:creationId xmlns:a16="http://schemas.microsoft.com/office/drawing/2014/main" id="{D6CB213B-AFD9-F992-0642-F998524386D8}"/>
              </a:ext>
            </a:extLst>
          </p:cNvPr>
          <p:cNvSpPr/>
          <p:nvPr/>
        </p:nvSpPr>
        <p:spPr>
          <a:xfrm>
            <a:off x="10069975" y="4844704"/>
            <a:ext cx="1781374" cy="63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IMG: 01">
            <a:extLst>
              <a:ext uri="{FF2B5EF4-FFF2-40B4-BE49-F238E27FC236}">
                <a16:creationId xmlns:a16="http://schemas.microsoft.com/office/drawing/2014/main" id="{7E80CB1E-73D9-34DE-02A1-11D08D811AD7}"/>
              </a:ext>
            </a:extLst>
          </p:cNvPr>
          <p:cNvSpPr/>
          <p:nvPr/>
        </p:nvSpPr>
        <p:spPr>
          <a:xfrm>
            <a:off x="2313632" y="2862483"/>
            <a:ext cx="1821600" cy="1296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IMG: 02">
            <a:extLst>
              <a:ext uri="{FF2B5EF4-FFF2-40B4-BE49-F238E27FC236}">
                <a16:creationId xmlns:a16="http://schemas.microsoft.com/office/drawing/2014/main" id="{912D8C69-9382-0B7E-1436-43C2B24D0530}"/>
              </a:ext>
            </a:extLst>
          </p:cNvPr>
          <p:cNvSpPr/>
          <p:nvPr/>
        </p:nvSpPr>
        <p:spPr>
          <a:xfrm>
            <a:off x="2332726" y="4764297"/>
            <a:ext cx="1854680" cy="7749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IMG: 03">
            <a:extLst>
              <a:ext uri="{FF2B5EF4-FFF2-40B4-BE49-F238E27FC236}">
                <a16:creationId xmlns:a16="http://schemas.microsoft.com/office/drawing/2014/main" id="{F6871BCB-A96D-318D-7FCE-39D077F4FBD2}"/>
              </a:ext>
            </a:extLst>
          </p:cNvPr>
          <p:cNvSpPr/>
          <p:nvPr/>
        </p:nvSpPr>
        <p:spPr>
          <a:xfrm>
            <a:off x="2355896" y="6150980"/>
            <a:ext cx="1817488" cy="61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IMG: 04">
            <a:extLst>
              <a:ext uri="{FF2B5EF4-FFF2-40B4-BE49-F238E27FC236}">
                <a16:creationId xmlns:a16="http://schemas.microsoft.com/office/drawing/2014/main" id="{C9953A61-4759-9EF6-D51B-2AD2A4BA98C8}"/>
              </a:ext>
            </a:extLst>
          </p:cNvPr>
          <p:cNvSpPr/>
          <p:nvPr/>
        </p:nvSpPr>
        <p:spPr>
          <a:xfrm>
            <a:off x="2221937" y="7332717"/>
            <a:ext cx="1965468" cy="6472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IMG: 05">
            <a:extLst>
              <a:ext uri="{FF2B5EF4-FFF2-40B4-BE49-F238E27FC236}">
                <a16:creationId xmlns:a16="http://schemas.microsoft.com/office/drawing/2014/main" id="{0BCD363F-66BD-AD4A-D876-A1CCBCC3486F}"/>
              </a:ext>
            </a:extLst>
          </p:cNvPr>
          <p:cNvSpPr/>
          <p:nvPr/>
        </p:nvSpPr>
        <p:spPr>
          <a:xfrm>
            <a:off x="5668778" y="2717104"/>
            <a:ext cx="1773743" cy="595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IMG: 06">
            <a:extLst>
              <a:ext uri="{FF2B5EF4-FFF2-40B4-BE49-F238E27FC236}">
                <a16:creationId xmlns:a16="http://schemas.microsoft.com/office/drawing/2014/main" id="{8BF0AE7C-A72B-9BF7-4937-4C7CE66EC497}"/>
              </a:ext>
            </a:extLst>
          </p:cNvPr>
          <p:cNvSpPr/>
          <p:nvPr/>
        </p:nvSpPr>
        <p:spPr>
          <a:xfrm>
            <a:off x="5569422" y="7577999"/>
            <a:ext cx="1773743" cy="7340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IMG: 07">
            <a:extLst>
              <a:ext uri="{FF2B5EF4-FFF2-40B4-BE49-F238E27FC236}">
                <a16:creationId xmlns:a16="http://schemas.microsoft.com/office/drawing/2014/main" id="{1BCD05C3-D2A7-D00D-8B61-73E03E6113CD}"/>
              </a:ext>
            </a:extLst>
          </p:cNvPr>
          <p:cNvSpPr/>
          <p:nvPr/>
        </p:nvSpPr>
        <p:spPr>
          <a:xfrm>
            <a:off x="9975241" y="2893822"/>
            <a:ext cx="1773743" cy="13432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IMG: 09">
            <a:extLst>
              <a:ext uri="{FF2B5EF4-FFF2-40B4-BE49-F238E27FC236}">
                <a16:creationId xmlns:a16="http://schemas.microsoft.com/office/drawing/2014/main" id="{D4C3FA08-D221-F58E-3CDD-6E9B5F7F6D4C}"/>
              </a:ext>
            </a:extLst>
          </p:cNvPr>
          <p:cNvSpPr/>
          <p:nvPr/>
        </p:nvSpPr>
        <p:spPr>
          <a:xfrm>
            <a:off x="9996617" y="6142983"/>
            <a:ext cx="1854732" cy="6199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IMG: 10">
            <a:extLst>
              <a:ext uri="{FF2B5EF4-FFF2-40B4-BE49-F238E27FC236}">
                <a16:creationId xmlns:a16="http://schemas.microsoft.com/office/drawing/2014/main" id="{D3AD964A-D3EE-77E3-80C3-BCD9A83F2E85}"/>
              </a:ext>
            </a:extLst>
          </p:cNvPr>
          <p:cNvSpPr/>
          <p:nvPr/>
        </p:nvSpPr>
        <p:spPr>
          <a:xfrm>
            <a:off x="9975241" y="7528049"/>
            <a:ext cx="1854732" cy="5488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IMG: 15">
            <a:extLst>
              <a:ext uri="{FF2B5EF4-FFF2-40B4-BE49-F238E27FC236}">
                <a16:creationId xmlns:a16="http://schemas.microsoft.com/office/drawing/2014/main" id="{820AA1A1-5C4B-6E73-A9B2-E31DD6D8D9DE}"/>
              </a:ext>
            </a:extLst>
          </p:cNvPr>
          <p:cNvSpPr/>
          <p:nvPr/>
        </p:nvSpPr>
        <p:spPr>
          <a:xfrm>
            <a:off x="88477" y="2856575"/>
            <a:ext cx="933740" cy="1573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 name="IMG: 16">
            <a:extLst>
              <a:ext uri="{FF2B5EF4-FFF2-40B4-BE49-F238E27FC236}">
                <a16:creationId xmlns:a16="http://schemas.microsoft.com/office/drawing/2014/main" id="{6A5D5009-3922-BE25-822A-050277B41BC9}"/>
              </a:ext>
            </a:extLst>
          </p:cNvPr>
          <p:cNvSpPr/>
          <p:nvPr/>
        </p:nvSpPr>
        <p:spPr>
          <a:xfrm>
            <a:off x="75464" y="4714597"/>
            <a:ext cx="933740" cy="106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 name="IMG: 17">
            <a:extLst>
              <a:ext uri="{FF2B5EF4-FFF2-40B4-BE49-F238E27FC236}">
                <a16:creationId xmlns:a16="http://schemas.microsoft.com/office/drawing/2014/main" id="{EA8AA3B4-2EAA-9B62-FD42-DB8C3061EBAE}"/>
              </a:ext>
            </a:extLst>
          </p:cNvPr>
          <p:cNvSpPr/>
          <p:nvPr/>
        </p:nvSpPr>
        <p:spPr>
          <a:xfrm>
            <a:off x="111172" y="6084863"/>
            <a:ext cx="839079" cy="9447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IMG: 18">
            <a:extLst>
              <a:ext uri="{FF2B5EF4-FFF2-40B4-BE49-F238E27FC236}">
                <a16:creationId xmlns:a16="http://schemas.microsoft.com/office/drawing/2014/main" id="{BA8B9A90-1355-302E-0777-3DC4F1A63258}"/>
              </a:ext>
            </a:extLst>
          </p:cNvPr>
          <p:cNvSpPr/>
          <p:nvPr/>
        </p:nvSpPr>
        <p:spPr>
          <a:xfrm>
            <a:off x="88477" y="7303599"/>
            <a:ext cx="839079" cy="936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1" name="IMG: 19">
            <a:extLst>
              <a:ext uri="{FF2B5EF4-FFF2-40B4-BE49-F238E27FC236}">
                <a16:creationId xmlns:a16="http://schemas.microsoft.com/office/drawing/2014/main" id="{994714D8-5641-0842-B962-2BF80CF2A81C}"/>
              </a:ext>
            </a:extLst>
          </p:cNvPr>
          <p:cNvSpPr/>
          <p:nvPr/>
        </p:nvSpPr>
        <p:spPr>
          <a:xfrm>
            <a:off x="7350900" y="2700633"/>
            <a:ext cx="1150324" cy="10654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IMG: 20">
            <a:extLst>
              <a:ext uri="{FF2B5EF4-FFF2-40B4-BE49-F238E27FC236}">
                <a16:creationId xmlns:a16="http://schemas.microsoft.com/office/drawing/2014/main" id="{A3942CAB-43BE-081F-DE04-7717EFCE5964}"/>
              </a:ext>
            </a:extLst>
          </p:cNvPr>
          <p:cNvSpPr/>
          <p:nvPr/>
        </p:nvSpPr>
        <p:spPr>
          <a:xfrm>
            <a:off x="7350901" y="7566751"/>
            <a:ext cx="1162984" cy="10367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4" name="IMG: 21">
            <a:extLst>
              <a:ext uri="{FF2B5EF4-FFF2-40B4-BE49-F238E27FC236}">
                <a16:creationId xmlns:a16="http://schemas.microsoft.com/office/drawing/2014/main" id="{9ED86AE3-862B-6DC8-3127-A6C93337204A}"/>
              </a:ext>
            </a:extLst>
          </p:cNvPr>
          <p:cNvSpPr/>
          <p:nvPr/>
        </p:nvSpPr>
        <p:spPr>
          <a:xfrm>
            <a:off x="11748984" y="2890517"/>
            <a:ext cx="933740" cy="15570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IMG: 22">
            <a:extLst>
              <a:ext uri="{FF2B5EF4-FFF2-40B4-BE49-F238E27FC236}">
                <a16:creationId xmlns:a16="http://schemas.microsoft.com/office/drawing/2014/main" id="{376276C2-D82C-7233-FD71-2D8730B6CBBD}"/>
              </a:ext>
            </a:extLst>
          </p:cNvPr>
          <p:cNvSpPr/>
          <p:nvPr/>
        </p:nvSpPr>
        <p:spPr>
          <a:xfrm>
            <a:off x="11784676" y="4800600"/>
            <a:ext cx="933740" cy="9551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6" name="IMG: 23">
            <a:extLst>
              <a:ext uri="{FF2B5EF4-FFF2-40B4-BE49-F238E27FC236}">
                <a16:creationId xmlns:a16="http://schemas.microsoft.com/office/drawing/2014/main" id="{BDB55272-432F-EBBE-C189-DE320AA1898F}"/>
              </a:ext>
            </a:extLst>
          </p:cNvPr>
          <p:cNvSpPr/>
          <p:nvPr/>
        </p:nvSpPr>
        <p:spPr>
          <a:xfrm>
            <a:off x="11775598" y="6077548"/>
            <a:ext cx="933740" cy="926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IMG: 24">
            <a:extLst>
              <a:ext uri="{FF2B5EF4-FFF2-40B4-BE49-F238E27FC236}">
                <a16:creationId xmlns:a16="http://schemas.microsoft.com/office/drawing/2014/main" id="{F10C7E35-D263-2EB1-1B18-57EA252772CB}"/>
              </a:ext>
            </a:extLst>
          </p:cNvPr>
          <p:cNvSpPr/>
          <p:nvPr/>
        </p:nvSpPr>
        <p:spPr>
          <a:xfrm>
            <a:off x="11752412" y="7419131"/>
            <a:ext cx="933740" cy="9570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 name="IMG: 13">
            <a:extLst>
              <a:ext uri="{FF2B5EF4-FFF2-40B4-BE49-F238E27FC236}">
                <a16:creationId xmlns:a16="http://schemas.microsoft.com/office/drawing/2014/main" id="{55E4D7CF-5FA2-8ACE-5D70-009DA61ADEAD}"/>
              </a:ext>
            </a:extLst>
          </p:cNvPr>
          <p:cNvSpPr/>
          <p:nvPr/>
        </p:nvSpPr>
        <p:spPr>
          <a:xfrm>
            <a:off x="5991971" y="4799799"/>
            <a:ext cx="764415" cy="7506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IMG: 14">
            <a:extLst>
              <a:ext uri="{FF2B5EF4-FFF2-40B4-BE49-F238E27FC236}">
                <a16:creationId xmlns:a16="http://schemas.microsoft.com/office/drawing/2014/main" id="{D0030119-1A12-B68F-A77F-A49A6D00CD8B}"/>
              </a:ext>
            </a:extLst>
          </p:cNvPr>
          <p:cNvSpPr/>
          <p:nvPr/>
        </p:nvSpPr>
        <p:spPr>
          <a:xfrm>
            <a:off x="5947809" y="5806898"/>
            <a:ext cx="831410" cy="7506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0" name="IMG: 11">
            <a:extLst>
              <a:ext uri="{FF2B5EF4-FFF2-40B4-BE49-F238E27FC236}">
                <a16:creationId xmlns:a16="http://schemas.microsoft.com/office/drawing/2014/main" id="{59785D2E-C99F-F691-E8D5-B9B96DFACE05}"/>
              </a:ext>
            </a:extLst>
          </p:cNvPr>
          <p:cNvSpPr/>
          <p:nvPr/>
        </p:nvSpPr>
        <p:spPr>
          <a:xfrm>
            <a:off x="4790567" y="4342919"/>
            <a:ext cx="1293570" cy="30584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FA8B9963-EAF9-02B4-DE6E-E0B9C5CB015D}"/>
              </a:ext>
            </a:extLst>
          </p:cNvPr>
          <p:cNvSpPr txBox="1"/>
          <p:nvPr/>
        </p:nvSpPr>
        <p:spPr>
          <a:xfrm>
            <a:off x="2081606" y="2569264"/>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低</a:t>
            </a:r>
          </a:p>
        </p:txBody>
      </p:sp>
      <p:sp>
        <p:nvSpPr>
          <p:cNvPr id="31" name="テキスト ボックス 30">
            <a:extLst>
              <a:ext uri="{FF2B5EF4-FFF2-40B4-BE49-F238E27FC236}">
                <a16:creationId xmlns:a16="http://schemas.microsoft.com/office/drawing/2014/main" id="{50932A1F-6F27-7B6D-3C06-92EBF3DDC6A6}"/>
              </a:ext>
            </a:extLst>
          </p:cNvPr>
          <p:cNvSpPr txBox="1"/>
          <p:nvPr/>
        </p:nvSpPr>
        <p:spPr>
          <a:xfrm>
            <a:off x="3936724" y="2582740"/>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高</a:t>
            </a:r>
          </a:p>
        </p:txBody>
      </p:sp>
      <p:cxnSp>
        <p:nvCxnSpPr>
          <p:cNvPr id="34" name="直線コネクタ 33">
            <a:extLst>
              <a:ext uri="{FF2B5EF4-FFF2-40B4-BE49-F238E27FC236}">
                <a16:creationId xmlns:a16="http://schemas.microsoft.com/office/drawing/2014/main" id="{F4412648-005D-F887-A515-0B81A9BDED90}"/>
              </a:ext>
            </a:extLst>
          </p:cNvPr>
          <p:cNvCxnSpPr>
            <a:cxnSpLocks/>
          </p:cNvCxnSpPr>
          <p:nvPr/>
        </p:nvCxnSpPr>
        <p:spPr>
          <a:xfrm>
            <a:off x="10067550" y="2714749"/>
            <a:ext cx="1541600" cy="4710"/>
          </a:xfrm>
          <a:prstGeom prst="line">
            <a:avLst/>
          </a:prstGeom>
          <a:ln w="317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2680972E-5381-C35C-D4EB-6518C6F8D38D}"/>
              </a:ext>
            </a:extLst>
          </p:cNvPr>
          <p:cNvSpPr txBox="1"/>
          <p:nvPr/>
        </p:nvSpPr>
        <p:spPr>
          <a:xfrm>
            <a:off x="9738379" y="2570363"/>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低</a:t>
            </a:r>
          </a:p>
        </p:txBody>
      </p:sp>
      <p:sp>
        <p:nvSpPr>
          <p:cNvPr id="36" name="テキスト ボックス 35">
            <a:extLst>
              <a:ext uri="{FF2B5EF4-FFF2-40B4-BE49-F238E27FC236}">
                <a16:creationId xmlns:a16="http://schemas.microsoft.com/office/drawing/2014/main" id="{52B778B3-8E48-B2FD-12E1-DCF6ED0CB01A}"/>
              </a:ext>
            </a:extLst>
          </p:cNvPr>
          <p:cNvSpPr txBox="1"/>
          <p:nvPr/>
        </p:nvSpPr>
        <p:spPr>
          <a:xfrm>
            <a:off x="11593497" y="2583839"/>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高</a:t>
            </a:r>
          </a:p>
        </p:txBody>
      </p:sp>
      <p:sp>
        <p:nvSpPr>
          <p:cNvPr id="23" name="IMG: 12">
            <a:extLst>
              <a:ext uri="{FF2B5EF4-FFF2-40B4-BE49-F238E27FC236}">
                <a16:creationId xmlns:a16="http://schemas.microsoft.com/office/drawing/2014/main" id="{F18EEE64-4594-7984-1023-DFC28D44D2DD}"/>
              </a:ext>
            </a:extLst>
          </p:cNvPr>
          <p:cNvSpPr/>
          <p:nvPr/>
        </p:nvSpPr>
        <p:spPr>
          <a:xfrm>
            <a:off x="6773443" y="4342919"/>
            <a:ext cx="1293570" cy="30584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28AB25E6-AC81-7668-BA18-93FB6723B3B0}"/>
              </a:ext>
            </a:extLst>
          </p:cNvPr>
          <p:cNvSpPr/>
          <p:nvPr/>
        </p:nvSpPr>
        <p:spPr>
          <a:xfrm>
            <a:off x="4395615" y="8344588"/>
            <a:ext cx="3107809" cy="1430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Meiryo" panose="020B0604030504040204" pitchFamily="50" charset="-128"/>
                <a:ea typeface="Meiryo" panose="020B0604030504040204" pitchFamily="50" charset="-128"/>
              </a:rPr>
              <a:t>機能：股関節深部安定、方向転換、転倒時の安定</a:t>
            </a:r>
          </a:p>
        </p:txBody>
      </p:sp>
    </p:spTree>
    <p:extLst>
      <p:ext uri="{BB962C8B-B14F-4D97-AF65-F5344CB8AC3E}">
        <p14:creationId xmlns:p14="http://schemas.microsoft.com/office/powerpoint/2010/main" val="3617213832"/>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2047</TotalTime>
  <Words>1106</Words>
  <Application>Microsoft Office PowerPoint</Application>
  <PresentationFormat>A3 297x420 mm</PresentationFormat>
  <Paragraphs>38</Paragraphs>
  <Slides>1</Slides>
  <Notes>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vt:i4>
      </vt:variant>
    </vt:vector>
  </HeadingPairs>
  <TitlesOfParts>
    <vt:vector size="8" baseType="lpstr">
      <vt:lpstr>メイリオ</vt:lpstr>
      <vt:lpstr>メイリオ</vt:lpstr>
      <vt:lpstr>游ゴシック</vt:lpstr>
      <vt:lpstr>Arial</vt:lpstr>
      <vt:lpstr>Calibri</vt:lpstr>
      <vt:lpstr>Calibri Light</vt:lpstr>
      <vt:lpstr>Office テーマ</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Yoshinobu Sato</dc:creator>
  <cp:lastModifiedBy>Watanabe Daisuke</cp:lastModifiedBy>
  <cp:revision>109</cp:revision>
  <dcterms:created xsi:type="dcterms:W3CDTF">2025-09-16T03:39:11Z</dcterms:created>
  <dcterms:modified xsi:type="dcterms:W3CDTF">2025-11-14T07:08:59Z</dcterms:modified>
</cp:coreProperties>
</file>